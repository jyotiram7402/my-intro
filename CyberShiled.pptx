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esteemed panel members. I'm Jyotiram Kamble, presenting my Dissertation Stage I work from the Department of Computer Engineering at Ajeenkya DY Patil School of Engineering, Pune, under the guidance of Professor Anita Mahajan. The project is titled SmartShield AI — an Adaptive Bot Mitigation and Traffic Intelligence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next 15 minutes I'll walk you through the problem, the system I designed, the results,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landscape. Cyber attacks are growing faster than the defenses we build to stop them. Web traffic today is nearly half non-human, and the people running these bots iterate faster than security teams can patch. Bots and DDoS — credential stuffing, scraping, volumetric floods — together make up the bulk of automated abuse. Static defenses like firewalls and IP blocklists react after the fact. We need systems that actually learn behavior, in real time. That gap is where this project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an abstract concern — it's what motivated the project. On a deployed website, traffic spiked from China and Russia origin IPs at 2:02 PM. Within nine minutes CPU hit 100% and the site stopped responding. Manual log review and IP blocking took almost two hours. We lost 1 hour 45 minutes of uptime and around twelve thousand failed sessions, including legitimate users. After investigating, we found this is a global pattern, not specific to one company. That's the trigger for SmartShield.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surveyed the existing defenses. Traditional firewalls use static rules and miss behavioral attacks. IP blocking is the bluntest hammer — it punishes whole regions to catch a few bad actors. CAPTCHAs add friction for real users and modern bots solve them anyway. Microsoft's Bot Protection works well but is expensive and ties you to a vendor. SmartShield is designed to score five out of five on adaptiveness, accuracy, and cost-effectiveness without region-blocking — that's the gap we're filling.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formal problem statement: today's defenses either block entire regions or rely on expensive third-party tools, and even then they fail to tell a real user from a bot effectively. The numbers underneath are stark — about 47% of web traffic is automated, enterprise bot protection runs ten thousand dollars a year and up, and region rules can block up to 12% of legitimate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that, the objectives are five. One: reliably detect bot vs human traffic from behavior, not just origin. Two: never block genuine users — that's a hard constraint. Three: reduce server overload by cutting malicious traffic at the edge. Four: stay cost-effective and lightweight, so anyone can deploy it. Five: provide a real-time monitoring dashboard so operators can see what's happening as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SmartShield AI is a middleware layer. It sits between client and application, so it's a drop-in — no rewrite needed. Inside it has four parts: an AI risk-scoring engine that scores every request from zero to a hundred, a JS challenge filter for borderline traffic, and a real-time dashboard. The visualization on the right shows the gate in action — humans pass through, bots get filtered, and only valid traffic reaches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every request follows this pipeline. User to middleware, where headers, IP, and fingerprint are inspected. Middleware to the AI engine — that's the core, marked here — where behavior and risk scoring happen. The engine outputs a decision in one of three buckets, shown below: scores zero to thirty pass, thirty-one to sixty-nine get a silent JS challenge, and seventy and up are blocked outright. Only allowed and challenged-then-passed traffic reaches the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Methodologically, it's five steps. Data collection — headers, IP, geo, JS fingerprint, request rate. Feature extraction — we build a thirty-plus feature vector per session. AI analysis — a classifier and a behavior model evaluate that vector together. Risk scoring — the outputs are combined into a continuous zero-to-hundred score. Decision — allow, challenge, or block, in under a millisecond.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features distinguish this from prior work. Behavior-based detection — mouse movement, scroll, timing — not just IP. Real-time processing, sub-millisecond per request. Dynamic risk scoring that recomputes every request, so a session that turns malicious gets caught. Silent JS challenge validation for borderline cases. And a dashboard for live monitoring of attacks, decisions, and top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demo system. The center panel is a live attack simulation: traffic arrives from CN, RU, US, IN, and unknown origins. SmartShield evaluates each one, and you can see the live decision split — about 2,341 allowed per minute, 487 challenged, 1,902 blocked. The right column shows live session count, top threat origins by country, and the most recent decision: IP 185.220.101.4, risk score 92, blocked. This dashboard view is what an operator actually sees during an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The chart on the left shows server CPU during a sixty-minute attack — red is without SmartShield, riding at 100% saturation; cyan is with SmartShield activated at minute twenty. CPU drops from 100% to roughly 30% within four minutes. Three headline numbers: a 70% CPU reduction at peak, 4.2 times faster detection compared to manual IP blocking, and 98.6% filtering accuracy with under 0.4% false positives on real users. And critically — zero region-wide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advantages are direct consequences of those design choices. No region blocking, so genuine users from any country still get through. Cost-effective because it's self-hosted middleware. Lightweight enough to run on commodity servers. Scales horizontally behind any load balancer. And it's intelligent — behavioral scoring adapts to attack patterns we haven't even seen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designed to learn and scale. Next milestone: self-learning AI, where the model improves online from labeled traffic without retraining cycles. At six months, cloud integration as a managed multi-tenant service. At twelve months, advanced graph and sequence models to catch coordinated bot networks. At eighteen months, SLA-backed enterprise pilots in banking, e-commerce, and public sector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AI raises the ceiling for cybersecurity — behavioral models close gaps that static rules and CAPTCHAs leave open. Smart filtering beats broad blocking — per-request scoring keeps real users in while keeping bots out. And the impact is real and measurable today: 70% CPU reduction, 4× faster detection, on commodity hardware. SmartShield demonstrates that adaptive, behavior-based mitigation is achievable without enterprise pricetags.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that grounded the work — Imperva and Cloudflare threat reports for the landscape, OWASP's automated-threats handbook, Microsoft and Akamai for industry approaches, and foundational ML literature from Goodfellow and the IDS work of Sommer and Paxson. Thank you for your time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7000"/>
            </a:srgbClr>
          </a:solidFill>
          <a:ln/>
        </p:spPr>
      </p:sp>
      <p:sp>
        <p:nvSpPr>
          <p:cNvPr id="4" name="Shape 2"/>
          <p:cNvSpPr/>
          <p:nvPr/>
        </p:nvSpPr>
        <p:spPr>
          <a:xfrm>
            <a:off x="342900" y="342900"/>
            <a:ext cx="381000" cy="15240"/>
          </a:xfrm>
          <a:prstGeom prst="rect">
            <a:avLst/>
          </a:prstGeom>
          <a:solidFill>
            <a:srgbClr val="00E5FF"/>
          </a:solidFill>
          <a:ln/>
        </p:spPr>
      </p:sp>
      <p:sp>
        <p:nvSpPr>
          <p:cNvPr id="5" name="Shape 3"/>
          <p:cNvSpPr/>
          <p:nvPr/>
        </p:nvSpPr>
        <p:spPr>
          <a:xfrm>
            <a:off x="342900" y="342900"/>
            <a:ext cx="15240" cy="381000"/>
          </a:xfrm>
          <a:prstGeom prst="rect">
            <a:avLst/>
          </a:prstGeom>
          <a:solidFill>
            <a:srgbClr val="00E5FF"/>
          </a:solidFill>
          <a:ln/>
        </p:spPr>
      </p:sp>
      <p:sp>
        <p:nvSpPr>
          <p:cNvPr id="6" name="Shape 4"/>
          <p:cNvSpPr/>
          <p:nvPr/>
        </p:nvSpPr>
        <p:spPr>
          <a:xfrm>
            <a:off x="17564100" y="342900"/>
            <a:ext cx="381000" cy="15240"/>
          </a:xfrm>
          <a:prstGeom prst="rect">
            <a:avLst/>
          </a:prstGeom>
          <a:solidFill>
            <a:srgbClr val="00E5FF"/>
          </a:solidFill>
          <a:ln/>
        </p:spPr>
      </p:sp>
      <p:sp>
        <p:nvSpPr>
          <p:cNvPr id="7" name="Shape 5"/>
          <p:cNvSpPr/>
          <p:nvPr/>
        </p:nvSpPr>
        <p:spPr>
          <a:xfrm>
            <a:off x="17929860" y="342900"/>
            <a:ext cx="15240" cy="381000"/>
          </a:xfrm>
          <a:prstGeom prst="rect">
            <a:avLst/>
          </a:prstGeom>
          <a:solidFill>
            <a:srgbClr val="00E5FF"/>
          </a:solidFill>
          <a:ln/>
        </p:spPr>
      </p:sp>
      <p:sp>
        <p:nvSpPr>
          <p:cNvPr id="8" name="Shape 6"/>
          <p:cNvSpPr/>
          <p:nvPr/>
        </p:nvSpPr>
        <p:spPr>
          <a:xfrm>
            <a:off x="342900" y="9928860"/>
            <a:ext cx="381000" cy="15240"/>
          </a:xfrm>
          <a:prstGeom prst="rect">
            <a:avLst/>
          </a:prstGeom>
          <a:solidFill>
            <a:srgbClr val="00E5FF"/>
          </a:solidFill>
          <a:ln/>
        </p:spPr>
      </p:sp>
      <p:sp>
        <p:nvSpPr>
          <p:cNvPr id="9" name="Shape 7"/>
          <p:cNvSpPr/>
          <p:nvPr/>
        </p:nvSpPr>
        <p:spPr>
          <a:xfrm>
            <a:off x="342900" y="9563100"/>
            <a:ext cx="15240" cy="381000"/>
          </a:xfrm>
          <a:prstGeom prst="rect">
            <a:avLst/>
          </a:prstGeom>
          <a:solidFill>
            <a:srgbClr val="00E5FF"/>
          </a:solidFill>
          <a:ln/>
        </p:spPr>
      </p:sp>
      <p:sp>
        <p:nvSpPr>
          <p:cNvPr id="10" name="Shape 8"/>
          <p:cNvSpPr/>
          <p:nvPr/>
        </p:nvSpPr>
        <p:spPr>
          <a:xfrm>
            <a:off x="17564100" y="9928860"/>
            <a:ext cx="381000" cy="15240"/>
          </a:xfrm>
          <a:prstGeom prst="rect">
            <a:avLst/>
          </a:prstGeom>
          <a:solidFill>
            <a:srgbClr val="00E5FF"/>
          </a:solidFill>
          <a:ln/>
        </p:spPr>
      </p:sp>
      <p:sp>
        <p:nvSpPr>
          <p:cNvPr id="11" name="Shape 9"/>
          <p:cNvSpPr/>
          <p:nvPr/>
        </p:nvSpPr>
        <p:spPr>
          <a:xfrm>
            <a:off x="17929860" y="9563100"/>
            <a:ext cx="15240" cy="381000"/>
          </a:xfrm>
          <a:prstGeom prst="rect">
            <a:avLst/>
          </a:prstGeom>
          <a:solidFill>
            <a:srgbClr val="00E5FF"/>
          </a:solidFill>
          <a:ln/>
        </p:spPr>
      </p:sp>
      <p:sp>
        <p:nvSpPr>
          <p:cNvPr id="12" name="Shape 10"/>
          <p:cNvSpPr/>
          <p:nvPr/>
        </p:nvSpPr>
        <p:spPr>
          <a:xfrm>
            <a:off x="6061710" y="1925003"/>
            <a:ext cx="457200" cy="9525"/>
          </a:xfrm>
          <a:prstGeom prst="rect">
            <a:avLst/>
          </a:prstGeom>
          <a:solidFill>
            <a:srgbClr val="00E5FF"/>
          </a:solidFill>
          <a:ln/>
          <a:effectLst>
            <a:outerShdw sx="100000" sy="100000" kx="0" ky="0" algn="bl" rotWithShape="0" blurRad="76200" dist="50800" dir="16200000">
              <a:srgbClr val="00E5FF">
                <a:alpha val="100000"/>
              </a:srgbClr>
            </a:outerShdw>
          </a:effectLst>
        </p:spPr>
      </p:sp>
      <p:sp>
        <p:nvSpPr>
          <p:cNvPr id="13" name="Text 11"/>
          <p:cNvSpPr/>
          <p:nvPr/>
        </p:nvSpPr>
        <p:spPr>
          <a:xfrm>
            <a:off x="6616751" y="1750695"/>
            <a:ext cx="5054499" cy="396240"/>
          </a:xfrm>
          <a:prstGeom prst="rect">
            <a:avLst/>
          </a:prstGeom>
          <a:noFill/>
          <a:ln/>
        </p:spPr>
        <p:txBody>
          <a:bodyPr wrap="square" lIns="25400" tIns="25400" rIns="25400" bIns="25400" rtlCol="0" anchor="t">
            <a:normAutofit/>
          </a:bodyPr>
          <a:lstStyle/>
          <a:p>
            <a:pPr algn="ctr" indent="0" marL="0">
              <a:buNone/>
            </a:pPr>
            <a:r>
              <a:rPr lang="en-US" sz="2100" spc="672" kern="0" dirty="0">
                <a:solidFill>
                  <a:srgbClr val="00E5FF"/>
                </a:solidFill>
                <a:latin typeface="Arial" pitchFamily="34" charset="0"/>
                <a:ea typeface="Arial" pitchFamily="34" charset="-122"/>
                <a:cs typeface="Arial" pitchFamily="34" charset="-120"/>
              </a:rPr>
              <a:t>DISSERTATION STAGE I</a:t>
            </a:r>
            <a:endParaRPr lang="en-US" sz="2100" dirty="0"/>
          </a:p>
        </p:txBody>
      </p:sp>
      <p:sp>
        <p:nvSpPr>
          <p:cNvPr id="14" name="Shape 12"/>
          <p:cNvSpPr/>
          <p:nvPr/>
        </p:nvSpPr>
        <p:spPr>
          <a:xfrm>
            <a:off x="11769090" y="1925003"/>
            <a:ext cx="457200" cy="9525"/>
          </a:xfrm>
          <a:prstGeom prst="rect">
            <a:avLst/>
          </a:prstGeom>
          <a:solidFill>
            <a:srgbClr val="00E5FF"/>
          </a:solidFill>
          <a:ln/>
          <a:effectLst>
            <a:outerShdw sx="100000" sy="100000" kx="0" ky="0" algn="bl" rotWithShape="0" blurRad="76200" dist="50800" dir="16200000">
              <a:srgbClr val="00E5FF">
                <a:alpha val="100000"/>
              </a:srgbClr>
            </a:outerShdw>
          </a:effectLst>
        </p:spPr>
      </p:sp>
      <p:sp>
        <p:nvSpPr>
          <p:cNvPr id="15" name="Shape 13"/>
          <p:cNvSpPr/>
          <p:nvPr/>
        </p:nvSpPr>
        <p:spPr>
          <a:xfrm>
            <a:off x="7334250" y="1516380"/>
            <a:ext cx="3619500" cy="3619500"/>
          </a:xfrm>
          <a:prstGeom prst="ellipse">
            <a:avLst/>
          </a:prstGeom>
          <a:solidFill>
            <a:srgbClr val="00E5FF">
              <a:alpha val="13000"/>
            </a:srgbClr>
          </a:solidFill>
          <a:ln/>
        </p:spPr>
      </p:sp>
      <p:pic>
        <p:nvPicPr>
          <p:cNvPr id="16" name="Image 0" descr="preencoded.png">    </p:cNvPr>
          <p:cNvPicPr>
            <a:picLocks noChangeAspect="1"/>
          </p:cNvPicPr>
          <p:nvPr/>
        </p:nvPicPr>
        <p:blipFill>
          <a:blip r:embed="rId1">
            <a:alphaModFix amt="55000"/>
          </a:blip>
          <a:stretch>
            <a:fillRect/>
          </a:stretch>
        </p:blipFill>
        <p:spPr>
          <a:xfrm>
            <a:off x="7334250" y="1516380"/>
            <a:ext cx="3619500" cy="3619500"/>
          </a:xfrm>
          <a:prstGeom prst="rect">
            <a:avLst/>
          </a:prstGeom>
        </p:spPr>
      </p:pic>
      <p:sp>
        <p:nvSpPr>
          <p:cNvPr id="17" name="Shape 14"/>
          <p:cNvSpPr/>
          <p:nvPr/>
        </p:nvSpPr>
        <p:spPr>
          <a:xfrm>
            <a:off x="7250430" y="2413635"/>
            <a:ext cx="3787140" cy="1824990"/>
          </a:xfrm>
          <a:prstGeom prst="roundRect">
            <a:avLst>
              <a:gd name="adj" fmla="val 8351"/>
            </a:avLst>
          </a:prstGeom>
          <a:solidFill>
            <a:srgbClr val="FFFFFF">
              <a:alpha val="96000"/>
            </a:srgbClr>
          </a:solidFill>
          <a:ln w="7620">
            <a:solidFill>
              <a:srgbClr val="00E5FF">
                <a:alpha val="33000"/>
              </a:srgbClr>
            </a:solidFill>
            <a:prstDash val="solid"/>
          </a:ln>
          <a:effectLst>
            <a:outerShdw sx="100000" sy="100000" kx="0" ky="0" algn="bl" rotWithShape="0" blurRad="381000" dist="50800" dir="16200000">
              <a:srgbClr val="00E5FF">
                <a:alpha val="20000"/>
              </a:srgbClr>
            </a:outerShdw>
          </a:effectLst>
        </p:spPr>
      </p:sp>
      <p:pic>
        <p:nvPicPr>
          <p:cNvPr id="18" name="Image 1" descr="preencoded.png">    </p:cNvPr>
          <p:cNvPicPr>
            <a:picLocks noChangeAspect="1"/>
          </p:cNvPicPr>
          <p:nvPr/>
        </p:nvPicPr>
        <p:blipFill>
          <a:blip r:embed="rId2"/>
          <a:stretch>
            <a:fillRect/>
          </a:stretch>
        </p:blipFill>
        <p:spPr>
          <a:xfrm>
            <a:off x="7600950" y="2611755"/>
            <a:ext cx="3086100" cy="1428750"/>
          </a:xfrm>
          <a:prstGeom prst="rect">
            <a:avLst/>
          </a:prstGeom>
        </p:spPr>
      </p:pic>
      <p:sp>
        <p:nvSpPr>
          <p:cNvPr id="19" name="Text 15"/>
          <p:cNvSpPr/>
          <p:nvPr/>
        </p:nvSpPr>
        <p:spPr>
          <a:xfrm>
            <a:off x="3704675" y="4562475"/>
            <a:ext cx="10878650" cy="472440"/>
          </a:xfrm>
          <a:prstGeom prst="rect">
            <a:avLst/>
          </a:prstGeom>
          <a:noFill/>
          <a:ln/>
        </p:spPr>
        <p:txBody>
          <a:bodyPr wrap="square" lIns="25400" tIns="25400" rIns="25400" bIns="25400" rtlCol="0" anchor="t">
            <a:normAutofit/>
          </a:bodyPr>
          <a:lstStyle/>
          <a:p>
            <a:pPr algn="ctr" indent="0" marL="0">
              <a:buNone/>
            </a:pPr>
            <a:r>
              <a:rPr lang="en-US" sz="2850" b="1" spc="171" kern="0" dirty="0">
                <a:solidFill>
                  <a:srgbClr val="E7EEF7"/>
                </a:solidFill>
                <a:latin typeface="Arial" pitchFamily="34" charset="0"/>
                <a:ea typeface="Arial" pitchFamily="34" charset="-122"/>
                <a:cs typeface="Arial" pitchFamily="34" charset="-120"/>
              </a:rPr>
              <a:t>AJEENKYA DY PATIL SCHOOL OF ENGINEERING, PUNE</a:t>
            </a:r>
            <a:endParaRPr lang="en-US" sz="2850" dirty="0"/>
          </a:p>
        </p:txBody>
      </p:sp>
      <p:sp>
        <p:nvSpPr>
          <p:cNvPr id="20" name="Text 16"/>
          <p:cNvSpPr/>
          <p:nvPr/>
        </p:nvSpPr>
        <p:spPr>
          <a:xfrm>
            <a:off x="3704675" y="5092065"/>
            <a:ext cx="10878650" cy="335280"/>
          </a:xfrm>
          <a:prstGeom prst="rect">
            <a:avLst/>
          </a:prstGeom>
          <a:noFill/>
          <a:ln/>
        </p:spPr>
        <p:txBody>
          <a:bodyPr wrap="square" lIns="25400" tIns="25400" rIns="25400" bIns="25400" rtlCol="0" anchor="t">
            <a:normAutofit/>
          </a:bodyPr>
          <a:lstStyle/>
          <a:p>
            <a:pPr algn="ctr" indent="0" marL="0">
              <a:buNone/>
            </a:pPr>
            <a:r>
              <a:rPr lang="en-US" sz="1950" spc="78" kern="0" dirty="0">
                <a:solidFill>
                  <a:srgbClr val="00E5FF"/>
                </a:solidFill>
                <a:latin typeface="Arial" pitchFamily="34" charset="0"/>
                <a:ea typeface="Arial" pitchFamily="34" charset="-122"/>
                <a:cs typeface="Arial" pitchFamily="34" charset="-120"/>
              </a:rPr>
              <a:t>Department of Computer Engineering</a:t>
            </a:r>
            <a:endParaRPr lang="en-US" sz="1950" dirty="0"/>
          </a:p>
        </p:txBody>
      </p:sp>
      <p:sp>
        <p:nvSpPr>
          <p:cNvPr id="21" name="Shape 17"/>
          <p:cNvSpPr/>
          <p:nvPr/>
        </p:nvSpPr>
        <p:spPr>
          <a:xfrm>
            <a:off x="2172534" y="7385685"/>
            <a:ext cx="13942814" cy="9525"/>
          </a:xfrm>
          <a:prstGeom prst="rect">
            <a:avLst/>
          </a:prstGeom>
          <a:solidFill>
            <a:srgbClr val="78A0D2">
              <a:alpha val="14000"/>
            </a:srgbClr>
          </a:solidFill>
          <a:ln/>
        </p:spPr>
      </p:sp>
      <p:sp>
        <p:nvSpPr>
          <p:cNvPr id="22" name="Shape 18"/>
          <p:cNvSpPr/>
          <p:nvPr/>
        </p:nvSpPr>
        <p:spPr>
          <a:xfrm>
            <a:off x="2172534" y="5694045"/>
            <a:ext cx="13942814" cy="9525"/>
          </a:xfrm>
          <a:prstGeom prst="rect">
            <a:avLst/>
          </a:prstGeom>
          <a:solidFill>
            <a:srgbClr val="78A0D2">
              <a:alpha val="14000"/>
            </a:srgbClr>
          </a:solidFill>
          <a:ln/>
        </p:spPr>
      </p:sp>
      <p:sp>
        <p:nvSpPr>
          <p:cNvPr id="23" name="Text 19"/>
          <p:cNvSpPr/>
          <p:nvPr/>
        </p:nvSpPr>
        <p:spPr>
          <a:xfrm>
            <a:off x="2512793" y="5930265"/>
            <a:ext cx="13262294" cy="1264920"/>
          </a:xfrm>
          <a:prstGeom prst="rect">
            <a:avLst/>
          </a:prstGeom>
          <a:noFill/>
          <a:ln/>
        </p:spPr>
        <p:txBody>
          <a:bodyPr wrap="square" lIns="25400" tIns="25400" rIns="25400" bIns="25400" rtlCol="0" anchor="t">
            <a:normAutofit/>
          </a:bodyPr>
          <a:lstStyle/>
          <a:p>
            <a:pPr algn="ctr" indent="0" marL="0">
              <a:lnSpc>
                <a:spcPct val="115000"/>
              </a:lnSpc>
              <a:buNone/>
            </a:pPr>
            <a:r>
              <a:rPr lang="en-US" sz="4200" b="1" spc="-42" kern="0" dirty="0">
                <a:solidFill>
                  <a:srgbClr val="E7EEF7"/>
                </a:solidFill>
                <a:latin typeface="Arial" pitchFamily="34" charset="0"/>
                <a:ea typeface="Arial" pitchFamily="34" charset="-122"/>
                <a:cs typeface="Arial" pitchFamily="34" charset="-120"/>
              </a:rPr>
              <a:t>SMARTSHIELDAI — ADAPTIVE BOT MITIGATION &amp; TRAFFIC INTELLIGENCE SYSTEM</a:t>
            </a:r>
            <a:endParaRPr lang="en-US" sz="4200" dirty="0"/>
          </a:p>
        </p:txBody>
      </p:sp>
      <p:sp>
        <p:nvSpPr>
          <p:cNvPr id="24" name="Text 20"/>
          <p:cNvSpPr/>
          <p:nvPr/>
        </p:nvSpPr>
        <p:spPr>
          <a:xfrm>
            <a:off x="5470922" y="7793355"/>
            <a:ext cx="2558058" cy="312420"/>
          </a:xfrm>
          <a:prstGeom prst="rect">
            <a:avLst/>
          </a:prstGeom>
          <a:noFill/>
          <a:ln/>
        </p:spPr>
        <p:txBody>
          <a:bodyPr wrap="square" lIns="25400" tIns="25400" rIns="25400" bIns="25400" rtlCol="0" anchor="t">
            <a:normAutofit/>
          </a:bodyPr>
          <a:lstStyle/>
          <a:p>
            <a:pPr algn="ctr" indent="0" marL="0">
              <a:buNone/>
            </a:pPr>
            <a:r>
              <a:rPr lang="en-US" sz="1800" spc="324" kern="0" dirty="0">
                <a:solidFill>
                  <a:srgbClr val="5C6A82"/>
                </a:solidFill>
                <a:latin typeface="Arial" pitchFamily="34" charset="0"/>
                <a:ea typeface="Arial" pitchFamily="34" charset="-122"/>
                <a:cs typeface="Arial" pitchFamily="34" charset="-120"/>
              </a:rPr>
              <a:t>PRESENTED BY</a:t>
            </a:r>
            <a:endParaRPr lang="en-US" sz="1800" dirty="0"/>
          </a:p>
        </p:txBody>
      </p:sp>
      <p:sp>
        <p:nvSpPr>
          <p:cNvPr id="25" name="Text 21"/>
          <p:cNvSpPr/>
          <p:nvPr/>
        </p:nvSpPr>
        <p:spPr>
          <a:xfrm>
            <a:off x="5470922" y="8162925"/>
            <a:ext cx="2558058" cy="411480"/>
          </a:xfrm>
          <a:prstGeom prst="rect">
            <a:avLst/>
          </a:prstGeom>
          <a:noFill/>
          <a:ln/>
        </p:spPr>
        <p:txBody>
          <a:bodyPr wrap="square" lIns="25400" tIns="25400" rIns="25400" bIns="25400" rtlCol="0" anchor="t">
            <a:normAutofit/>
          </a:bodyPr>
          <a:lstStyle/>
          <a:p>
            <a:pPr algn="ctr" indent="0" marL="0">
              <a:buNone/>
            </a:pPr>
            <a:r>
              <a:rPr lang="en-US" sz="2400" b="1" dirty="0">
                <a:solidFill>
                  <a:srgbClr val="E7EEF7"/>
                </a:solidFill>
                <a:latin typeface="Arial" pitchFamily="34" charset="0"/>
                <a:ea typeface="Arial" pitchFamily="34" charset="-122"/>
                <a:cs typeface="Arial" pitchFamily="34" charset="-120"/>
              </a:rPr>
              <a:t>Jyotiram Kamble</a:t>
            </a:r>
            <a:endParaRPr lang="en-US" sz="2400" dirty="0"/>
          </a:p>
        </p:txBody>
      </p:sp>
      <p:sp>
        <p:nvSpPr>
          <p:cNvPr id="26" name="Shape 22"/>
          <p:cNvSpPr/>
          <p:nvPr/>
        </p:nvSpPr>
        <p:spPr>
          <a:xfrm>
            <a:off x="8943380" y="7793355"/>
            <a:ext cx="9525" cy="742950"/>
          </a:xfrm>
          <a:prstGeom prst="rect">
            <a:avLst/>
          </a:prstGeom>
          <a:solidFill>
            <a:srgbClr val="78A0D2">
              <a:alpha val="14000"/>
            </a:srgbClr>
          </a:solidFill>
          <a:ln/>
        </p:spPr>
      </p:sp>
      <p:sp>
        <p:nvSpPr>
          <p:cNvPr id="27" name="Text 23"/>
          <p:cNvSpPr/>
          <p:nvPr/>
        </p:nvSpPr>
        <p:spPr>
          <a:xfrm>
            <a:off x="9862301" y="7793355"/>
            <a:ext cx="2959781" cy="312420"/>
          </a:xfrm>
          <a:prstGeom prst="rect">
            <a:avLst/>
          </a:prstGeom>
          <a:noFill/>
          <a:ln/>
        </p:spPr>
        <p:txBody>
          <a:bodyPr wrap="square" lIns="25400" tIns="25400" rIns="25400" bIns="25400" rtlCol="0" anchor="t">
            <a:normAutofit/>
          </a:bodyPr>
          <a:lstStyle/>
          <a:p>
            <a:pPr algn="ctr" indent="0" marL="0">
              <a:buNone/>
            </a:pPr>
            <a:r>
              <a:rPr lang="en-US" sz="1800" spc="324" kern="0" dirty="0">
                <a:solidFill>
                  <a:srgbClr val="5C6A82"/>
                </a:solidFill>
                <a:latin typeface="Arial" pitchFamily="34" charset="0"/>
                <a:ea typeface="Arial" pitchFamily="34" charset="-122"/>
                <a:cs typeface="Arial" pitchFamily="34" charset="-120"/>
              </a:rPr>
              <a:t>GUIDED BY</a:t>
            </a:r>
            <a:endParaRPr lang="en-US" sz="1800" dirty="0"/>
          </a:p>
        </p:txBody>
      </p:sp>
      <p:sp>
        <p:nvSpPr>
          <p:cNvPr id="28" name="Text 24"/>
          <p:cNvSpPr/>
          <p:nvPr/>
        </p:nvSpPr>
        <p:spPr>
          <a:xfrm>
            <a:off x="9862301" y="8162925"/>
            <a:ext cx="2959781" cy="411480"/>
          </a:xfrm>
          <a:prstGeom prst="rect">
            <a:avLst/>
          </a:prstGeom>
          <a:noFill/>
          <a:ln/>
        </p:spPr>
        <p:txBody>
          <a:bodyPr wrap="square" lIns="25400" tIns="25400" rIns="25400" bIns="25400" rtlCol="0" anchor="t">
            <a:normAutofit/>
          </a:bodyPr>
          <a:lstStyle/>
          <a:p>
            <a:pPr algn="ctr" indent="0" marL="0">
              <a:buNone/>
            </a:pPr>
            <a:r>
              <a:rPr lang="en-US" sz="2400" b="1" dirty="0">
                <a:solidFill>
                  <a:srgbClr val="E7EEF7"/>
                </a:solidFill>
                <a:latin typeface="Arial" pitchFamily="34" charset="0"/>
                <a:ea typeface="Arial" pitchFamily="34" charset="-122"/>
                <a:cs typeface="Arial" pitchFamily="34" charset="-120"/>
              </a:rPr>
              <a:t>Prof. Anita Mahajan</a:t>
            </a:r>
            <a:endParaRPr lang="en-US" sz="2400" dirty="0"/>
          </a:p>
        </p:txBody>
      </p:sp>
      <p:sp>
        <p:nvSpPr>
          <p:cNvPr id="29" name="Shape 25"/>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30" name="Text 26"/>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31" name="Text 27"/>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01/17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143000" y="2697480"/>
            <a:ext cx="342900" cy="9525"/>
          </a:xfrm>
          <a:prstGeom prst="rect">
            <a:avLst/>
          </a:prstGeom>
          <a:solidFill>
            <a:srgbClr val="00E5FF"/>
          </a:solidFill>
          <a:ln/>
          <a:effectLst>
            <a:outerShdw sx="100000" sy="100000" kx="0" ky="0" algn="bl" rotWithShape="0" blurRad="76200" dist="50800" dir="16200000">
              <a:srgbClr val="00E5FF">
                <a:alpha val="100000"/>
              </a:srgbClr>
            </a:outerShdw>
          </a:effectLst>
        </p:spPr>
      </p:sp>
      <p:sp>
        <p:nvSpPr>
          <p:cNvPr id="5" name="Text 3"/>
          <p:cNvSpPr/>
          <p:nvPr/>
        </p:nvSpPr>
        <p:spPr>
          <a:xfrm>
            <a:off x="1143000" y="3049905"/>
            <a:ext cx="8633460" cy="1295400"/>
          </a:xfrm>
          <a:prstGeom prst="rect">
            <a:avLst/>
          </a:prstGeom>
          <a:noFill/>
          <a:ln/>
        </p:spPr>
        <p:txBody>
          <a:bodyPr wrap="square" lIns="25400" tIns="25400" rIns="25400" bIns="25400" rtlCol="0" anchor="t">
            <a:normAutofit/>
          </a:bodyPr>
          <a:lstStyle/>
          <a:p>
            <a:pPr algn="l" indent="0" marL="0">
              <a:lnSpc>
                <a:spcPct val="100000"/>
              </a:lnSpc>
              <a:buNone/>
            </a:pPr>
            <a:r>
              <a:rPr lang="en-US" sz="9900" b="1" spc="-346" kern="0" dirty="0">
                <a:solidFill>
                  <a:srgbClr val="E7EEF7"/>
                </a:solidFill>
                <a:latin typeface="Arial" pitchFamily="34" charset="0"/>
                <a:ea typeface="Arial" pitchFamily="34" charset="-122"/>
                <a:cs typeface="Arial" pitchFamily="34" charset="-120"/>
              </a:rPr>
              <a:t>SmartShield</a:t>
            </a:r>
            <a:endParaRPr lang="en-US" sz="9900" dirty="0"/>
          </a:p>
        </p:txBody>
      </p:sp>
      <p:sp>
        <p:nvSpPr>
          <p:cNvPr id="6" name="Text 4"/>
          <p:cNvSpPr/>
          <p:nvPr/>
        </p:nvSpPr>
        <p:spPr>
          <a:xfrm>
            <a:off x="1143000" y="4383405"/>
            <a:ext cx="8633460"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spc="-120" kern="0" dirty="0">
                <a:solidFill>
                  <a:srgbClr val="8C9AB0"/>
                </a:solidFill>
                <a:latin typeface="Arial" pitchFamily="34" charset="0"/>
                <a:ea typeface="Arial" pitchFamily="34" charset="-122"/>
                <a:cs typeface="Arial" pitchFamily="34" charset="-120"/>
              </a:rPr>
              <a:t>AI</a:t>
            </a:r>
            <a:endParaRPr lang="en-US" sz="6000" dirty="0"/>
          </a:p>
        </p:txBody>
      </p:sp>
      <p:sp>
        <p:nvSpPr>
          <p:cNvPr id="7" name="Text 5"/>
          <p:cNvSpPr/>
          <p:nvPr/>
        </p:nvSpPr>
        <p:spPr>
          <a:xfrm>
            <a:off x="1143000" y="5488305"/>
            <a:ext cx="7063740" cy="929640"/>
          </a:xfrm>
          <a:prstGeom prst="rect">
            <a:avLst/>
          </a:prstGeom>
          <a:noFill/>
          <a:ln/>
        </p:spPr>
        <p:txBody>
          <a:bodyPr wrap="square" lIns="25400" tIns="25400" rIns="25400" bIns="25400" rtlCol="0" anchor="t">
            <a:normAutofit/>
          </a:bodyPr>
          <a:lstStyle/>
          <a:p>
            <a:pPr algn="l" indent="0" marL="0">
              <a:lnSpc>
                <a:spcPct val="130000"/>
              </a:lnSpc>
              <a:buNone/>
            </a:pPr>
            <a:r>
              <a:rPr lang="en-US" sz="2700" spc="-27" kern="0" dirty="0">
                <a:solidFill>
                  <a:srgbClr val="E7EEF7"/>
                </a:solidFill>
                <a:latin typeface="Arial" pitchFamily="34" charset="0"/>
                <a:ea typeface="Arial" pitchFamily="34" charset="-122"/>
                <a:cs typeface="Arial" pitchFamily="34" charset="-120"/>
              </a:rPr>
              <a:t>Adaptive Bot Mitigation &amp; Traffic Intelligence System</a:t>
            </a:r>
            <a:endParaRPr lang="en-US" sz="2700" dirty="0"/>
          </a:p>
        </p:txBody>
      </p:sp>
      <p:sp>
        <p:nvSpPr>
          <p:cNvPr id="8" name="Shape 6"/>
          <p:cNvSpPr/>
          <p:nvPr/>
        </p:nvSpPr>
        <p:spPr>
          <a:xfrm>
            <a:off x="1143000" y="6722745"/>
            <a:ext cx="2667000" cy="9525"/>
          </a:xfrm>
          <a:prstGeom prst="rect">
            <a:avLst/>
          </a:prstGeom>
          <a:solidFill>
            <a:srgbClr val="00E5FF"/>
          </a:solidFill>
          <a:ln/>
        </p:spPr>
      </p:sp>
      <p:pic>
        <p:nvPicPr>
          <p:cNvPr id="9" name="Image 0" descr="preencoded.png">    </p:cNvPr>
          <p:cNvPicPr>
            <a:picLocks noChangeAspect="1"/>
          </p:cNvPicPr>
          <p:nvPr/>
        </p:nvPicPr>
        <p:blipFill>
          <a:blip r:embed="rId1"/>
          <a:stretch>
            <a:fillRect/>
          </a:stretch>
        </p:blipFill>
        <p:spPr>
          <a:xfrm>
            <a:off x="10287000" y="2095500"/>
            <a:ext cx="6096000" cy="6096000"/>
          </a:xfrm>
          <a:prstGeom prst="rect">
            <a:avLst/>
          </a:prstGeom>
        </p:spPr>
      </p:pic>
      <p:sp>
        <p:nvSpPr>
          <p:cNvPr id="10" name="Shape 7"/>
          <p:cNvSpPr/>
          <p:nvPr/>
        </p:nvSpPr>
        <p:spPr>
          <a:xfrm>
            <a:off x="342900" y="342900"/>
            <a:ext cx="381000" cy="15240"/>
          </a:xfrm>
          <a:prstGeom prst="rect">
            <a:avLst/>
          </a:prstGeom>
          <a:solidFill>
            <a:srgbClr val="E7EEF7"/>
          </a:solidFill>
          <a:ln/>
        </p:spPr>
      </p:sp>
      <p:sp>
        <p:nvSpPr>
          <p:cNvPr id="11" name="Shape 8"/>
          <p:cNvSpPr/>
          <p:nvPr/>
        </p:nvSpPr>
        <p:spPr>
          <a:xfrm>
            <a:off x="342900" y="342900"/>
            <a:ext cx="15240" cy="381000"/>
          </a:xfrm>
          <a:prstGeom prst="rect">
            <a:avLst/>
          </a:prstGeom>
          <a:solidFill>
            <a:srgbClr val="E7EEF7"/>
          </a:solidFill>
          <a:ln/>
        </p:spPr>
      </p:sp>
      <p:sp>
        <p:nvSpPr>
          <p:cNvPr id="12" name="Shape 9"/>
          <p:cNvSpPr/>
          <p:nvPr/>
        </p:nvSpPr>
        <p:spPr>
          <a:xfrm>
            <a:off x="17564100" y="342900"/>
            <a:ext cx="381000" cy="15240"/>
          </a:xfrm>
          <a:prstGeom prst="rect">
            <a:avLst/>
          </a:prstGeom>
          <a:solidFill>
            <a:srgbClr val="E7EEF7"/>
          </a:solidFill>
          <a:ln/>
        </p:spPr>
      </p:sp>
      <p:sp>
        <p:nvSpPr>
          <p:cNvPr id="13" name="Shape 10"/>
          <p:cNvSpPr/>
          <p:nvPr/>
        </p:nvSpPr>
        <p:spPr>
          <a:xfrm>
            <a:off x="17929860" y="342900"/>
            <a:ext cx="15240" cy="381000"/>
          </a:xfrm>
          <a:prstGeom prst="rect">
            <a:avLst/>
          </a:prstGeom>
          <a:solidFill>
            <a:srgbClr val="E7EEF7"/>
          </a:solidFill>
          <a:ln/>
        </p:spPr>
      </p:sp>
      <p:sp>
        <p:nvSpPr>
          <p:cNvPr id="14" name="Shape 11"/>
          <p:cNvSpPr/>
          <p:nvPr/>
        </p:nvSpPr>
        <p:spPr>
          <a:xfrm>
            <a:off x="342900" y="9928860"/>
            <a:ext cx="381000" cy="15240"/>
          </a:xfrm>
          <a:prstGeom prst="rect">
            <a:avLst/>
          </a:prstGeom>
          <a:solidFill>
            <a:srgbClr val="E7EEF7"/>
          </a:solidFill>
          <a:ln/>
        </p:spPr>
      </p:sp>
      <p:sp>
        <p:nvSpPr>
          <p:cNvPr id="15" name="Shape 12"/>
          <p:cNvSpPr/>
          <p:nvPr/>
        </p:nvSpPr>
        <p:spPr>
          <a:xfrm>
            <a:off x="342900" y="9563100"/>
            <a:ext cx="15240" cy="381000"/>
          </a:xfrm>
          <a:prstGeom prst="rect">
            <a:avLst/>
          </a:prstGeom>
          <a:solidFill>
            <a:srgbClr val="E7EEF7"/>
          </a:solidFill>
          <a:ln/>
        </p:spPr>
      </p:sp>
      <p:sp>
        <p:nvSpPr>
          <p:cNvPr id="16" name="Shape 13"/>
          <p:cNvSpPr/>
          <p:nvPr/>
        </p:nvSpPr>
        <p:spPr>
          <a:xfrm>
            <a:off x="17564100" y="9928860"/>
            <a:ext cx="381000" cy="15240"/>
          </a:xfrm>
          <a:prstGeom prst="rect">
            <a:avLst/>
          </a:prstGeom>
          <a:solidFill>
            <a:srgbClr val="E7EEF7"/>
          </a:solidFill>
          <a:ln/>
        </p:spPr>
      </p:sp>
      <p:sp>
        <p:nvSpPr>
          <p:cNvPr id="17" name="Shape 14"/>
          <p:cNvSpPr/>
          <p:nvPr/>
        </p:nvSpPr>
        <p:spPr>
          <a:xfrm>
            <a:off x="17929860" y="9563100"/>
            <a:ext cx="15240" cy="381000"/>
          </a:xfrm>
          <a:prstGeom prst="rect">
            <a:avLst/>
          </a:prstGeom>
          <a:solidFill>
            <a:srgbClr val="E7EEF7"/>
          </a:solidFill>
          <a:ln/>
        </p:spPr>
      </p:sp>
      <p:sp>
        <p:nvSpPr>
          <p:cNvPr id="18" name="Shape 15"/>
          <p:cNvSpPr/>
          <p:nvPr/>
        </p:nvSpPr>
        <p:spPr>
          <a:xfrm>
            <a:off x="1143000" y="976693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19" name="Text 16"/>
          <p:cNvSpPr/>
          <p:nvPr/>
        </p:nvSpPr>
        <p:spPr>
          <a:xfrm>
            <a:off x="1371600" y="9685020"/>
            <a:ext cx="1580078" cy="297180"/>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C6A82"/>
                </a:solidFill>
                <a:latin typeface="Arial" pitchFamily="34" charset="0"/>
                <a:ea typeface="Arial" pitchFamily="34" charset="-122"/>
                <a:cs typeface="Arial" pitchFamily="34" charset="-120"/>
              </a:rPr>
              <a:t>SYS · INIT</a:t>
            </a:r>
            <a:endParaRPr lang="en-US" sz="1800" dirty="0"/>
          </a:p>
        </p:txBody>
      </p:sp>
      <p:sp>
        <p:nvSpPr>
          <p:cNvPr id="20" name="Text 17"/>
          <p:cNvSpPr/>
          <p:nvPr/>
        </p:nvSpPr>
        <p:spPr>
          <a:xfrm>
            <a:off x="14602540" y="9685020"/>
            <a:ext cx="2618735" cy="297180"/>
          </a:xfrm>
          <a:prstGeom prst="rect">
            <a:avLst/>
          </a:prstGeom>
          <a:noFill/>
          <a:ln/>
        </p:spPr>
        <p:txBody>
          <a:bodyPr wrap="square" lIns="25400" tIns="25400" rIns="25400" bIns="25400" rtlCol="0" anchor="t">
            <a:normAutofit/>
          </a:bodyPr>
          <a:lstStyle/>
          <a:p>
            <a:pPr algn="l" indent="0" marL="0">
              <a:buNone/>
            </a:pPr>
            <a:r>
              <a:rPr lang="en-US" sz="1800" spc="324" kern="0" dirty="0">
                <a:solidFill>
                  <a:srgbClr val="5C6A82"/>
                </a:solidFill>
                <a:latin typeface="Arial" pitchFamily="34" charset="0"/>
                <a:ea typeface="Arial" pitchFamily="34" charset="-122"/>
                <a:cs typeface="Arial" pitchFamily="34" charset="-120"/>
              </a:rPr>
              <a:t>V1.0 · AY-2025-26</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1935480" y="967740"/>
            <a:ext cx="2449116"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INTRODUCTION</a:t>
            </a:r>
            <a:endParaRPr lang="en-US" sz="1800" dirty="0"/>
          </a:p>
        </p:txBody>
      </p:sp>
      <p:sp>
        <p:nvSpPr>
          <p:cNvPr id="8" name="Text 6"/>
          <p:cNvSpPr/>
          <p:nvPr/>
        </p:nvSpPr>
        <p:spPr>
          <a:xfrm>
            <a:off x="1143000" y="1428750"/>
            <a:ext cx="14504213"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Cyber attacks are growing faster than the defenses built to stop them</a:t>
            </a:r>
            <a:endParaRPr lang="en-US" sz="4800" dirty="0"/>
          </a:p>
        </p:txBody>
      </p:sp>
      <p:sp>
        <p:nvSpPr>
          <p:cNvPr id="9" name="Shape 7"/>
          <p:cNvSpPr/>
          <p:nvPr/>
        </p:nvSpPr>
        <p:spPr>
          <a:xfrm>
            <a:off x="1143000" y="3546277"/>
            <a:ext cx="533400" cy="533400"/>
          </a:xfrm>
          <a:prstGeom prst="roundRect">
            <a:avLst>
              <a:gd name="adj" fmla="val 25000"/>
            </a:avLst>
          </a:prstGeom>
          <a:solidFill>
            <a:srgbClr val="00E5FF">
              <a:alpha val="13000"/>
            </a:srgbClr>
          </a:solidFill>
          <a:ln w="7620">
            <a:solidFill>
              <a:srgbClr val="00E5FF">
                <a:alpha val="33000"/>
              </a:srgbClr>
            </a:solidFill>
            <a:prstDash val="solid"/>
          </a:ln>
        </p:spPr>
      </p:sp>
      <p:pic>
        <p:nvPicPr>
          <p:cNvPr id="10" name="Image 0" descr="preencoded.png">    </p:cNvPr>
          <p:cNvPicPr>
            <a:picLocks noChangeAspect="1"/>
          </p:cNvPicPr>
          <p:nvPr/>
        </p:nvPicPr>
        <p:blipFill>
          <a:blip r:embed="rId1"/>
          <a:stretch>
            <a:fillRect/>
          </a:stretch>
        </p:blipFill>
        <p:spPr>
          <a:xfrm>
            <a:off x="1276350" y="3679627"/>
            <a:ext cx="266700" cy="266700"/>
          </a:xfrm>
          <a:prstGeom prst="rect">
            <a:avLst/>
          </a:prstGeom>
        </p:spPr>
      </p:pic>
      <p:sp>
        <p:nvSpPr>
          <p:cNvPr id="11" name="Text 8"/>
          <p:cNvSpPr/>
          <p:nvPr/>
        </p:nvSpPr>
        <p:spPr>
          <a:xfrm>
            <a:off x="1885950" y="3546277"/>
            <a:ext cx="5297805" cy="449580"/>
          </a:xfrm>
          <a:prstGeom prst="rect">
            <a:avLst/>
          </a:prstGeom>
          <a:noFill/>
          <a:ln/>
        </p:spPr>
        <p:txBody>
          <a:bodyPr wrap="square" lIns="25400" tIns="25400" rIns="25400" bIns="25400" rtlCol="0" anchor="t">
            <a:normAutofit/>
          </a:bodyPr>
          <a:lstStyle/>
          <a:p>
            <a:pPr algn="l" indent="0" marL="0">
              <a:lnSpc>
                <a:spcPct val="120000"/>
              </a:lnSpc>
              <a:buNone/>
            </a:pPr>
            <a:r>
              <a:rPr lang="en-US" sz="2700" b="1" dirty="0">
                <a:solidFill>
                  <a:srgbClr val="E7EEF7"/>
                </a:solidFill>
                <a:latin typeface="Arial" pitchFamily="34" charset="0"/>
                <a:ea typeface="Arial" pitchFamily="34" charset="-122"/>
                <a:cs typeface="Arial" pitchFamily="34" charset="-120"/>
              </a:rPr>
              <a:t>Attack volume is exploding</a:t>
            </a:r>
            <a:endParaRPr lang="en-US" sz="2700" dirty="0"/>
          </a:p>
        </p:txBody>
      </p:sp>
      <p:sp>
        <p:nvSpPr>
          <p:cNvPr id="12" name="Text 9"/>
          <p:cNvSpPr/>
          <p:nvPr/>
        </p:nvSpPr>
        <p:spPr>
          <a:xfrm>
            <a:off x="1885950" y="4033957"/>
            <a:ext cx="5297805"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8C9AB0"/>
                </a:solidFill>
                <a:latin typeface="Arial" pitchFamily="34" charset="0"/>
                <a:ea typeface="Arial" pitchFamily="34" charset="-122"/>
                <a:cs typeface="Arial" pitchFamily="34" charset="-120"/>
              </a:rPr>
              <a:t>Web traffic is now nearly half non-human, and bot operators iterate faster than security teams can patch.</a:t>
            </a:r>
            <a:endParaRPr lang="en-US" sz="2250" dirty="0"/>
          </a:p>
        </p:txBody>
      </p:sp>
      <p:sp>
        <p:nvSpPr>
          <p:cNvPr id="13" name="Shape 10"/>
          <p:cNvSpPr/>
          <p:nvPr/>
        </p:nvSpPr>
        <p:spPr>
          <a:xfrm>
            <a:off x="1143000" y="5538907"/>
            <a:ext cx="533400" cy="533400"/>
          </a:xfrm>
          <a:prstGeom prst="roundRect">
            <a:avLst>
              <a:gd name="adj" fmla="val 25000"/>
            </a:avLst>
          </a:prstGeom>
          <a:solidFill>
            <a:srgbClr val="00E5FF">
              <a:alpha val="13000"/>
            </a:srgbClr>
          </a:solidFill>
          <a:ln w="7620">
            <a:solidFill>
              <a:srgbClr val="00E5FF">
                <a:alpha val="33000"/>
              </a:srgbClr>
            </a:solidFill>
            <a:prstDash val="solid"/>
          </a:ln>
        </p:spPr>
      </p:sp>
      <p:pic>
        <p:nvPicPr>
          <p:cNvPr id="14" name="Image 1" descr="preencoded.png">    </p:cNvPr>
          <p:cNvPicPr>
            <a:picLocks noChangeAspect="1"/>
          </p:cNvPicPr>
          <p:nvPr/>
        </p:nvPicPr>
        <p:blipFill>
          <a:blip r:embed="rId2"/>
          <a:stretch>
            <a:fillRect/>
          </a:stretch>
        </p:blipFill>
        <p:spPr>
          <a:xfrm>
            <a:off x="1276350" y="5672257"/>
            <a:ext cx="266700" cy="266700"/>
          </a:xfrm>
          <a:prstGeom prst="rect">
            <a:avLst/>
          </a:prstGeom>
        </p:spPr>
      </p:pic>
      <p:sp>
        <p:nvSpPr>
          <p:cNvPr id="15" name="Text 11"/>
          <p:cNvSpPr/>
          <p:nvPr/>
        </p:nvSpPr>
        <p:spPr>
          <a:xfrm>
            <a:off x="1885950" y="5538907"/>
            <a:ext cx="6950794" cy="449580"/>
          </a:xfrm>
          <a:prstGeom prst="rect">
            <a:avLst/>
          </a:prstGeom>
          <a:noFill/>
          <a:ln/>
        </p:spPr>
        <p:txBody>
          <a:bodyPr wrap="square" lIns="25400" tIns="25400" rIns="25400" bIns="25400" rtlCol="0" anchor="t">
            <a:normAutofit/>
          </a:bodyPr>
          <a:lstStyle/>
          <a:p>
            <a:pPr algn="l" indent="0" marL="0">
              <a:lnSpc>
                <a:spcPct val="120000"/>
              </a:lnSpc>
              <a:buNone/>
            </a:pPr>
            <a:r>
              <a:rPr lang="en-US" sz="2700" b="1" dirty="0">
                <a:solidFill>
                  <a:srgbClr val="E7EEF7"/>
                </a:solidFill>
                <a:latin typeface="Arial" pitchFamily="34" charset="0"/>
                <a:ea typeface="Arial" pitchFamily="34" charset="-122"/>
                <a:cs typeface="Arial" pitchFamily="34" charset="-120"/>
              </a:rPr>
              <a:t>Bots &amp; DDoS dominate the threat surface</a:t>
            </a:r>
            <a:endParaRPr lang="en-US" sz="2700" dirty="0"/>
          </a:p>
        </p:txBody>
      </p:sp>
      <p:sp>
        <p:nvSpPr>
          <p:cNvPr id="16" name="Text 12"/>
          <p:cNvSpPr/>
          <p:nvPr/>
        </p:nvSpPr>
        <p:spPr>
          <a:xfrm>
            <a:off x="1885950" y="6026587"/>
            <a:ext cx="5297805"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8C9AB0"/>
                </a:solidFill>
                <a:latin typeface="Arial" pitchFamily="34" charset="0"/>
                <a:ea typeface="Arial" pitchFamily="34" charset="-122"/>
                <a:cs typeface="Arial" pitchFamily="34" charset="-120"/>
              </a:rPr>
              <a:t>Credential stuffing, scraping, and volumetric floods together account for the majority of automated abuse.</a:t>
            </a:r>
            <a:endParaRPr lang="en-US" sz="2250" dirty="0"/>
          </a:p>
        </p:txBody>
      </p:sp>
      <p:sp>
        <p:nvSpPr>
          <p:cNvPr id="17" name="Shape 13"/>
          <p:cNvSpPr/>
          <p:nvPr/>
        </p:nvSpPr>
        <p:spPr>
          <a:xfrm>
            <a:off x="1143000" y="7531537"/>
            <a:ext cx="533400" cy="533400"/>
          </a:xfrm>
          <a:prstGeom prst="roundRect">
            <a:avLst>
              <a:gd name="adj" fmla="val 25000"/>
            </a:avLst>
          </a:prstGeom>
          <a:solidFill>
            <a:srgbClr val="00E5FF">
              <a:alpha val="13000"/>
            </a:srgbClr>
          </a:solidFill>
          <a:ln w="7620">
            <a:solidFill>
              <a:srgbClr val="00E5FF">
                <a:alpha val="33000"/>
              </a:srgbClr>
            </a:solidFill>
            <a:prstDash val="solid"/>
          </a:ln>
        </p:spPr>
      </p:sp>
      <p:pic>
        <p:nvPicPr>
          <p:cNvPr id="18" name="Image 2" descr="preencoded.png">    </p:cNvPr>
          <p:cNvPicPr>
            <a:picLocks noChangeAspect="1"/>
          </p:cNvPicPr>
          <p:nvPr/>
        </p:nvPicPr>
        <p:blipFill>
          <a:blip r:embed="rId3"/>
          <a:stretch>
            <a:fillRect/>
          </a:stretch>
        </p:blipFill>
        <p:spPr>
          <a:xfrm>
            <a:off x="1276350" y="7664887"/>
            <a:ext cx="266700" cy="266700"/>
          </a:xfrm>
          <a:prstGeom prst="rect">
            <a:avLst/>
          </a:prstGeom>
        </p:spPr>
      </p:pic>
      <p:sp>
        <p:nvSpPr>
          <p:cNvPr id="19" name="Text 14"/>
          <p:cNvSpPr/>
          <p:nvPr/>
        </p:nvSpPr>
        <p:spPr>
          <a:xfrm>
            <a:off x="1885950" y="7531537"/>
            <a:ext cx="5297805" cy="449580"/>
          </a:xfrm>
          <a:prstGeom prst="rect">
            <a:avLst/>
          </a:prstGeom>
          <a:noFill/>
          <a:ln/>
        </p:spPr>
        <p:txBody>
          <a:bodyPr wrap="square" lIns="25400" tIns="25400" rIns="25400" bIns="25400" rtlCol="0" anchor="t">
            <a:normAutofit/>
          </a:bodyPr>
          <a:lstStyle/>
          <a:p>
            <a:pPr algn="l" indent="0" marL="0">
              <a:lnSpc>
                <a:spcPct val="120000"/>
              </a:lnSpc>
              <a:buNone/>
            </a:pPr>
            <a:r>
              <a:rPr lang="en-US" sz="2700" b="1" dirty="0">
                <a:solidFill>
                  <a:srgbClr val="E7EEF7"/>
                </a:solidFill>
                <a:latin typeface="Arial" pitchFamily="34" charset="0"/>
                <a:ea typeface="Arial" pitchFamily="34" charset="-122"/>
                <a:cs typeface="Arial" pitchFamily="34" charset="-120"/>
              </a:rPr>
              <a:t>Static defenses no longer work</a:t>
            </a:r>
            <a:endParaRPr lang="en-US" sz="2700" dirty="0"/>
          </a:p>
        </p:txBody>
      </p:sp>
      <p:sp>
        <p:nvSpPr>
          <p:cNvPr id="20" name="Text 15"/>
          <p:cNvSpPr/>
          <p:nvPr/>
        </p:nvSpPr>
        <p:spPr>
          <a:xfrm>
            <a:off x="1885950" y="8019217"/>
            <a:ext cx="5297805"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8C9AB0"/>
                </a:solidFill>
                <a:latin typeface="Arial" pitchFamily="34" charset="0"/>
                <a:ea typeface="Arial" pitchFamily="34" charset="-122"/>
                <a:cs typeface="Arial" pitchFamily="34" charset="-120"/>
              </a:rPr>
              <a:t>Firewalls and IP blocklists react after the fact — modern attacks need systems that learn behavior in real time.</a:t>
            </a:r>
            <a:endParaRPr lang="en-US" sz="2250" dirty="0"/>
          </a:p>
        </p:txBody>
      </p:sp>
      <p:pic>
        <p:nvPicPr>
          <p:cNvPr id="21" name="Image 3" descr="preencoded.png">    </p:cNvPr>
          <p:cNvPicPr>
            <a:picLocks noChangeAspect="1"/>
          </p:cNvPicPr>
          <p:nvPr/>
        </p:nvPicPr>
        <p:blipFill>
          <a:blip r:embed="rId4"/>
          <a:stretch>
            <a:fillRect/>
          </a:stretch>
        </p:blipFill>
        <p:spPr>
          <a:xfrm>
            <a:off x="9636443" y="3811072"/>
            <a:ext cx="7508557" cy="5143500"/>
          </a:xfrm>
          <a:prstGeom prst="rect">
            <a:avLst/>
          </a:prstGeom>
        </p:spPr>
      </p:pic>
      <p:sp>
        <p:nvSpPr>
          <p:cNvPr id="22" name="Text 16"/>
          <p:cNvSpPr/>
          <p:nvPr/>
        </p:nvSpPr>
        <p:spPr>
          <a:xfrm>
            <a:off x="12433756" y="8794552"/>
            <a:ext cx="1990130" cy="198120"/>
          </a:xfrm>
          <a:prstGeom prst="rect">
            <a:avLst/>
          </a:prstGeom>
          <a:noFill/>
          <a:ln/>
        </p:spPr>
        <p:txBody>
          <a:bodyPr wrap="square" lIns="25400" tIns="25400" rIns="25400" bIns="25400" rtlCol="0" anchor="t">
            <a:normAutofit/>
          </a:bodyPr>
          <a:lstStyle/>
          <a:p>
            <a:pPr algn="l" indent="0" marL="0">
              <a:buNone/>
            </a:pPr>
            <a:r>
              <a:rPr lang="en-US" sz="1050" spc="158" kern="0" dirty="0">
                <a:solidFill>
                  <a:srgbClr val="5C6A82"/>
                </a:solidFill>
                <a:latin typeface="Arial" pitchFamily="34" charset="0"/>
                <a:ea typeface="Arial" pitchFamily="34" charset="-122"/>
                <a:cs typeface="Arial" pitchFamily="34" charset="-120"/>
              </a:rPr>
              <a:t>TARGET · WEB SERVER</a:t>
            </a:r>
            <a:endParaRPr lang="en-US" sz="1050" dirty="0"/>
          </a:p>
        </p:txBody>
      </p:sp>
      <p:sp>
        <p:nvSpPr>
          <p:cNvPr id="23" name="Shape 17"/>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24" name="Text 18"/>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25" name="Text 19"/>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03/17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02/</a:t>
            </a:r>
            <a:endParaRPr lang="en-US" sz="1800" dirty="0"/>
          </a:p>
        </p:txBody>
      </p:sp>
      <p:sp>
        <p:nvSpPr>
          <p:cNvPr id="7" name="Text 5"/>
          <p:cNvSpPr/>
          <p:nvPr/>
        </p:nvSpPr>
        <p:spPr>
          <a:xfrm>
            <a:off x="1935480" y="967740"/>
            <a:ext cx="2015252"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MOTIVATION</a:t>
            </a:r>
            <a:endParaRPr lang="en-US" sz="1800" dirty="0"/>
          </a:p>
        </p:txBody>
      </p:sp>
      <p:sp>
        <p:nvSpPr>
          <p:cNvPr id="8" name="Text 6"/>
          <p:cNvSpPr/>
          <p:nvPr/>
        </p:nvSpPr>
        <p:spPr>
          <a:xfrm>
            <a:off x="1143000" y="1428750"/>
            <a:ext cx="14504213"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Bot floods crashed servers in real time — and the response was too slow</a:t>
            </a:r>
            <a:endParaRPr lang="en-US" sz="4800" dirty="0"/>
          </a:p>
        </p:txBody>
      </p:sp>
      <p:sp>
        <p:nvSpPr>
          <p:cNvPr id="9" name="Text 7"/>
          <p:cNvSpPr/>
          <p:nvPr/>
        </p:nvSpPr>
        <p:spPr>
          <a:xfrm>
            <a:off x="1143000" y="2916793"/>
            <a:ext cx="12856007" cy="475298"/>
          </a:xfrm>
          <a:prstGeom prst="rect">
            <a:avLst/>
          </a:prstGeom>
          <a:noFill/>
          <a:ln/>
        </p:spPr>
        <p:txBody>
          <a:bodyPr wrap="square" lIns="25400" tIns="25400" rIns="25400" bIns="25400" rtlCol="0" anchor="t">
            <a:normAutofit/>
          </a:bodyPr>
          <a:lstStyle/>
          <a:p>
            <a:pPr algn="l" indent="0" marL="0">
              <a:lnSpc>
                <a:spcPct val="135000"/>
              </a:lnSpc>
              <a:buNone/>
            </a:pPr>
            <a:r>
              <a:rPr lang="en-US" sz="2550" dirty="0">
                <a:solidFill>
                  <a:srgbClr val="8C9AB0"/>
                </a:solidFill>
                <a:latin typeface="Arial" pitchFamily="34" charset="0"/>
                <a:ea typeface="Arial" pitchFamily="34" charset="-122"/>
                <a:cs typeface="Arial" pitchFamily="34" charset="-120"/>
              </a:rPr>
              <a:t>A real incident at a deployed website motivated this work.</a:t>
            </a:r>
            <a:endParaRPr lang="en-US" sz="2550" dirty="0"/>
          </a:p>
        </p:txBody>
      </p:sp>
      <p:sp>
        <p:nvSpPr>
          <p:cNvPr id="10" name="Shape 8"/>
          <p:cNvSpPr/>
          <p:nvPr/>
        </p:nvSpPr>
        <p:spPr>
          <a:xfrm>
            <a:off x="1143000" y="3849291"/>
            <a:ext cx="7772400" cy="5675709"/>
          </a:xfrm>
          <a:prstGeom prst="roundRect">
            <a:avLst>
              <a:gd name="adj" fmla="val 2685"/>
            </a:avLst>
          </a:prstGeom>
          <a:solidFill>
            <a:srgbClr val="141E32">
              <a:alpha val="55000"/>
            </a:srgbClr>
          </a:solidFill>
          <a:ln w="7620">
            <a:solidFill>
              <a:srgbClr val="78A0D2">
                <a:alpha val="14000"/>
              </a:srgbClr>
            </a:solidFill>
            <a:prstDash val="solid"/>
          </a:ln>
        </p:spPr>
      </p:sp>
      <p:sp>
        <p:nvSpPr>
          <p:cNvPr id="11" name="Text 9"/>
          <p:cNvSpPr/>
          <p:nvPr/>
        </p:nvSpPr>
        <p:spPr>
          <a:xfrm>
            <a:off x="1493520" y="4199811"/>
            <a:ext cx="7283501" cy="236220"/>
          </a:xfrm>
          <a:prstGeom prst="rect">
            <a:avLst/>
          </a:prstGeom>
          <a:noFill/>
          <a:ln/>
        </p:spPr>
        <p:txBody>
          <a:bodyPr wrap="square" lIns="25400" tIns="25400" rIns="25400" bIns="25400" rtlCol="0" anchor="t">
            <a:normAutofit/>
          </a:bodyPr>
          <a:lstStyle/>
          <a:p>
            <a:pPr algn="l" indent="0" marL="0">
              <a:buNone/>
            </a:pPr>
            <a:r>
              <a:rPr lang="en-US" sz="1350" spc="216" kern="0" dirty="0">
                <a:solidFill>
                  <a:srgbClr val="5C6A82"/>
                </a:solidFill>
                <a:latin typeface="Arial" pitchFamily="34" charset="0"/>
                <a:ea typeface="Arial" pitchFamily="34" charset="-122"/>
                <a:cs typeface="Arial" pitchFamily="34" charset="-120"/>
              </a:rPr>
              <a:t>INCIDENT TIMELINE · AUG 2025</a:t>
            </a:r>
            <a:endParaRPr lang="en-US" sz="1350" dirty="0"/>
          </a:p>
        </p:txBody>
      </p:sp>
      <p:sp>
        <p:nvSpPr>
          <p:cNvPr id="12" name="Text 10"/>
          <p:cNvSpPr/>
          <p:nvPr/>
        </p:nvSpPr>
        <p:spPr>
          <a:xfrm>
            <a:off x="1493520" y="4664631"/>
            <a:ext cx="81915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5C6A82"/>
                </a:solidFill>
                <a:latin typeface="Arial" pitchFamily="34" charset="0"/>
                <a:ea typeface="Arial" pitchFamily="34" charset="-122"/>
                <a:cs typeface="Arial" pitchFamily="34" charset="-120"/>
              </a:rPr>
              <a:t>14:02</a:t>
            </a:r>
            <a:endParaRPr lang="en-US" sz="1500" dirty="0"/>
          </a:p>
        </p:txBody>
      </p:sp>
      <p:sp>
        <p:nvSpPr>
          <p:cNvPr id="13" name="Shape 11"/>
          <p:cNvSpPr/>
          <p:nvPr/>
        </p:nvSpPr>
        <p:spPr>
          <a:xfrm>
            <a:off x="2465070" y="4683681"/>
            <a:ext cx="133350" cy="133350"/>
          </a:xfrm>
          <a:prstGeom prst="ellipse">
            <a:avLst/>
          </a:prstGeom>
          <a:solidFill>
            <a:srgbClr val="FFB547"/>
          </a:solidFill>
          <a:ln/>
          <a:effectLst>
            <a:outerShdw sx="100000" sy="100000" kx="0" ky="0" algn="bl" rotWithShape="0" blurRad="114300" dist="50800" dir="16200000">
              <a:srgbClr val="FFB547">
                <a:alpha val="100000"/>
              </a:srgbClr>
            </a:outerShdw>
          </a:effectLst>
        </p:spPr>
      </p:sp>
      <p:sp>
        <p:nvSpPr>
          <p:cNvPr id="14" name="Shape 12"/>
          <p:cNvSpPr/>
          <p:nvPr/>
        </p:nvSpPr>
        <p:spPr>
          <a:xfrm>
            <a:off x="2526983" y="4836081"/>
            <a:ext cx="9525" cy="190500"/>
          </a:xfrm>
          <a:prstGeom prst="rect">
            <a:avLst/>
          </a:prstGeom>
          <a:solidFill>
            <a:srgbClr val="78A0D2">
              <a:alpha val="14000"/>
            </a:srgbClr>
          </a:solidFill>
          <a:ln/>
        </p:spPr>
      </p:sp>
      <p:sp>
        <p:nvSpPr>
          <p:cNvPr id="15" name="Text 13"/>
          <p:cNvSpPr/>
          <p:nvPr/>
        </p:nvSpPr>
        <p:spPr>
          <a:xfrm>
            <a:off x="2827020" y="4626531"/>
            <a:ext cx="5909996" cy="31242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E7EEF7"/>
                </a:solidFill>
                <a:latin typeface="Arial" pitchFamily="34" charset="0"/>
                <a:ea typeface="Arial" pitchFamily="34" charset="-122"/>
                <a:cs typeface="Arial" pitchFamily="34" charset="-120"/>
              </a:rPr>
              <a:t>Traffic spike begins</a:t>
            </a:r>
            <a:endParaRPr lang="en-US" sz="1800" dirty="0"/>
          </a:p>
        </p:txBody>
      </p:sp>
      <p:sp>
        <p:nvSpPr>
          <p:cNvPr id="16" name="Text 14"/>
          <p:cNvSpPr/>
          <p:nvPr/>
        </p:nvSpPr>
        <p:spPr>
          <a:xfrm>
            <a:off x="2827020" y="4938951"/>
            <a:ext cx="5909996" cy="236220"/>
          </a:xfrm>
          <a:prstGeom prst="rect">
            <a:avLst/>
          </a:prstGeom>
          <a:noFill/>
          <a:ln/>
        </p:spPr>
        <p:txBody>
          <a:bodyPr wrap="square" lIns="25400" tIns="25400" rIns="25400" bIns="25400" rtlCol="0" anchor="t">
            <a:normAutofit/>
          </a:bodyPr>
          <a:lstStyle/>
          <a:p>
            <a:pPr algn="l" indent="0" marL="0">
              <a:buNone/>
            </a:pPr>
            <a:r>
              <a:rPr lang="en-US" sz="1350" dirty="0">
                <a:solidFill>
                  <a:srgbClr val="5C6A82"/>
                </a:solidFill>
                <a:latin typeface="Arial" pitchFamily="34" charset="0"/>
                <a:ea typeface="Arial" pitchFamily="34" charset="-122"/>
                <a:cs typeface="Arial" pitchFamily="34" charset="-120"/>
              </a:rPr>
              <a:t>CN, RU origin IPs</a:t>
            </a:r>
            <a:endParaRPr lang="en-US" sz="1350" dirty="0"/>
          </a:p>
        </p:txBody>
      </p:sp>
      <p:sp>
        <p:nvSpPr>
          <p:cNvPr id="17" name="Text 15"/>
          <p:cNvSpPr/>
          <p:nvPr/>
        </p:nvSpPr>
        <p:spPr>
          <a:xfrm>
            <a:off x="1493520" y="5365671"/>
            <a:ext cx="81915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5C6A82"/>
                </a:solidFill>
                <a:latin typeface="Arial" pitchFamily="34" charset="0"/>
                <a:ea typeface="Arial" pitchFamily="34" charset="-122"/>
                <a:cs typeface="Arial" pitchFamily="34" charset="-120"/>
              </a:rPr>
              <a:t>14:11</a:t>
            </a:r>
            <a:endParaRPr lang="en-US" sz="1500" dirty="0"/>
          </a:p>
        </p:txBody>
      </p:sp>
      <p:sp>
        <p:nvSpPr>
          <p:cNvPr id="18" name="Shape 16"/>
          <p:cNvSpPr/>
          <p:nvPr/>
        </p:nvSpPr>
        <p:spPr>
          <a:xfrm>
            <a:off x="2465070" y="5384721"/>
            <a:ext cx="133350" cy="133350"/>
          </a:xfrm>
          <a:prstGeom prst="ellipse">
            <a:avLst/>
          </a:prstGeom>
          <a:solidFill>
            <a:srgbClr val="FF4D6D"/>
          </a:solidFill>
          <a:ln/>
          <a:effectLst>
            <a:outerShdw sx="100000" sy="100000" kx="0" ky="0" algn="bl" rotWithShape="0" blurRad="114300" dist="50800" dir="16200000">
              <a:srgbClr val="FF4D6D">
                <a:alpha val="100000"/>
              </a:srgbClr>
            </a:outerShdw>
          </a:effectLst>
        </p:spPr>
      </p:sp>
      <p:sp>
        <p:nvSpPr>
          <p:cNvPr id="19" name="Shape 17"/>
          <p:cNvSpPr/>
          <p:nvPr/>
        </p:nvSpPr>
        <p:spPr>
          <a:xfrm>
            <a:off x="2526983" y="5537121"/>
            <a:ext cx="9525" cy="190500"/>
          </a:xfrm>
          <a:prstGeom prst="rect">
            <a:avLst/>
          </a:prstGeom>
          <a:solidFill>
            <a:srgbClr val="78A0D2">
              <a:alpha val="14000"/>
            </a:srgbClr>
          </a:solidFill>
          <a:ln/>
        </p:spPr>
      </p:sp>
      <p:sp>
        <p:nvSpPr>
          <p:cNvPr id="20" name="Text 18"/>
          <p:cNvSpPr/>
          <p:nvPr/>
        </p:nvSpPr>
        <p:spPr>
          <a:xfrm>
            <a:off x="2827020" y="5327571"/>
            <a:ext cx="5909996" cy="31242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E7EEF7"/>
                </a:solidFill>
                <a:latin typeface="Arial" pitchFamily="34" charset="0"/>
                <a:ea typeface="Arial" pitchFamily="34" charset="-122"/>
                <a:cs typeface="Arial" pitchFamily="34" charset="-120"/>
              </a:rPr>
              <a:t>CPU usage hits 100%</a:t>
            </a:r>
            <a:endParaRPr lang="en-US" sz="1800" dirty="0"/>
          </a:p>
        </p:txBody>
      </p:sp>
      <p:sp>
        <p:nvSpPr>
          <p:cNvPr id="21" name="Text 19"/>
          <p:cNvSpPr/>
          <p:nvPr/>
        </p:nvSpPr>
        <p:spPr>
          <a:xfrm>
            <a:off x="2827020" y="5639991"/>
            <a:ext cx="5909996" cy="236220"/>
          </a:xfrm>
          <a:prstGeom prst="rect">
            <a:avLst/>
          </a:prstGeom>
          <a:noFill/>
          <a:ln/>
        </p:spPr>
        <p:txBody>
          <a:bodyPr wrap="square" lIns="25400" tIns="25400" rIns="25400" bIns="25400" rtlCol="0" anchor="t">
            <a:normAutofit/>
          </a:bodyPr>
          <a:lstStyle/>
          <a:p>
            <a:pPr algn="l" indent="0" marL="0">
              <a:buNone/>
            </a:pPr>
            <a:r>
              <a:rPr lang="en-US" sz="1350" dirty="0">
                <a:solidFill>
                  <a:srgbClr val="5C6A82"/>
                </a:solidFill>
                <a:latin typeface="Arial" pitchFamily="34" charset="0"/>
                <a:ea typeface="Arial" pitchFamily="34" charset="-122"/>
                <a:cs typeface="Arial" pitchFamily="34" charset="-120"/>
              </a:rPr>
              <a:t>website unresponsive</a:t>
            </a:r>
            <a:endParaRPr lang="en-US" sz="1350" dirty="0"/>
          </a:p>
        </p:txBody>
      </p:sp>
      <p:sp>
        <p:nvSpPr>
          <p:cNvPr id="22" name="Text 20"/>
          <p:cNvSpPr/>
          <p:nvPr/>
        </p:nvSpPr>
        <p:spPr>
          <a:xfrm>
            <a:off x="1493520" y="6066711"/>
            <a:ext cx="81915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5C6A82"/>
                </a:solidFill>
                <a:latin typeface="Arial" pitchFamily="34" charset="0"/>
                <a:ea typeface="Arial" pitchFamily="34" charset="-122"/>
                <a:cs typeface="Arial" pitchFamily="34" charset="-120"/>
              </a:rPr>
              <a:t>14:24</a:t>
            </a:r>
            <a:endParaRPr lang="en-US" sz="1500" dirty="0"/>
          </a:p>
        </p:txBody>
      </p:sp>
      <p:sp>
        <p:nvSpPr>
          <p:cNvPr id="23" name="Shape 21"/>
          <p:cNvSpPr/>
          <p:nvPr/>
        </p:nvSpPr>
        <p:spPr>
          <a:xfrm>
            <a:off x="2465070" y="6085761"/>
            <a:ext cx="133350" cy="1333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24" name="Shape 22"/>
          <p:cNvSpPr/>
          <p:nvPr/>
        </p:nvSpPr>
        <p:spPr>
          <a:xfrm>
            <a:off x="2526983" y="6238161"/>
            <a:ext cx="9525" cy="190500"/>
          </a:xfrm>
          <a:prstGeom prst="rect">
            <a:avLst/>
          </a:prstGeom>
          <a:solidFill>
            <a:srgbClr val="78A0D2">
              <a:alpha val="14000"/>
            </a:srgbClr>
          </a:solidFill>
          <a:ln/>
        </p:spPr>
      </p:sp>
      <p:sp>
        <p:nvSpPr>
          <p:cNvPr id="25" name="Text 23"/>
          <p:cNvSpPr/>
          <p:nvPr/>
        </p:nvSpPr>
        <p:spPr>
          <a:xfrm>
            <a:off x="2827020" y="6028611"/>
            <a:ext cx="5909996" cy="31242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E7EEF7"/>
                </a:solidFill>
                <a:latin typeface="Arial" pitchFamily="34" charset="0"/>
                <a:ea typeface="Arial" pitchFamily="34" charset="-122"/>
                <a:cs typeface="Arial" pitchFamily="34" charset="-120"/>
              </a:rPr>
              <a:t>Manual log review starts</a:t>
            </a:r>
            <a:endParaRPr lang="en-US" sz="1800" dirty="0"/>
          </a:p>
        </p:txBody>
      </p:sp>
      <p:sp>
        <p:nvSpPr>
          <p:cNvPr id="26" name="Text 24"/>
          <p:cNvSpPr/>
          <p:nvPr/>
        </p:nvSpPr>
        <p:spPr>
          <a:xfrm>
            <a:off x="2827020" y="6341031"/>
            <a:ext cx="5909996" cy="236220"/>
          </a:xfrm>
          <a:prstGeom prst="rect">
            <a:avLst/>
          </a:prstGeom>
          <a:noFill/>
          <a:ln/>
        </p:spPr>
        <p:txBody>
          <a:bodyPr wrap="square" lIns="25400" tIns="25400" rIns="25400" bIns="25400" rtlCol="0" anchor="t">
            <a:normAutofit/>
          </a:bodyPr>
          <a:lstStyle/>
          <a:p>
            <a:pPr algn="l" indent="0" marL="0">
              <a:buNone/>
            </a:pPr>
            <a:r>
              <a:rPr lang="en-US" sz="1350" dirty="0">
                <a:solidFill>
                  <a:srgbClr val="5C6A82"/>
                </a:solidFill>
                <a:latin typeface="Arial" pitchFamily="34" charset="0"/>
                <a:ea typeface="Arial" pitchFamily="34" charset="-122"/>
                <a:cs typeface="Arial" pitchFamily="34" charset="-120"/>
              </a:rPr>
              <a:t>on-call engineer</a:t>
            </a:r>
            <a:endParaRPr lang="en-US" sz="1350" dirty="0"/>
          </a:p>
        </p:txBody>
      </p:sp>
      <p:sp>
        <p:nvSpPr>
          <p:cNvPr id="27" name="Text 25"/>
          <p:cNvSpPr/>
          <p:nvPr/>
        </p:nvSpPr>
        <p:spPr>
          <a:xfrm>
            <a:off x="1493520" y="6767751"/>
            <a:ext cx="81915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5C6A82"/>
                </a:solidFill>
                <a:latin typeface="Arial" pitchFamily="34" charset="0"/>
                <a:ea typeface="Arial" pitchFamily="34" charset="-122"/>
                <a:cs typeface="Arial" pitchFamily="34" charset="-120"/>
              </a:rPr>
              <a:t>15:47</a:t>
            </a:r>
            <a:endParaRPr lang="en-US" sz="1500" dirty="0"/>
          </a:p>
        </p:txBody>
      </p:sp>
      <p:sp>
        <p:nvSpPr>
          <p:cNvPr id="28" name="Shape 26"/>
          <p:cNvSpPr/>
          <p:nvPr/>
        </p:nvSpPr>
        <p:spPr>
          <a:xfrm>
            <a:off x="2465070" y="6786801"/>
            <a:ext cx="133350" cy="1333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29" name="Shape 27"/>
          <p:cNvSpPr/>
          <p:nvPr/>
        </p:nvSpPr>
        <p:spPr>
          <a:xfrm>
            <a:off x="2526983" y="6939201"/>
            <a:ext cx="9525" cy="190500"/>
          </a:xfrm>
          <a:prstGeom prst="rect">
            <a:avLst/>
          </a:prstGeom>
          <a:solidFill>
            <a:srgbClr val="78A0D2">
              <a:alpha val="14000"/>
            </a:srgbClr>
          </a:solidFill>
          <a:ln/>
        </p:spPr>
      </p:sp>
      <p:sp>
        <p:nvSpPr>
          <p:cNvPr id="30" name="Text 28"/>
          <p:cNvSpPr/>
          <p:nvPr/>
        </p:nvSpPr>
        <p:spPr>
          <a:xfrm>
            <a:off x="2827020" y="6729651"/>
            <a:ext cx="5909996" cy="31242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E7EEF7"/>
                </a:solidFill>
                <a:latin typeface="Arial" pitchFamily="34" charset="0"/>
                <a:ea typeface="Arial" pitchFamily="34" charset="-122"/>
                <a:cs typeface="Arial" pitchFamily="34" charset="-120"/>
              </a:rPr>
              <a:t>IP blocks deployed manually</a:t>
            </a:r>
            <a:endParaRPr lang="en-US" sz="1800" dirty="0"/>
          </a:p>
        </p:txBody>
      </p:sp>
      <p:sp>
        <p:nvSpPr>
          <p:cNvPr id="31" name="Text 29"/>
          <p:cNvSpPr/>
          <p:nvPr/>
        </p:nvSpPr>
        <p:spPr>
          <a:xfrm>
            <a:off x="2827020" y="7042071"/>
            <a:ext cx="5909996" cy="236220"/>
          </a:xfrm>
          <a:prstGeom prst="rect">
            <a:avLst/>
          </a:prstGeom>
          <a:noFill/>
          <a:ln/>
        </p:spPr>
        <p:txBody>
          <a:bodyPr wrap="square" lIns="25400" tIns="25400" rIns="25400" bIns="25400" rtlCol="0" anchor="t">
            <a:normAutofit/>
          </a:bodyPr>
          <a:lstStyle/>
          <a:p>
            <a:pPr algn="l" indent="0" marL="0">
              <a:buNone/>
            </a:pPr>
            <a:r>
              <a:rPr lang="en-US" sz="1350" dirty="0">
                <a:solidFill>
                  <a:srgbClr val="5C6A82"/>
                </a:solidFill>
                <a:latin typeface="Arial" pitchFamily="34" charset="0"/>
                <a:ea typeface="Arial" pitchFamily="34" charset="-122"/>
                <a:cs typeface="Arial" pitchFamily="34" charset="-120"/>
              </a:rPr>
              <a:t>~1h 45m of downtime</a:t>
            </a:r>
            <a:endParaRPr lang="en-US" sz="1350" dirty="0"/>
          </a:p>
        </p:txBody>
      </p:sp>
      <p:sp>
        <p:nvSpPr>
          <p:cNvPr id="32" name="Text 30"/>
          <p:cNvSpPr/>
          <p:nvPr/>
        </p:nvSpPr>
        <p:spPr>
          <a:xfrm>
            <a:off x="1493520" y="7468791"/>
            <a:ext cx="819150" cy="259080"/>
          </a:xfrm>
          <a:prstGeom prst="rect">
            <a:avLst/>
          </a:prstGeom>
          <a:noFill/>
          <a:ln/>
        </p:spPr>
        <p:txBody>
          <a:bodyPr wrap="square" lIns="25400" tIns="25400" rIns="25400" bIns="25400" rtlCol="0" anchor="t">
            <a:normAutofit/>
          </a:bodyPr>
          <a:lstStyle/>
          <a:p>
            <a:pPr algn="l" indent="0" marL="0">
              <a:buNone/>
            </a:pPr>
            <a:r>
              <a:rPr lang="en-US" sz="1500" dirty="0">
                <a:solidFill>
                  <a:srgbClr val="5C6A82"/>
                </a:solidFill>
                <a:latin typeface="Arial" pitchFamily="34" charset="0"/>
                <a:ea typeface="Arial" pitchFamily="34" charset="-122"/>
                <a:cs typeface="Arial" pitchFamily="34" charset="-120"/>
              </a:rPr>
              <a:t>16:09</a:t>
            </a:r>
            <a:endParaRPr lang="en-US" sz="1500" dirty="0"/>
          </a:p>
        </p:txBody>
      </p:sp>
      <p:sp>
        <p:nvSpPr>
          <p:cNvPr id="33" name="Shape 31"/>
          <p:cNvSpPr/>
          <p:nvPr/>
        </p:nvSpPr>
        <p:spPr>
          <a:xfrm>
            <a:off x="2465070" y="7487841"/>
            <a:ext cx="133350" cy="133350"/>
          </a:xfrm>
          <a:prstGeom prst="ellipse">
            <a:avLst/>
          </a:prstGeom>
          <a:solidFill>
            <a:srgbClr val="39FF88"/>
          </a:solidFill>
          <a:ln/>
          <a:effectLst>
            <a:outerShdw sx="100000" sy="100000" kx="0" ky="0" algn="bl" rotWithShape="0" blurRad="114300" dist="50800" dir="16200000">
              <a:srgbClr val="39FF88">
                <a:alpha val="100000"/>
              </a:srgbClr>
            </a:outerShdw>
          </a:effectLst>
        </p:spPr>
      </p:sp>
      <p:sp>
        <p:nvSpPr>
          <p:cNvPr id="34" name="Text 32"/>
          <p:cNvSpPr/>
          <p:nvPr/>
        </p:nvSpPr>
        <p:spPr>
          <a:xfrm>
            <a:off x="2827020" y="7430691"/>
            <a:ext cx="5909996" cy="31242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E7EEF7"/>
                </a:solidFill>
                <a:latin typeface="Arial" pitchFamily="34" charset="0"/>
                <a:ea typeface="Arial" pitchFamily="34" charset="-122"/>
                <a:cs typeface="Arial" pitchFamily="34" charset="-120"/>
              </a:rPr>
              <a:t>Service restored</a:t>
            </a:r>
            <a:endParaRPr lang="en-US" sz="1800" dirty="0"/>
          </a:p>
        </p:txBody>
      </p:sp>
      <p:sp>
        <p:nvSpPr>
          <p:cNvPr id="35" name="Text 33"/>
          <p:cNvSpPr/>
          <p:nvPr/>
        </p:nvSpPr>
        <p:spPr>
          <a:xfrm>
            <a:off x="2827020" y="7743111"/>
            <a:ext cx="5909996" cy="236220"/>
          </a:xfrm>
          <a:prstGeom prst="rect">
            <a:avLst/>
          </a:prstGeom>
          <a:noFill/>
          <a:ln/>
        </p:spPr>
        <p:txBody>
          <a:bodyPr wrap="square" lIns="25400" tIns="25400" rIns="25400" bIns="25400" rtlCol="0" anchor="t">
            <a:normAutofit/>
          </a:bodyPr>
          <a:lstStyle/>
          <a:p>
            <a:pPr algn="l" indent="0" marL="0">
              <a:buNone/>
            </a:pPr>
            <a:r>
              <a:rPr lang="en-US" sz="1350" dirty="0">
                <a:solidFill>
                  <a:srgbClr val="5C6A82"/>
                </a:solidFill>
                <a:latin typeface="Arial" pitchFamily="34" charset="0"/>
                <a:ea typeface="Arial" pitchFamily="34" charset="-122"/>
                <a:cs typeface="Arial" pitchFamily="34" charset="-120"/>
              </a:rPr>
              <a:t>genuine users impacted</a:t>
            </a:r>
            <a:endParaRPr lang="en-US" sz="1350" dirty="0"/>
          </a:p>
        </p:txBody>
      </p:sp>
      <p:sp>
        <p:nvSpPr>
          <p:cNvPr id="36" name="Shape 34"/>
          <p:cNvSpPr/>
          <p:nvPr/>
        </p:nvSpPr>
        <p:spPr>
          <a:xfrm>
            <a:off x="9372600" y="3849291"/>
            <a:ext cx="7772400" cy="5675709"/>
          </a:xfrm>
          <a:prstGeom prst="roundRect">
            <a:avLst>
              <a:gd name="adj" fmla="val 2685"/>
            </a:avLst>
          </a:prstGeom>
          <a:solidFill>
            <a:srgbClr val="141E32">
              <a:alpha val="55000"/>
            </a:srgbClr>
          </a:solidFill>
          <a:ln w="7620">
            <a:solidFill>
              <a:srgbClr val="78A0D2">
                <a:alpha val="14000"/>
              </a:srgbClr>
            </a:solidFill>
            <a:prstDash val="solid"/>
          </a:ln>
        </p:spPr>
      </p:sp>
      <p:sp>
        <p:nvSpPr>
          <p:cNvPr id="37" name="Text 35"/>
          <p:cNvSpPr/>
          <p:nvPr/>
        </p:nvSpPr>
        <p:spPr>
          <a:xfrm>
            <a:off x="9685020" y="4736425"/>
            <a:ext cx="2428161" cy="236220"/>
          </a:xfrm>
          <a:prstGeom prst="rect">
            <a:avLst/>
          </a:prstGeom>
          <a:noFill/>
          <a:ln/>
        </p:spPr>
        <p:txBody>
          <a:bodyPr wrap="square" lIns="25400" tIns="25400" rIns="25400" bIns="25400" rtlCol="0" anchor="t">
            <a:normAutofit/>
          </a:bodyPr>
          <a:lstStyle/>
          <a:p>
            <a:pPr algn="l" indent="0" marL="0">
              <a:buNone/>
            </a:pPr>
            <a:r>
              <a:rPr lang="en-US" sz="1350" spc="216" kern="0" dirty="0">
                <a:solidFill>
                  <a:srgbClr val="5C6A82"/>
                </a:solidFill>
                <a:latin typeface="Arial" pitchFamily="34" charset="0"/>
                <a:ea typeface="Arial" pitchFamily="34" charset="-122"/>
                <a:cs typeface="Arial" pitchFamily="34" charset="-120"/>
              </a:rPr>
              <a:t>SERVER CPU AT PEAK</a:t>
            </a:r>
            <a:endParaRPr lang="en-US" sz="1350" dirty="0"/>
          </a:p>
        </p:txBody>
      </p:sp>
      <p:pic>
        <p:nvPicPr>
          <p:cNvPr id="38" name="Image 0" descr="preencoded.png">    </p:cNvPr>
          <p:cNvPicPr>
            <a:picLocks noChangeAspect="1"/>
          </p:cNvPicPr>
          <p:nvPr/>
        </p:nvPicPr>
        <p:blipFill>
          <a:blip r:embed="rId1"/>
          <a:stretch>
            <a:fillRect/>
          </a:stretch>
        </p:blipFill>
        <p:spPr>
          <a:xfrm rot="-5400000">
            <a:off x="11734800" y="5163145"/>
            <a:ext cx="3048000" cy="3048000"/>
          </a:xfrm>
          <a:prstGeom prst="rect">
            <a:avLst/>
          </a:prstGeom>
        </p:spPr>
      </p:pic>
      <p:sp>
        <p:nvSpPr>
          <p:cNvPr id="39" name="Text 36"/>
          <p:cNvSpPr/>
          <p:nvPr/>
        </p:nvSpPr>
        <p:spPr>
          <a:xfrm>
            <a:off x="12252960" y="5993725"/>
            <a:ext cx="2087880" cy="1143000"/>
          </a:xfrm>
          <a:prstGeom prst="rect">
            <a:avLst/>
          </a:prstGeom>
          <a:noFill/>
          <a:ln/>
          <a:effectLst>
            <a:outerShdw sx="100000" sy="100000" kx="0" ky="0" algn="bl" rotWithShape="0" blurRad="190500" dist="50800" dir="16200000">
              <a:srgbClr val="FF4D6D">
                <a:alpha val="53300"/>
              </a:srgbClr>
            </a:outerShdw>
          </a:effectLst>
        </p:spPr>
        <p:txBody>
          <a:bodyPr wrap="square" lIns="25400" tIns="25400" rIns="25400" bIns="25400" rtlCol="0" anchor="t">
            <a:normAutofit/>
          </a:bodyPr>
          <a:lstStyle/>
          <a:p>
            <a:pPr algn="l" indent="0" marL="0">
              <a:lnSpc>
                <a:spcPct val="100000"/>
              </a:lnSpc>
              <a:buNone/>
            </a:pPr>
            <a:r>
              <a:rPr lang="en-US" sz="6600" b="1" dirty="0">
                <a:solidFill>
                  <a:srgbClr val="FF4D6D"/>
                </a:solidFill>
                <a:latin typeface="Arial" pitchFamily="34" charset="0"/>
                <a:ea typeface="Arial" pitchFamily="34" charset="-122"/>
                <a:cs typeface="Arial" pitchFamily="34" charset="-120"/>
              </a:rPr>
              <a:t>100%</a:t>
            </a:r>
            <a:endParaRPr lang="en-US" sz="6600" dirty="0"/>
          </a:p>
        </p:txBody>
      </p:sp>
      <p:sp>
        <p:nvSpPr>
          <p:cNvPr id="40" name="Text 37"/>
          <p:cNvSpPr/>
          <p:nvPr/>
        </p:nvSpPr>
        <p:spPr>
          <a:xfrm>
            <a:off x="12334161" y="7045286"/>
            <a:ext cx="1925479" cy="236220"/>
          </a:xfrm>
          <a:prstGeom prst="rect">
            <a:avLst/>
          </a:prstGeom>
          <a:noFill/>
          <a:ln/>
        </p:spPr>
        <p:txBody>
          <a:bodyPr wrap="square" lIns="25400" tIns="25400" rIns="25400" bIns="25400" rtlCol="0" anchor="t">
            <a:normAutofit/>
          </a:bodyPr>
          <a:lstStyle/>
          <a:p>
            <a:pPr algn="l" indent="0" marL="0">
              <a:buNone/>
            </a:pPr>
            <a:r>
              <a:rPr lang="en-US" sz="1350" spc="203" kern="0" dirty="0">
                <a:solidFill>
                  <a:srgbClr val="5C6A82"/>
                </a:solidFill>
                <a:latin typeface="Arial" pitchFamily="34" charset="0"/>
                <a:ea typeface="Arial" pitchFamily="34" charset="-122"/>
                <a:cs typeface="Arial" pitchFamily="34" charset="-120"/>
              </a:rPr>
              <a:t>CPU SATURATION</a:t>
            </a:r>
            <a:endParaRPr lang="en-US" sz="1350" dirty="0"/>
          </a:p>
        </p:txBody>
      </p:sp>
      <p:sp>
        <p:nvSpPr>
          <p:cNvPr id="41" name="Text 38"/>
          <p:cNvSpPr/>
          <p:nvPr/>
        </p:nvSpPr>
        <p:spPr>
          <a:xfrm>
            <a:off x="11590854" y="8439745"/>
            <a:ext cx="1529596" cy="236220"/>
          </a:xfrm>
          <a:prstGeom prst="rect">
            <a:avLst/>
          </a:prstGeom>
          <a:noFill/>
          <a:ln/>
        </p:spPr>
        <p:txBody>
          <a:bodyPr wrap="square" lIns="25400" tIns="25400" rIns="25400" bIns="25400" rtlCol="0" anchor="t">
            <a:normAutofit/>
          </a:bodyPr>
          <a:lstStyle/>
          <a:p>
            <a:pPr algn="l" indent="0" marL="0">
              <a:buNone/>
            </a:pPr>
            <a:r>
              <a:rPr lang="en-US" sz="1350" dirty="0">
                <a:solidFill>
                  <a:srgbClr val="FF4D6D"/>
                </a:solidFill>
                <a:latin typeface="Arial" pitchFamily="34" charset="0"/>
                <a:ea typeface="Arial" pitchFamily="34" charset="-122"/>
                <a:cs typeface="Arial" pitchFamily="34" charset="-120"/>
              </a:rPr>
              <a:t>+1h 45m</a:t>
            </a:r>
            <a:pPr algn="l" indent="0" marL="0">
              <a:buNone/>
            </a:pPr>
            <a:r>
              <a:rPr lang="en-US" sz="1350" dirty="0">
                <a:solidFill>
                  <a:srgbClr val="5C6A82"/>
                </a:solidFill>
                <a:latin typeface="Arial" pitchFamily="34" charset="0"/>
                <a:ea typeface="Arial" pitchFamily="34" charset="-122"/>
                <a:cs typeface="Arial" pitchFamily="34" charset="-120"/>
              </a:rPr>
              <a:t>downtime</a:t>
            </a:r>
            <a:endParaRPr lang="en-US" sz="1350" dirty="0"/>
          </a:p>
        </p:txBody>
      </p:sp>
      <p:sp>
        <p:nvSpPr>
          <p:cNvPr id="42" name="Text 39"/>
          <p:cNvSpPr/>
          <p:nvPr/>
        </p:nvSpPr>
        <p:spPr>
          <a:xfrm>
            <a:off x="13349049" y="8439745"/>
            <a:ext cx="1653778" cy="236220"/>
          </a:xfrm>
          <a:prstGeom prst="rect">
            <a:avLst/>
          </a:prstGeom>
          <a:noFill/>
          <a:ln/>
        </p:spPr>
        <p:txBody>
          <a:bodyPr wrap="square" lIns="25400" tIns="25400" rIns="25400" bIns="25400" rtlCol="0" anchor="t">
            <a:normAutofit/>
          </a:bodyPr>
          <a:lstStyle/>
          <a:p>
            <a:pPr algn="l" indent="0" marL="0">
              <a:buNone/>
            </a:pPr>
            <a:r>
              <a:rPr lang="en-US" sz="1350" dirty="0">
                <a:solidFill>
                  <a:srgbClr val="FFB547"/>
                </a:solidFill>
                <a:latin typeface="Arial" pitchFamily="34" charset="0"/>
                <a:ea typeface="Arial" pitchFamily="34" charset="-122"/>
                <a:cs typeface="Arial" pitchFamily="34" charset="-120"/>
              </a:rPr>
              <a:t>~12K</a:t>
            </a:r>
            <a:pPr algn="l" indent="0" marL="0">
              <a:buNone/>
            </a:pPr>
            <a:r>
              <a:rPr lang="en-US" sz="1350" dirty="0">
                <a:solidFill>
                  <a:srgbClr val="5C6A82"/>
                </a:solidFill>
                <a:latin typeface="Arial" pitchFamily="34" charset="0"/>
                <a:ea typeface="Arial" pitchFamily="34" charset="-122"/>
                <a:cs typeface="Arial" pitchFamily="34" charset="-120"/>
              </a:rPr>
              <a:t>failed sessions</a:t>
            </a:r>
            <a:endParaRPr lang="en-US" sz="1350" dirty="0"/>
          </a:p>
        </p:txBody>
      </p:sp>
      <p:sp>
        <p:nvSpPr>
          <p:cNvPr id="43" name="Text 40"/>
          <p:cNvSpPr/>
          <p:nvPr/>
        </p:nvSpPr>
        <p:spPr>
          <a:xfrm>
            <a:off x="902970" y="9151620"/>
            <a:ext cx="16482060" cy="297180"/>
          </a:xfrm>
          <a:prstGeom prst="rect">
            <a:avLst/>
          </a:prstGeom>
          <a:noFill/>
          <a:ln/>
        </p:spPr>
        <p:txBody>
          <a:bodyPr wrap="square" lIns="25400" tIns="25400" rIns="25400" bIns="25400" rtlCol="0" anchor="t">
            <a:normAutofit/>
          </a:bodyPr>
          <a:lstStyle/>
          <a:p>
            <a:pPr algn="ctr" indent="0" marL="0">
              <a:buNone/>
            </a:pPr>
            <a:r>
              <a:rPr lang="en-US" sz="1800" spc="216" kern="0" dirty="0">
                <a:solidFill>
                  <a:srgbClr val="00E5FF"/>
                </a:solidFill>
                <a:latin typeface="Arial" pitchFamily="34" charset="0"/>
                <a:ea typeface="Arial" pitchFamily="34" charset="-122"/>
                <a:cs typeface="Arial" pitchFamily="34" charset="-120"/>
              </a:rPr>
              <a:t>// </a:t>
            </a:r>
            <a:pPr algn="ctr" indent="0" marL="0">
              <a:buNone/>
            </a:pPr>
            <a:r>
              <a:rPr lang="en-US" sz="1800" spc="216" kern="0" dirty="0">
                <a:solidFill>
                  <a:srgbClr val="8C9AB0"/>
                </a:solidFill>
                <a:latin typeface="Arial" pitchFamily="34" charset="0"/>
                <a:ea typeface="Arial" pitchFamily="34" charset="-122"/>
                <a:cs typeface="Arial" pitchFamily="34" charset="-120"/>
              </a:rPr>
              <a:t>SAME PATTERN REPORTED GLOBALLY — THIS IS NOT A SINGLE-COMPANY PROBLEM</a:t>
            </a:r>
            <a:endParaRPr lang="en-US" sz="1800" dirty="0"/>
          </a:p>
        </p:txBody>
      </p:sp>
      <p:sp>
        <p:nvSpPr>
          <p:cNvPr id="44" name="Shape 41"/>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45" name="Text 42"/>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46" name="Text 43"/>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04/17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03/</a:t>
            </a:r>
            <a:endParaRPr lang="en-US" sz="1800" dirty="0"/>
          </a:p>
        </p:txBody>
      </p:sp>
      <p:sp>
        <p:nvSpPr>
          <p:cNvPr id="7" name="Text 5"/>
          <p:cNvSpPr/>
          <p:nvPr/>
        </p:nvSpPr>
        <p:spPr>
          <a:xfrm>
            <a:off x="1935480" y="967740"/>
            <a:ext cx="3305855"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LITERATURE SURVEY</a:t>
            </a:r>
            <a:endParaRPr lang="en-US" sz="1800" dirty="0"/>
          </a:p>
        </p:txBody>
      </p:sp>
      <p:sp>
        <p:nvSpPr>
          <p:cNvPr id="8" name="Text 6"/>
          <p:cNvSpPr/>
          <p:nvPr/>
        </p:nvSpPr>
        <p:spPr>
          <a:xfrm>
            <a:off x="1143000" y="1428750"/>
            <a:ext cx="14504213"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Existing defenses block too much, or miss too much</a:t>
            </a:r>
            <a:endParaRPr lang="en-US" sz="4800" dirty="0"/>
          </a:p>
        </p:txBody>
      </p:sp>
      <p:sp>
        <p:nvSpPr>
          <p:cNvPr id="9" name="Shape 7"/>
          <p:cNvSpPr/>
          <p:nvPr/>
        </p:nvSpPr>
        <p:spPr>
          <a:xfrm>
            <a:off x="1143000" y="3240643"/>
            <a:ext cx="16002000" cy="6284357"/>
          </a:xfrm>
          <a:prstGeom prst="roundRect">
            <a:avLst>
              <a:gd name="adj" fmla="val 2425"/>
            </a:avLst>
          </a:prstGeom>
          <a:solidFill>
            <a:srgbClr val="141E32">
              <a:alpha val="55000"/>
            </a:srgbClr>
          </a:solidFill>
          <a:ln w="7620">
            <a:solidFill>
              <a:srgbClr val="78A0D2">
                <a:alpha val="14000"/>
              </a:srgbClr>
            </a:solidFill>
            <a:prstDash val="solid"/>
          </a:ln>
        </p:spPr>
      </p:sp>
      <p:sp>
        <p:nvSpPr>
          <p:cNvPr id="10" name="Shape 8"/>
          <p:cNvSpPr/>
          <p:nvPr/>
        </p:nvSpPr>
        <p:spPr>
          <a:xfrm>
            <a:off x="1493520" y="3882628"/>
            <a:ext cx="3060144" cy="9525"/>
          </a:xfrm>
          <a:prstGeom prst="rect">
            <a:avLst/>
          </a:prstGeom>
          <a:solidFill>
            <a:srgbClr val="78A0D2">
              <a:alpha val="14000"/>
            </a:srgbClr>
          </a:solidFill>
          <a:ln/>
        </p:spPr>
      </p:sp>
      <p:sp>
        <p:nvSpPr>
          <p:cNvPr id="11" name="Text 9"/>
          <p:cNvSpPr/>
          <p:nvPr/>
        </p:nvSpPr>
        <p:spPr>
          <a:xfrm>
            <a:off x="1503045" y="3486388"/>
            <a:ext cx="3132899" cy="262890"/>
          </a:xfrm>
          <a:prstGeom prst="rect">
            <a:avLst/>
          </a:prstGeom>
          <a:noFill/>
          <a:ln/>
        </p:spPr>
        <p:txBody>
          <a:bodyPr wrap="square" lIns="25400" tIns="25400" rIns="25400" bIns="25400" rtlCol="0" anchor="ctr">
            <a:normAutofit/>
          </a:bodyPr>
          <a:lstStyle/>
          <a:p>
            <a:pPr algn="l" indent="0" marL="0">
              <a:buNone/>
            </a:pPr>
            <a:r>
              <a:rPr lang="en-US" sz="1350" spc="189" kern="0" dirty="0">
                <a:solidFill>
                  <a:srgbClr val="5C6A82"/>
                </a:solidFill>
                <a:latin typeface="Arial" pitchFamily="34" charset="0"/>
                <a:ea typeface="Arial" pitchFamily="34" charset="-122"/>
                <a:cs typeface="Arial" pitchFamily="34" charset="-120"/>
              </a:rPr>
              <a:t>APPROACH</a:t>
            </a:r>
            <a:endParaRPr lang="en-US" sz="1350" dirty="0"/>
          </a:p>
        </p:txBody>
      </p:sp>
      <p:sp>
        <p:nvSpPr>
          <p:cNvPr id="12" name="Shape 10"/>
          <p:cNvSpPr/>
          <p:nvPr/>
        </p:nvSpPr>
        <p:spPr>
          <a:xfrm>
            <a:off x="4553664" y="3882628"/>
            <a:ext cx="1405057" cy="9525"/>
          </a:xfrm>
          <a:prstGeom prst="rect">
            <a:avLst/>
          </a:prstGeom>
          <a:solidFill>
            <a:srgbClr val="78A0D2">
              <a:alpha val="14000"/>
            </a:srgbClr>
          </a:solidFill>
          <a:ln/>
        </p:spPr>
      </p:sp>
      <p:sp>
        <p:nvSpPr>
          <p:cNvPr id="13" name="Text 11"/>
          <p:cNvSpPr/>
          <p:nvPr/>
        </p:nvSpPr>
        <p:spPr>
          <a:xfrm>
            <a:off x="4563189" y="3486388"/>
            <a:ext cx="1462207" cy="262890"/>
          </a:xfrm>
          <a:prstGeom prst="rect">
            <a:avLst/>
          </a:prstGeom>
          <a:noFill/>
          <a:ln/>
        </p:spPr>
        <p:txBody>
          <a:bodyPr wrap="square" lIns="25400" tIns="25400" rIns="25400" bIns="25400" rtlCol="0" anchor="ctr">
            <a:normAutofit/>
          </a:bodyPr>
          <a:lstStyle/>
          <a:p>
            <a:pPr algn="l" indent="0" marL="0">
              <a:buNone/>
            </a:pPr>
            <a:r>
              <a:rPr lang="en-US" sz="1350" spc="189" kern="0" dirty="0">
                <a:solidFill>
                  <a:srgbClr val="5C6A82"/>
                </a:solidFill>
                <a:latin typeface="Arial" pitchFamily="34" charset="0"/>
                <a:ea typeface="Arial" pitchFamily="34" charset="-122"/>
                <a:cs typeface="Arial" pitchFamily="34" charset="-120"/>
              </a:rPr>
              <a:t>ADAPTIVE</a:t>
            </a:r>
            <a:endParaRPr lang="en-US" sz="1350" dirty="0"/>
          </a:p>
        </p:txBody>
      </p:sp>
      <p:sp>
        <p:nvSpPr>
          <p:cNvPr id="14" name="Shape 12"/>
          <p:cNvSpPr/>
          <p:nvPr/>
        </p:nvSpPr>
        <p:spPr>
          <a:xfrm>
            <a:off x="5958721" y="3882628"/>
            <a:ext cx="1405057" cy="9525"/>
          </a:xfrm>
          <a:prstGeom prst="rect">
            <a:avLst/>
          </a:prstGeom>
          <a:solidFill>
            <a:srgbClr val="78A0D2">
              <a:alpha val="14000"/>
            </a:srgbClr>
          </a:solidFill>
          <a:ln/>
        </p:spPr>
      </p:sp>
      <p:sp>
        <p:nvSpPr>
          <p:cNvPr id="15" name="Text 13"/>
          <p:cNvSpPr/>
          <p:nvPr/>
        </p:nvSpPr>
        <p:spPr>
          <a:xfrm>
            <a:off x="5968246" y="3486388"/>
            <a:ext cx="1462207" cy="262890"/>
          </a:xfrm>
          <a:prstGeom prst="rect">
            <a:avLst/>
          </a:prstGeom>
          <a:noFill/>
          <a:ln/>
        </p:spPr>
        <p:txBody>
          <a:bodyPr wrap="square" lIns="25400" tIns="25400" rIns="25400" bIns="25400" rtlCol="0" anchor="ctr">
            <a:normAutofit/>
          </a:bodyPr>
          <a:lstStyle/>
          <a:p>
            <a:pPr algn="l" indent="0" marL="0">
              <a:buNone/>
            </a:pPr>
            <a:r>
              <a:rPr lang="en-US" sz="1350" spc="189" kern="0" dirty="0">
                <a:solidFill>
                  <a:srgbClr val="5C6A82"/>
                </a:solidFill>
                <a:latin typeface="Arial" pitchFamily="34" charset="0"/>
                <a:ea typeface="Arial" pitchFamily="34" charset="-122"/>
                <a:cs typeface="Arial" pitchFamily="34" charset="-120"/>
              </a:rPr>
              <a:t>ACCURACY</a:t>
            </a:r>
            <a:endParaRPr lang="en-US" sz="1350" dirty="0"/>
          </a:p>
        </p:txBody>
      </p:sp>
      <p:sp>
        <p:nvSpPr>
          <p:cNvPr id="16" name="Shape 14"/>
          <p:cNvSpPr/>
          <p:nvPr/>
        </p:nvSpPr>
        <p:spPr>
          <a:xfrm>
            <a:off x="7363778" y="3882628"/>
            <a:ext cx="2439472" cy="9525"/>
          </a:xfrm>
          <a:prstGeom prst="rect">
            <a:avLst/>
          </a:prstGeom>
          <a:solidFill>
            <a:srgbClr val="78A0D2">
              <a:alpha val="14000"/>
            </a:srgbClr>
          </a:solidFill>
          <a:ln/>
        </p:spPr>
      </p:sp>
      <p:sp>
        <p:nvSpPr>
          <p:cNvPr id="17" name="Text 15"/>
          <p:cNvSpPr/>
          <p:nvPr/>
        </p:nvSpPr>
        <p:spPr>
          <a:xfrm>
            <a:off x="7373303" y="3486388"/>
            <a:ext cx="2496622" cy="262890"/>
          </a:xfrm>
          <a:prstGeom prst="rect">
            <a:avLst/>
          </a:prstGeom>
          <a:noFill/>
          <a:ln/>
        </p:spPr>
        <p:txBody>
          <a:bodyPr wrap="square" lIns="25400" tIns="25400" rIns="25400" bIns="25400" rtlCol="0" anchor="ctr">
            <a:normAutofit/>
          </a:bodyPr>
          <a:lstStyle/>
          <a:p>
            <a:pPr algn="l" indent="0" marL="0">
              <a:buNone/>
            </a:pPr>
            <a:r>
              <a:rPr lang="en-US" sz="1350" spc="189" kern="0" dirty="0">
                <a:solidFill>
                  <a:srgbClr val="5C6A82"/>
                </a:solidFill>
                <a:latin typeface="Arial" pitchFamily="34" charset="0"/>
                <a:ea typeface="Arial" pitchFamily="34" charset="-122"/>
                <a:cs typeface="Arial" pitchFamily="34" charset="-120"/>
              </a:rPr>
              <a:t>COST-EFFECTIVE</a:t>
            </a:r>
            <a:endParaRPr lang="en-US" sz="1350" dirty="0"/>
          </a:p>
        </p:txBody>
      </p:sp>
      <p:sp>
        <p:nvSpPr>
          <p:cNvPr id="18" name="Shape 16"/>
          <p:cNvSpPr/>
          <p:nvPr/>
        </p:nvSpPr>
        <p:spPr>
          <a:xfrm>
            <a:off x="9803249" y="3882628"/>
            <a:ext cx="2095024" cy="9525"/>
          </a:xfrm>
          <a:prstGeom prst="rect">
            <a:avLst/>
          </a:prstGeom>
          <a:solidFill>
            <a:srgbClr val="78A0D2">
              <a:alpha val="14000"/>
            </a:srgbClr>
          </a:solidFill>
          <a:ln/>
        </p:spPr>
      </p:sp>
      <p:sp>
        <p:nvSpPr>
          <p:cNvPr id="19" name="Text 17"/>
          <p:cNvSpPr/>
          <p:nvPr/>
        </p:nvSpPr>
        <p:spPr>
          <a:xfrm>
            <a:off x="9812774" y="3486388"/>
            <a:ext cx="2152174" cy="262890"/>
          </a:xfrm>
          <a:prstGeom prst="rect">
            <a:avLst/>
          </a:prstGeom>
          <a:noFill/>
          <a:ln/>
        </p:spPr>
        <p:txBody>
          <a:bodyPr wrap="square" lIns="25400" tIns="25400" rIns="25400" bIns="25400" rtlCol="0" anchor="ctr">
            <a:normAutofit/>
          </a:bodyPr>
          <a:lstStyle/>
          <a:p>
            <a:pPr algn="l" indent="0" marL="0">
              <a:buNone/>
            </a:pPr>
            <a:r>
              <a:rPr lang="en-US" sz="1350" spc="189" kern="0" dirty="0">
                <a:solidFill>
                  <a:srgbClr val="5C6A82"/>
                </a:solidFill>
                <a:latin typeface="Arial" pitchFamily="34" charset="0"/>
                <a:ea typeface="Arial" pitchFamily="34" charset="-122"/>
                <a:cs typeface="Arial" pitchFamily="34" charset="-120"/>
              </a:rPr>
              <a:t>REGION BLOCK</a:t>
            </a:r>
            <a:endParaRPr lang="en-US" sz="1350" dirty="0"/>
          </a:p>
        </p:txBody>
      </p:sp>
      <p:sp>
        <p:nvSpPr>
          <p:cNvPr id="20" name="Shape 18"/>
          <p:cNvSpPr/>
          <p:nvPr/>
        </p:nvSpPr>
        <p:spPr>
          <a:xfrm>
            <a:off x="11898273" y="3882628"/>
            <a:ext cx="4896208" cy="9525"/>
          </a:xfrm>
          <a:prstGeom prst="rect">
            <a:avLst/>
          </a:prstGeom>
          <a:solidFill>
            <a:srgbClr val="78A0D2">
              <a:alpha val="14000"/>
            </a:srgbClr>
          </a:solidFill>
          <a:ln/>
        </p:spPr>
      </p:sp>
      <p:sp>
        <p:nvSpPr>
          <p:cNvPr id="21" name="Text 19"/>
          <p:cNvSpPr/>
          <p:nvPr/>
        </p:nvSpPr>
        <p:spPr>
          <a:xfrm>
            <a:off x="11907798" y="3486388"/>
            <a:ext cx="5024044" cy="262890"/>
          </a:xfrm>
          <a:prstGeom prst="rect">
            <a:avLst/>
          </a:prstGeom>
          <a:noFill/>
          <a:ln/>
        </p:spPr>
        <p:txBody>
          <a:bodyPr wrap="square" lIns="25400" tIns="25400" rIns="25400" bIns="25400" rtlCol="0" anchor="ctr">
            <a:normAutofit/>
          </a:bodyPr>
          <a:lstStyle/>
          <a:p>
            <a:pPr algn="l" indent="0" marL="0">
              <a:buNone/>
            </a:pPr>
            <a:r>
              <a:rPr lang="en-US" sz="1350" spc="189" kern="0" dirty="0">
                <a:solidFill>
                  <a:srgbClr val="5C6A82"/>
                </a:solidFill>
                <a:latin typeface="Arial" pitchFamily="34" charset="0"/>
                <a:ea typeface="Arial" pitchFamily="34" charset="-122"/>
                <a:cs typeface="Arial" pitchFamily="34" charset="-120"/>
              </a:rPr>
              <a:t>LIMITATION</a:t>
            </a:r>
            <a:endParaRPr lang="en-US" sz="1350" dirty="0"/>
          </a:p>
        </p:txBody>
      </p:sp>
      <p:sp>
        <p:nvSpPr>
          <p:cNvPr id="22" name="Shape 20"/>
          <p:cNvSpPr/>
          <p:nvPr/>
        </p:nvSpPr>
        <p:spPr>
          <a:xfrm>
            <a:off x="1493520" y="4530328"/>
            <a:ext cx="15300960" cy="9525"/>
          </a:xfrm>
          <a:prstGeom prst="rect">
            <a:avLst/>
          </a:prstGeom>
          <a:solidFill>
            <a:srgbClr val="78A0D2">
              <a:alpha val="14000"/>
            </a:srgbClr>
          </a:solidFill>
          <a:ln/>
        </p:spPr>
      </p:sp>
      <p:sp>
        <p:nvSpPr>
          <p:cNvPr id="23" name="Text 21"/>
          <p:cNvSpPr/>
          <p:nvPr/>
        </p:nvSpPr>
        <p:spPr>
          <a:xfrm>
            <a:off x="1493520" y="4084558"/>
            <a:ext cx="3151949" cy="297180"/>
          </a:xfrm>
          <a:prstGeom prst="rect">
            <a:avLst/>
          </a:prstGeom>
          <a:noFill/>
          <a:ln/>
        </p:spPr>
        <p:txBody>
          <a:bodyPr wrap="square" lIns="25400" tIns="25400" rIns="25400" bIns="25400" rtlCol="0" anchor="ctr">
            <a:normAutofit/>
          </a:bodyPr>
          <a:lstStyle/>
          <a:p>
            <a:pPr algn="l" indent="0" marL="0">
              <a:buNone/>
            </a:pPr>
            <a:r>
              <a:rPr lang="en-US" sz="1650" dirty="0">
                <a:solidFill>
                  <a:srgbClr val="E7EEF7"/>
                </a:solidFill>
                <a:latin typeface="Arial" pitchFamily="34" charset="0"/>
                <a:ea typeface="Arial" pitchFamily="34" charset="-122"/>
                <a:cs typeface="Arial" pitchFamily="34" charset="-120"/>
              </a:rPr>
              <a:t>Traditional Firewall</a:t>
            </a:r>
            <a:endParaRPr lang="en-US" sz="1650" dirty="0"/>
          </a:p>
        </p:txBody>
      </p:sp>
      <p:sp>
        <p:nvSpPr>
          <p:cNvPr id="24" name="Shape 22"/>
          <p:cNvSpPr/>
          <p:nvPr/>
        </p:nvSpPr>
        <p:spPr>
          <a:xfrm>
            <a:off x="4553664" y="41474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25" name="Shape 23"/>
          <p:cNvSpPr/>
          <p:nvPr/>
        </p:nvSpPr>
        <p:spPr>
          <a:xfrm>
            <a:off x="4725114" y="4147423"/>
            <a:ext cx="133350" cy="133350"/>
          </a:xfrm>
          <a:prstGeom prst="roundRect">
            <a:avLst>
              <a:gd name="adj" fmla="val 21429"/>
            </a:avLst>
          </a:prstGeom>
          <a:solidFill>
            <a:srgbClr val="78A0D2">
              <a:alpha val="14000"/>
            </a:srgbClr>
          </a:solidFill>
          <a:ln/>
        </p:spPr>
      </p:sp>
      <p:sp>
        <p:nvSpPr>
          <p:cNvPr id="26" name="Shape 24"/>
          <p:cNvSpPr/>
          <p:nvPr/>
        </p:nvSpPr>
        <p:spPr>
          <a:xfrm>
            <a:off x="4896564" y="4147423"/>
            <a:ext cx="133350" cy="133350"/>
          </a:xfrm>
          <a:prstGeom prst="roundRect">
            <a:avLst>
              <a:gd name="adj" fmla="val 21429"/>
            </a:avLst>
          </a:prstGeom>
          <a:solidFill>
            <a:srgbClr val="78A0D2">
              <a:alpha val="14000"/>
            </a:srgbClr>
          </a:solidFill>
          <a:ln/>
        </p:spPr>
      </p:sp>
      <p:sp>
        <p:nvSpPr>
          <p:cNvPr id="27" name="Shape 25"/>
          <p:cNvSpPr/>
          <p:nvPr/>
        </p:nvSpPr>
        <p:spPr>
          <a:xfrm>
            <a:off x="5068014" y="4147423"/>
            <a:ext cx="133350" cy="133350"/>
          </a:xfrm>
          <a:prstGeom prst="roundRect">
            <a:avLst>
              <a:gd name="adj" fmla="val 21429"/>
            </a:avLst>
          </a:prstGeom>
          <a:solidFill>
            <a:srgbClr val="78A0D2">
              <a:alpha val="14000"/>
            </a:srgbClr>
          </a:solidFill>
          <a:ln/>
        </p:spPr>
      </p:sp>
      <p:sp>
        <p:nvSpPr>
          <p:cNvPr id="28" name="Shape 26"/>
          <p:cNvSpPr/>
          <p:nvPr/>
        </p:nvSpPr>
        <p:spPr>
          <a:xfrm>
            <a:off x="5239464" y="4147423"/>
            <a:ext cx="133350" cy="133350"/>
          </a:xfrm>
          <a:prstGeom prst="roundRect">
            <a:avLst>
              <a:gd name="adj" fmla="val 21429"/>
            </a:avLst>
          </a:prstGeom>
          <a:solidFill>
            <a:srgbClr val="78A0D2">
              <a:alpha val="14000"/>
            </a:srgbClr>
          </a:solidFill>
          <a:ln/>
        </p:spPr>
      </p:sp>
      <p:sp>
        <p:nvSpPr>
          <p:cNvPr id="29" name="Shape 27"/>
          <p:cNvSpPr/>
          <p:nvPr/>
        </p:nvSpPr>
        <p:spPr>
          <a:xfrm>
            <a:off x="5958721" y="41474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30" name="Shape 28"/>
          <p:cNvSpPr/>
          <p:nvPr/>
        </p:nvSpPr>
        <p:spPr>
          <a:xfrm>
            <a:off x="6130171" y="41474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31" name="Shape 29"/>
          <p:cNvSpPr/>
          <p:nvPr/>
        </p:nvSpPr>
        <p:spPr>
          <a:xfrm>
            <a:off x="6301621" y="4147423"/>
            <a:ext cx="133350" cy="133350"/>
          </a:xfrm>
          <a:prstGeom prst="roundRect">
            <a:avLst>
              <a:gd name="adj" fmla="val 21429"/>
            </a:avLst>
          </a:prstGeom>
          <a:solidFill>
            <a:srgbClr val="78A0D2">
              <a:alpha val="14000"/>
            </a:srgbClr>
          </a:solidFill>
          <a:ln/>
        </p:spPr>
      </p:sp>
      <p:sp>
        <p:nvSpPr>
          <p:cNvPr id="32" name="Shape 30"/>
          <p:cNvSpPr/>
          <p:nvPr/>
        </p:nvSpPr>
        <p:spPr>
          <a:xfrm>
            <a:off x="6473071" y="4147423"/>
            <a:ext cx="133350" cy="133350"/>
          </a:xfrm>
          <a:prstGeom prst="roundRect">
            <a:avLst>
              <a:gd name="adj" fmla="val 21429"/>
            </a:avLst>
          </a:prstGeom>
          <a:solidFill>
            <a:srgbClr val="78A0D2">
              <a:alpha val="14000"/>
            </a:srgbClr>
          </a:solidFill>
          <a:ln/>
        </p:spPr>
      </p:sp>
      <p:sp>
        <p:nvSpPr>
          <p:cNvPr id="33" name="Shape 31"/>
          <p:cNvSpPr/>
          <p:nvPr/>
        </p:nvSpPr>
        <p:spPr>
          <a:xfrm>
            <a:off x="6644521" y="4147423"/>
            <a:ext cx="133350" cy="133350"/>
          </a:xfrm>
          <a:prstGeom prst="roundRect">
            <a:avLst>
              <a:gd name="adj" fmla="val 21429"/>
            </a:avLst>
          </a:prstGeom>
          <a:solidFill>
            <a:srgbClr val="78A0D2">
              <a:alpha val="14000"/>
            </a:srgbClr>
          </a:solidFill>
          <a:ln/>
        </p:spPr>
      </p:sp>
      <p:sp>
        <p:nvSpPr>
          <p:cNvPr id="34" name="Shape 32"/>
          <p:cNvSpPr/>
          <p:nvPr/>
        </p:nvSpPr>
        <p:spPr>
          <a:xfrm>
            <a:off x="7363778" y="41474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35" name="Shape 33"/>
          <p:cNvSpPr/>
          <p:nvPr/>
        </p:nvSpPr>
        <p:spPr>
          <a:xfrm>
            <a:off x="7535228" y="41474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36" name="Shape 34"/>
          <p:cNvSpPr/>
          <p:nvPr/>
        </p:nvSpPr>
        <p:spPr>
          <a:xfrm>
            <a:off x="7706678" y="41474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37" name="Shape 35"/>
          <p:cNvSpPr/>
          <p:nvPr/>
        </p:nvSpPr>
        <p:spPr>
          <a:xfrm>
            <a:off x="7878128" y="41474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38" name="Shape 36"/>
          <p:cNvSpPr/>
          <p:nvPr/>
        </p:nvSpPr>
        <p:spPr>
          <a:xfrm>
            <a:off x="8049578" y="4147423"/>
            <a:ext cx="133350" cy="133350"/>
          </a:xfrm>
          <a:prstGeom prst="roundRect">
            <a:avLst>
              <a:gd name="adj" fmla="val 21429"/>
            </a:avLst>
          </a:prstGeom>
          <a:solidFill>
            <a:srgbClr val="78A0D2">
              <a:alpha val="14000"/>
            </a:srgbClr>
          </a:solidFill>
          <a:ln/>
        </p:spPr>
      </p:sp>
      <p:sp>
        <p:nvSpPr>
          <p:cNvPr id="39" name="Text 37"/>
          <p:cNvSpPr/>
          <p:nvPr/>
        </p:nvSpPr>
        <p:spPr>
          <a:xfrm>
            <a:off x="9803249" y="4080748"/>
            <a:ext cx="2171224" cy="304800"/>
          </a:xfrm>
          <a:prstGeom prst="rect">
            <a:avLst/>
          </a:prstGeom>
          <a:noFill/>
          <a:ln/>
        </p:spPr>
        <p:txBody>
          <a:bodyPr wrap="square" lIns="25400" tIns="25400" rIns="25400" bIns="25400" rtlCol="0" anchor="ctr">
            <a:normAutofit/>
          </a:bodyPr>
          <a:lstStyle/>
          <a:p>
            <a:pPr algn="l" indent="0" marL="0">
              <a:buNone/>
            </a:pPr>
            <a:r>
              <a:rPr lang="en-US" sz="1500" dirty="0">
                <a:solidFill>
                  <a:srgbClr val="39FF88"/>
                </a:solidFill>
                <a:latin typeface="Arial" pitchFamily="34" charset="0"/>
                <a:ea typeface="Arial" pitchFamily="34" charset="-122"/>
                <a:cs typeface="Arial" pitchFamily="34" charset="-120"/>
              </a:rPr>
              <a:t>No</a:t>
            </a:r>
            <a:endParaRPr lang="en-US" sz="1500" dirty="0"/>
          </a:p>
        </p:txBody>
      </p:sp>
      <p:sp>
        <p:nvSpPr>
          <p:cNvPr id="40" name="Text 38"/>
          <p:cNvSpPr/>
          <p:nvPr/>
        </p:nvSpPr>
        <p:spPr>
          <a:xfrm>
            <a:off x="11898273" y="4080748"/>
            <a:ext cx="5043094" cy="304800"/>
          </a:xfrm>
          <a:prstGeom prst="rect">
            <a:avLst/>
          </a:prstGeom>
          <a:noFill/>
          <a:ln/>
        </p:spPr>
        <p:txBody>
          <a:bodyPr wrap="square" lIns="25400" tIns="25400" rIns="25400" bIns="25400" rtlCol="0" anchor="ctr">
            <a:normAutofit/>
          </a:bodyPr>
          <a:lstStyle/>
          <a:p>
            <a:pPr algn="l" indent="0" marL="0">
              <a:buNone/>
            </a:pPr>
            <a:r>
              <a:rPr lang="en-US" sz="1500" dirty="0">
                <a:solidFill>
                  <a:srgbClr val="8C9AB0"/>
                </a:solidFill>
                <a:latin typeface="Arial" pitchFamily="34" charset="0"/>
                <a:ea typeface="Arial" pitchFamily="34" charset="-122"/>
                <a:cs typeface="Arial" pitchFamily="34" charset="-120"/>
              </a:rPr>
              <a:t>Static rules; misses behavioral attacks</a:t>
            </a:r>
            <a:endParaRPr lang="en-US" sz="1500" dirty="0"/>
          </a:p>
        </p:txBody>
      </p:sp>
      <p:sp>
        <p:nvSpPr>
          <p:cNvPr id="41" name="Shape 39"/>
          <p:cNvSpPr/>
          <p:nvPr/>
        </p:nvSpPr>
        <p:spPr>
          <a:xfrm>
            <a:off x="1493520" y="5178028"/>
            <a:ext cx="15300960" cy="9525"/>
          </a:xfrm>
          <a:prstGeom prst="rect">
            <a:avLst/>
          </a:prstGeom>
          <a:solidFill>
            <a:srgbClr val="78A0D2">
              <a:alpha val="14000"/>
            </a:srgbClr>
          </a:solidFill>
          <a:ln/>
        </p:spPr>
      </p:sp>
      <p:sp>
        <p:nvSpPr>
          <p:cNvPr id="42" name="Text 40"/>
          <p:cNvSpPr/>
          <p:nvPr/>
        </p:nvSpPr>
        <p:spPr>
          <a:xfrm>
            <a:off x="1493520" y="4732258"/>
            <a:ext cx="3151949" cy="297180"/>
          </a:xfrm>
          <a:prstGeom prst="rect">
            <a:avLst/>
          </a:prstGeom>
          <a:noFill/>
          <a:ln/>
        </p:spPr>
        <p:txBody>
          <a:bodyPr wrap="square" lIns="25400" tIns="25400" rIns="25400" bIns="25400" rtlCol="0" anchor="ctr">
            <a:normAutofit/>
          </a:bodyPr>
          <a:lstStyle/>
          <a:p>
            <a:pPr algn="l" indent="0" marL="0">
              <a:buNone/>
            </a:pPr>
            <a:r>
              <a:rPr lang="en-US" sz="1650" dirty="0">
                <a:solidFill>
                  <a:srgbClr val="E7EEF7"/>
                </a:solidFill>
                <a:latin typeface="Arial" pitchFamily="34" charset="0"/>
                <a:ea typeface="Arial" pitchFamily="34" charset="-122"/>
                <a:cs typeface="Arial" pitchFamily="34" charset="-120"/>
              </a:rPr>
              <a:t>IP Blocking</a:t>
            </a:r>
            <a:endParaRPr lang="en-US" sz="1650" dirty="0"/>
          </a:p>
        </p:txBody>
      </p:sp>
      <p:sp>
        <p:nvSpPr>
          <p:cNvPr id="43" name="Shape 41"/>
          <p:cNvSpPr/>
          <p:nvPr/>
        </p:nvSpPr>
        <p:spPr>
          <a:xfrm>
            <a:off x="4553664" y="47951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44" name="Shape 42"/>
          <p:cNvSpPr/>
          <p:nvPr/>
        </p:nvSpPr>
        <p:spPr>
          <a:xfrm>
            <a:off x="4725114" y="4795123"/>
            <a:ext cx="133350" cy="133350"/>
          </a:xfrm>
          <a:prstGeom prst="roundRect">
            <a:avLst>
              <a:gd name="adj" fmla="val 21429"/>
            </a:avLst>
          </a:prstGeom>
          <a:solidFill>
            <a:srgbClr val="78A0D2">
              <a:alpha val="14000"/>
            </a:srgbClr>
          </a:solidFill>
          <a:ln/>
        </p:spPr>
      </p:sp>
      <p:sp>
        <p:nvSpPr>
          <p:cNvPr id="45" name="Shape 43"/>
          <p:cNvSpPr/>
          <p:nvPr/>
        </p:nvSpPr>
        <p:spPr>
          <a:xfrm>
            <a:off x="4896564" y="4795123"/>
            <a:ext cx="133350" cy="133350"/>
          </a:xfrm>
          <a:prstGeom prst="roundRect">
            <a:avLst>
              <a:gd name="adj" fmla="val 21429"/>
            </a:avLst>
          </a:prstGeom>
          <a:solidFill>
            <a:srgbClr val="78A0D2">
              <a:alpha val="14000"/>
            </a:srgbClr>
          </a:solidFill>
          <a:ln/>
        </p:spPr>
      </p:sp>
      <p:sp>
        <p:nvSpPr>
          <p:cNvPr id="46" name="Shape 44"/>
          <p:cNvSpPr/>
          <p:nvPr/>
        </p:nvSpPr>
        <p:spPr>
          <a:xfrm>
            <a:off x="5068014" y="4795123"/>
            <a:ext cx="133350" cy="133350"/>
          </a:xfrm>
          <a:prstGeom prst="roundRect">
            <a:avLst>
              <a:gd name="adj" fmla="val 21429"/>
            </a:avLst>
          </a:prstGeom>
          <a:solidFill>
            <a:srgbClr val="78A0D2">
              <a:alpha val="14000"/>
            </a:srgbClr>
          </a:solidFill>
          <a:ln/>
        </p:spPr>
      </p:sp>
      <p:sp>
        <p:nvSpPr>
          <p:cNvPr id="47" name="Shape 45"/>
          <p:cNvSpPr/>
          <p:nvPr/>
        </p:nvSpPr>
        <p:spPr>
          <a:xfrm>
            <a:off x="5239464" y="4795123"/>
            <a:ext cx="133350" cy="133350"/>
          </a:xfrm>
          <a:prstGeom prst="roundRect">
            <a:avLst>
              <a:gd name="adj" fmla="val 21429"/>
            </a:avLst>
          </a:prstGeom>
          <a:solidFill>
            <a:srgbClr val="78A0D2">
              <a:alpha val="14000"/>
            </a:srgbClr>
          </a:solidFill>
          <a:ln/>
        </p:spPr>
      </p:sp>
      <p:sp>
        <p:nvSpPr>
          <p:cNvPr id="48" name="Shape 46"/>
          <p:cNvSpPr/>
          <p:nvPr/>
        </p:nvSpPr>
        <p:spPr>
          <a:xfrm>
            <a:off x="5958721" y="47951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49" name="Shape 47"/>
          <p:cNvSpPr/>
          <p:nvPr/>
        </p:nvSpPr>
        <p:spPr>
          <a:xfrm>
            <a:off x="6130171" y="4795123"/>
            <a:ext cx="133350" cy="133350"/>
          </a:xfrm>
          <a:prstGeom prst="roundRect">
            <a:avLst>
              <a:gd name="adj" fmla="val 21429"/>
            </a:avLst>
          </a:prstGeom>
          <a:solidFill>
            <a:srgbClr val="78A0D2">
              <a:alpha val="14000"/>
            </a:srgbClr>
          </a:solidFill>
          <a:ln/>
        </p:spPr>
      </p:sp>
      <p:sp>
        <p:nvSpPr>
          <p:cNvPr id="50" name="Shape 48"/>
          <p:cNvSpPr/>
          <p:nvPr/>
        </p:nvSpPr>
        <p:spPr>
          <a:xfrm>
            <a:off x="6301621" y="4795123"/>
            <a:ext cx="133350" cy="133350"/>
          </a:xfrm>
          <a:prstGeom prst="roundRect">
            <a:avLst>
              <a:gd name="adj" fmla="val 21429"/>
            </a:avLst>
          </a:prstGeom>
          <a:solidFill>
            <a:srgbClr val="78A0D2">
              <a:alpha val="14000"/>
            </a:srgbClr>
          </a:solidFill>
          <a:ln/>
        </p:spPr>
      </p:sp>
      <p:sp>
        <p:nvSpPr>
          <p:cNvPr id="51" name="Shape 49"/>
          <p:cNvSpPr/>
          <p:nvPr/>
        </p:nvSpPr>
        <p:spPr>
          <a:xfrm>
            <a:off x="6473071" y="4795123"/>
            <a:ext cx="133350" cy="133350"/>
          </a:xfrm>
          <a:prstGeom prst="roundRect">
            <a:avLst>
              <a:gd name="adj" fmla="val 21429"/>
            </a:avLst>
          </a:prstGeom>
          <a:solidFill>
            <a:srgbClr val="78A0D2">
              <a:alpha val="14000"/>
            </a:srgbClr>
          </a:solidFill>
          <a:ln/>
        </p:spPr>
      </p:sp>
      <p:sp>
        <p:nvSpPr>
          <p:cNvPr id="52" name="Shape 50"/>
          <p:cNvSpPr/>
          <p:nvPr/>
        </p:nvSpPr>
        <p:spPr>
          <a:xfrm>
            <a:off x="6644521" y="4795123"/>
            <a:ext cx="133350" cy="133350"/>
          </a:xfrm>
          <a:prstGeom prst="roundRect">
            <a:avLst>
              <a:gd name="adj" fmla="val 21429"/>
            </a:avLst>
          </a:prstGeom>
          <a:solidFill>
            <a:srgbClr val="78A0D2">
              <a:alpha val="14000"/>
            </a:srgbClr>
          </a:solidFill>
          <a:ln/>
        </p:spPr>
      </p:sp>
      <p:sp>
        <p:nvSpPr>
          <p:cNvPr id="53" name="Shape 51"/>
          <p:cNvSpPr/>
          <p:nvPr/>
        </p:nvSpPr>
        <p:spPr>
          <a:xfrm>
            <a:off x="7363778" y="47951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54" name="Shape 52"/>
          <p:cNvSpPr/>
          <p:nvPr/>
        </p:nvSpPr>
        <p:spPr>
          <a:xfrm>
            <a:off x="7535228" y="47951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55" name="Shape 53"/>
          <p:cNvSpPr/>
          <p:nvPr/>
        </p:nvSpPr>
        <p:spPr>
          <a:xfrm>
            <a:off x="7706678" y="47951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56" name="Shape 54"/>
          <p:cNvSpPr/>
          <p:nvPr/>
        </p:nvSpPr>
        <p:spPr>
          <a:xfrm>
            <a:off x="7878128" y="47951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57" name="Shape 55"/>
          <p:cNvSpPr/>
          <p:nvPr/>
        </p:nvSpPr>
        <p:spPr>
          <a:xfrm>
            <a:off x="8049578" y="47951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58" name="Text 56"/>
          <p:cNvSpPr/>
          <p:nvPr/>
        </p:nvSpPr>
        <p:spPr>
          <a:xfrm>
            <a:off x="9803249" y="4728448"/>
            <a:ext cx="2171224" cy="304800"/>
          </a:xfrm>
          <a:prstGeom prst="rect">
            <a:avLst/>
          </a:prstGeom>
          <a:noFill/>
          <a:ln/>
        </p:spPr>
        <p:txBody>
          <a:bodyPr wrap="square" lIns="25400" tIns="25400" rIns="25400" bIns="25400" rtlCol="0" anchor="ctr">
            <a:normAutofit/>
          </a:bodyPr>
          <a:lstStyle/>
          <a:p>
            <a:pPr algn="l" indent="0" marL="0">
              <a:buNone/>
            </a:pPr>
            <a:r>
              <a:rPr lang="en-US" sz="1500" dirty="0">
                <a:solidFill>
                  <a:srgbClr val="FF4D6D"/>
                </a:solidFill>
                <a:latin typeface="Arial" pitchFamily="34" charset="0"/>
                <a:ea typeface="Arial" pitchFamily="34" charset="-122"/>
                <a:cs typeface="Arial" pitchFamily="34" charset="-120"/>
              </a:rPr>
              <a:t>Yes</a:t>
            </a:r>
            <a:endParaRPr lang="en-US" sz="1500" dirty="0"/>
          </a:p>
        </p:txBody>
      </p:sp>
      <p:sp>
        <p:nvSpPr>
          <p:cNvPr id="59" name="Text 57"/>
          <p:cNvSpPr/>
          <p:nvPr/>
        </p:nvSpPr>
        <p:spPr>
          <a:xfrm>
            <a:off x="11898273" y="4728448"/>
            <a:ext cx="5043094" cy="304800"/>
          </a:xfrm>
          <a:prstGeom prst="rect">
            <a:avLst/>
          </a:prstGeom>
          <a:noFill/>
          <a:ln/>
        </p:spPr>
        <p:txBody>
          <a:bodyPr wrap="square" lIns="25400" tIns="25400" rIns="25400" bIns="25400" rtlCol="0" anchor="ctr">
            <a:normAutofit/>
          </a:bodyPr>
          <a:lstStyle/>
          <a:p>
            <a:pPr algn="l" indent="0" marL="0">
              <a:buNone/>
            </a:pPr>
            <a:r>
              <a:rPr lang="en-US" sz="1500" dirty="0">
                <a:solidFill>
                  <a:srgbClr val="8C9AB0"/>
                </a:solidFill>
                <a:latin typeface="Arial" pitchFamily="34" charset="0"/>
                <a:ea typeface="Arial" pitchFamily="34" charset="-122"/>
                <a:cs typeface="Arial" pitchFamily="34" charset="-120"/>
              </a:rPr>
              <a:t>Blocks entire regions; punishes legitimate users</a:t>
            </a:r>
            <a:endParaRPr lang="en-US" sz="1500" dirty="0"/>
          </a:p>
        </p:txBody>
      </p:sp>
      <p:sp>
        <p:nvSpPr>
          <p:cNvPr id="60" name="Shape 58"/>
          <p:cNvSpPr/>
          <p:nvPr/>
        </p:nvSpPr>
        <p:spPr>
          <a:xfrm>
            <a:off x="1493520" y="5825728"/>
            <a:ext cx="15300960" cy="9525"/>
          </a:xfrm>
          <a:prstGeom prst="rect">
            <a:avLst/>
          </a:prstGeom>
          <a:solidFill>
            <a:srgbClr val="78A0D2">
              <a:alpha val="14000"/>
            </a:srgbClr>
          </a:solidFill>
          <a:ln/>
        </p:spPr>
      </p:sp>
      <p:sp>
        <p:nvSpPr>
          <p:cNvPr id="61" name="Text 59"/>
          <p:cNvSpPr/>
          <p:nvPr/>
        </p:nvSpPr>
        <p:spPr>
          <a:xfrm>
            <a:off x="1493520" y="5379958"/>
            <a:ext cx="3151949" cy="297180"/>
          </a:xfrm>
          <a:prstGeom prst="rect">
            <a:avLst/>
          </a:prstGeom>
          <a:noFill/>
          <a:ln/>
        </p:spPr>
        <p:txBody>
          <a:bodyPr wrap="square" lIns="25400" tIns="25400" rIns="25400" bIns="25400" rtlCol="0" anchor="ctr">
            <a:normAutofit/>
          </a:bodyPr>
          <a:lstStyle/>
          <a:p>
            <a:pPr algn="l" indent="0" marL="0">
              <a:buNone/>
            </a:pPr>
            <a:r>
              <a:rPr lang="en-US" sz="1650" dirty="0">
                <a:solidFill>
                  <a:srgbClr val="E7EEF7"/>
                </a:solidFill>
                <a:latin typeface="Arial" pitchFamily="34" charset="0"/>
                <a:ea typeface="Arial" pitchFamily="34" charset="-122"/>
                <a:cs typeface="Arial" pitchFamily="34" charset="-120"/>
              </a:rPr>
              <a:t>CAPTCHA Systems</a:t>
            </a:r>
            <a:endParaRPr lang="en-US" sz="1650" dirty="0"/>
          </a:p>
        </p:txBody>
      </p:sp>
      <p:sp>
        <p:nvSpPr>
          <p:cNvPr id="62" name="Shape 60"/>
          <p:cNvSpPr/>
          <p:nvPr/>
        </p:nvSpPr>
        <p:spPr>
          <a:xfrm>
            <a:off x="4553664" y="54428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63" name="Shape 61"/>
          <p:cNvSpPr/>
          <p:nvPr/>
        </p:nvSpPr>
        <p:spPr>
          <a:xfrm>
            <a:off x="4725114" y="54428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64" name="Shape 62"/>
          <p:cNvSpPr/>
          <p:nvPr/>
        </p:nvSpPr>
        <p:spPr>
          <a:xfrm>
            <a:off x="4896564" y="5442823"/>
            <a:ext cx="133350" cy="133350"/>
          </a:xfrm>
          <a:prstGeom prst="roundRect">
            <a:avLst>
              <a:gd name="adj" fmla="val 21429"/>
            </a:avLst>
          </a:prstGeom>
          <a:solidFill>
            <a:srgbClr val="78A0D2">
              <a:alpha val="14000"/>
            </a:srgbClr>
          </a:solidFill>
          <a:ln/>
        </p:spPr>
      </p:sp>
      <p:sp>
        <p:nvSpPr>
          <p:cNvPr id="65" name="Shape 63"/>
          <p:cNvSpPr/>
          <p:nvPr/>
        </p:nvSpPr>
        <p:spPr>
          <a:xfrm>
            <a:off x="5068014" y="5442823"/>
            <a:ext cx="133350" cy="133350"/>
          </a:xfrm>
          <a:prstGeom prst="roundRect">
            <a:avLst>
              <a:gd name="adj" fmla="val 21429"/>
            </a:avLst>
          </a:prstGeom>
          <a:solidFill>
            <a:srgbClr val="78A0D2">
              <a:alpha val="14000"/>
            </a:srgbClr>
          </a:solidFill>
          <a:ln/>
        </p:spPr>
      </p:sp>
      <p:sp>
        <p:nvSpPr>
          <p:cNvPr id="66" name="Shape 64"/>
          <p:cNvSpPr/>
          <p:nvPr/>
        </p:nvSpPr>
        <p:spPr>
          <a:xfrm>
            <a:off x="5239464" y="5442823"/>
            <a:ext cx="133350" cy="133350"/>
          </a:xfrm>
          <a:prstGeom prst="roundRect">
            <a:avLst>
              <a:gd name="adj" fmla="val 21429"/>
            </a:avLst>
          </a:prstGeom>
          <a:solidFill>
            <a:srgbClr val="78A0D2">
              <a:alpha val="14000"/>
            </a:srgbClr>
          </a:solidFill>
          <a:ln/>
        </p:spPr>
      </p:sp>
      <p:sp>
        <p:nvSpPr>
          <p:cNvPr id="67" name="Shape 65"/>
          <p:cNvSpPr/>
          <p:nvPr/>
        </p:nvSpPr>
        <p:spPr>
          <a:xfrm>
            <a:off x="5958721" y="54428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68" name="Shape 66"/>
          <p:cNvSpPr/>
          <p:nvPr/>
        </p:nvSpPr>
        <p:spPr>
          <a:xfrm>
            <a:off x="6130171" y="54428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69" name="Shape 67"/>
          <p:cNvSpPr/>
          <p:nvPr/>
        </p:nvSpPr>
        <p:spPr>
          <a:xfrm>
            <a:off x="6301621" y="54428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70" name="Shape 68"/>
          <p:cNvSpPr/>
          <p:nvPr/>
        </p:nvSpPr>
        <p:spPr>
          <a:xfrm>
            <a:off x="6473071" y="5442823"/>
            <a:ext cx="133350" cy="133350"/>
          </a:xfrm>
          <a:prstGeom prst="roundRect">
            <a:avLst>
              <a:gd name="adj" fmla="val 21429"/>
            </a:avLst>
          </a:prstGeom>
          <a:solidFill>
            <a:srgbClr val="78A0D2">
              <a:alpha val="14000"/>
            </a:srgbClr>
          </a:solidFill>
          <a:ln/>
        </p:spPr>
      </p:sp>
      <p:sp>
        <p:nvSpPr>
          <p:cNvPr id="71" name="Shape 69"/>
          <p:cNvSpPr/>
          <p:nvPr/>
        </p:nvSpPr>
        <p:spPr>
          <a:xfrm>
            <a:off x="6644521" y="5442823"/>
            <a:ext cx="133350" cy="133350"/>
          </a:xfrm>
          <a:prstGeom prst="roundRect">
            <a:avLst>
              <a:gd name="adj" fmla="val 21429"/>
            </a:avLst>
          </a:prstGeom>
          <a:solidFill>
            <a:srgbClr val="78A0D2">
              <a:alpha val="14000"/>
            </a:srgbClr>
          </a:solidFill>
          <a:ln/>
        </p:spPr>
      </p:sp>
      <p:sp>
        <p:nvSpPr>
          <p:cNvPr id="72" name="Shape 70"/>
          <p:cNvSpPr/>
          <p:nvPr/>
        </p:nvSpPr>
        <p:spPr>
          <a:xfrm>
            <a:off x="7363778" y="54428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73" name="Shape 71"/>
          <p:cNvSpPr/>
          <p:nvPr/>
        </p:nvSpPr>
        <p:spPr>
          <a:xfrm>
            <a:off x="7535228" y="54428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74" name="Shape 72"/>
          <p:cNvSpPr/>
          <p:nvPr/>
        </p:nvSpPr>
        <p:spPr>
          <a:xfrm>
            <a:off x="7706678" y="54428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75" name="Shape 73"/>
          <p:cNvSpPr/>
          <p:nvPr/>
        </p:nvSpPr>
        <p:spPr>
          <a:xfrm>
            <a:off x="7878128" y="54428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76" name="Shape 74"/>
          <p:cNvSpPr/>
          <p:nvPr/>
        </p:nvSpPr>
        <p:spPr>
          <a:xfrm>
            <a:off x="8049578" y="5442823"/>
            <a:ext cx="133350" cy="133350"/>
          </a:xfrm>
          <a:prstGeom prst="roundRect">
            <a:avLst>
              <a:gd name="adj" fmla="val 21429"/>
            </a:avLst>
          </a:prstGeom>
          <a:solidFill>
            <a:srgbClr val="78A0D2">
              <a:alpha val="14000"/>
            </a:srgbClr>
          </a:solidFill>
          <a:ln/>
        </p:spPr>
      </p:sp>
      <p:sp>
        <p:nvSpPr>
          <p:cNvPr id="77" name="Text 75"/>
          <p:cNvSpPr/>
          <p:nvPr/>
        </p:nvSpPr>
        <p:spPr>
          <a:xfrm>
            <a:off x="9803249" y="5376148"/>
            <a:ext cx="2171224" cy="304800"/>
          </a:xfrm>
          <a:prstGeom prst="rect">
            <a:avLst/>
          </a:prstGeom>
          <a:noFill/>
          <a:ln/>
        </p:spPr>
        <p:txBody>
          <a:bodyPr wrap="square" lIns="25400" tIns="25400" rIns="25400" bIns="25400" rtlCol="0" anchor="ctr">
            <a:normAutofit/>
          </a:bodyPr>
          <a:lstStyle/>
          <a:p>
            <a:pPr algn="l" indent="0" marL="0">
              <a:buNone/>
            </a:pPr>
            <a:r>
              <a:rPr lang="en-US" sz="1500" dirty="0">
                <a:solidFill>
                  <a:srgbClr val="39FF88"/>
                </a:solidFill>
                <a:latin typeface="Arial" pitchFamily="34" charset="0"/>
                <a:ea typeface="Arial" pitchFamily="34" charset="-122"/>
                <a:cs typeface="Arial" pitchFamily="34" charset="-120"/>
              </a:rPr>
              <a:t>No</a:t>
            </a:r>
            <a:endParaRPr lang="en-US" sz="1500" dirty="0"/>
          </a:p>
        </p:txBody>
      </p:sp>
      <p:sp>
        <p:nvSpPr>
          <p:cNvPr id="78" name="Text 76"/>
          <p:cNvSpPr/>
          <p:nvPr/>
        </p:nvSpPr>
        <p:spPr>
          <a:xfrm>
            <a:off x="11898273" y="5376148"/>
            <a:ext cx="5043094" cy="304800"/>
          </a:xfrm>
          <a:prstGeom prst="rect">
            <a:avLst/>
          </a:prstGeom>
          <a:noFill/>
          <a:ln/>
        </p:spPr>
        <p:txBody>
          <a:bodyPr wrap="square" lIns="25400" tIns="25400" rIns="25400" bIns="25400" rtlCol="0" anchor="ctr">
            <a:normAutofit/>
          </a:bodyPr>
          <a:lstStyle/>
          <a:p>
            <a:pPr algn="l" indent="0" marL="0">
              <a:buNone/>
            </a:pPr>
            <a:r>
              <a:rPr lang="en-US" sz="1500" dirty="0">
                <a:solidFill>
                  <a:srgbClr val="8C9AB0"/>
                </a:solidFill>
                <a:latin typeface="Arial" pitchFamily="34" charset="0"/>
                <a:ea typeface="Arial" pitchFamily="34" charset="-122"/>
                <a:cs typeface="Arial" pitchFamily="34" charset="-120"/>
              </a:rPr>
              <a:t>Adds friction; modern bots solve them</a:t>
            </a:r>
            <a:endParaRPr lang="en-US" sz="1500" dirty="0"/>
          </a:p>
        </p:txBody>
      </p:sp>
      <p:sp>
        <p:nvSpPr>
          <p:cNvPr id="79" name="Shape 77"/>
          <p:cNvSpPr/>
          <p:nvPr/>
        </p:nvSpPr>
        <p:spPr>
          <a:xfrm>
            <a:off x="1493520" y="6473428"/>
            <a:ext cx="15300960" cy="9525"/>
          </a:xfrm>
          <a:prstGeom prst="rect">
            <a:avLst/>
          </a:prstGeom>
          <a:solidFill>
            <a:srgbClr val="78A0D2">
              <a:alpha val="14000"/>
            </a:srgbClr>
          </a:solidFill>
          <a:ln/>
        </p:spPr>
      </p:sp>
      <p:sp>
        <p:nvSpPr>
          <p:cNvPr id="80" name="Text 78"/>
          <p:cNvSpPr/>
          <p:nvPr/>
        </p:nvSpPr>
        <p:spPr>
          <a:xfrm>
            <a:off x="1493520" y="6027658"/>
            <a:ext cx="3151949" cy="297180"/>
          </a:xfrm>
          <a:prstGeom prst="rect">
            <a:avLst/>
          </a:prstGeom>
          <a:noFill/>
          <a:ln/>
        </p:spPr>
        <p:txBody>
          <a:bodyPr wrap="square" lIns="25400" tIns="25400" rIns="25400" bIns="25400" rtlCol="0" anchor="ctr">
            <a:normAutofit/>
          </a:bodyPr>
          <a:lstStyle/>
          <a:p>
            <a:pPr algn="l" indent="0" marL="0">
              <a:buNone/>
            </a:pPr>
            <a:r>
              <a:rPr lang="en-US" sz="1650" dirty="0">
                <a:solidFill>
                  <a:srgbClr val="E7EEF7"/>
                </a:solidFill>
                <a:latin typeface="Arial" pitchFamily="34" charset="0"/>
                <a:ea typeface="Arial" pitchFamily="34" charset="-122"/>
                <a:cs typeface="Arial" pitchFamily="34" charset="-120"/>
              </a:rPr>
              <a:t>MS Bot Protection</a:t>
            </a:r>
            <a:endParaRPr lang="en-US" sz="1650" dirty="0"/>
          </a:p>
        </p:txBody>
      </p:sp>
      <p:sp>
        <p:nvSpPr>
          <p:cNvPr id="81" name="Shape 79"/>
          <p:cNvSpPr/>
          <p:nvPr/>
        </p:nvSpPr>
        <p:spPr>
          <a:xfrm>
            <a:off x="4553664" y="60905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82" name="Shape 80"/>
          <p:cNvSpPr/>
          <p:nvPr/>
        </p:nvSpPr>
        <p:spPr>
          <a:xfrm>
            <a:off x="4725114" y="60905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83" name="Shape 81"/>
          <p:cNvSpPr/>
          <p:nvPr/>
        </p:nvSpPr>
        <p:spPr>
          <a:xfrm>
            <a:off x="4896564" y="60905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84" name="Shape 82"/>
          <p:cNvSpPr/>
          <p:nvPr/>
        </p:nvSpPr>
        <p:spPr>
          <a:xfrm>
            <a:off x="5068014" y="60905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85" name="Shape 83"/>
          <p:cNvSpPr/>
          <p:nvPr/>
        </p:nvSpPr>
        <p:spPr>
          <a:xfrm>
            <a:off x="5239464" y="6090523"/>
            <a:ext cx="133350" cy="133350"/>
          </a:xfrm>
          <a:prstGeom prst="roundRect">
            <a:avLst>
              <a:gd name="adj" fmla="val 21429"/>
            </a:avLst>
          </a:prstGeom>
          <a:solidFill>
            <a:srgbClr val="78A0D2">
              <a:alpha val="14000"/>
            </a:srgbClr>
          </a:solidFill>
          <a:ln/>
        </p:spPr>
      </p:sp>
      <p:sp>
        <p:nvSpPr>
          <p:cNvPr id="86" name="Shape 84"/>
          <p:cNvSpPr/>
          <p:nvPr/>
        </p:nvSpPr>
        <p:spPr>
          <a:xfrm>
            <a:off x="5958721" y="60905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87" name="Shape 85"/>
          <p:cNvSpPr/>
          <p:nvPr/>
        </p:nvSpPr>
        <p:spPr>
          <a:xfrm>
            <a:off x="6130171" y="60905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88" name="Shape 86"/>
          <p:cNvSpPr/>
          <p:nvPr/>
        </p:nvSpPr>
        <p:spPr>
          <a:xfrm>
            <a:off x="6301621" y="60905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89" name="Shape 87"/>
          <p:cNvSpPr/>
          <p:nvPr/>
        </p:nvSpPr>
        <p:spPr>
          <a:xfrm>
            <a:off x="6473071" y="60905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90" name="Shape 88"/>
          <p:cNvSpPr/>
          <p:nvPr/>
        </p:nvSpPr>
        <p:spPr>
          <a:xfrm>
            <a:off x="6644521" y="6090523"/>
            <a:ext cx="133350" cy="133350"/>
          </a:xfrm>
          <a:prstGeom prst="roundRect">
            <a:avLst>
              <a:gd name="adj" fmla="val 21429"/>
            </a:avLst>
          </a:prstGeom>
          <a:solidFill>
            <a:srgbClr val="78A0D2">
              <a:alpha val="14000"/>
            </a:srgbClr>
          </a:solidFill>
          <a:ln/>
        </p:spPr>
      </p:sp>
      <p:sp>
        <p:nvSpPr>
          <p:cNvPr id="91" name="Shape 89"/>
          <p:cNvSpPr/>
          <p:nvPr/>
        </p:nvSpPr>
        <p:spPr>
          <a:xfrm>
            <a:off x="7363778" y="6090523"/>
            <a:ext cx="133350" cy="133350"/>
          </a:xfrm>
          <a:prstGeom prst="roundRect">
            <a:avLst>
              <a:gd name="adj" fmla="val 21429"/>
            </a:avLst>
          </a:prstGeom>
          <a:solidFill>
            <a:srgbClr val="8C9AB0"/>
          </a:solidFill>
          <a:ln/>
          <a:effectLst>
            <a:outerShdw sx="100000" sy="100000" kx="0" ky="0" algn="bl" rotWithShape="0" blurRad="57150" dist="50800" dir="16200000">
              <a:srgbClr val="8C9AB0">
                <a:alpha val="53300"/>
              </a:srgbClr>
            </a:outerShdw>
          </a:effectLst>
        </p:spPr>
      </p:sp>
      <p:sp>
        <p:nvSpPr>
          <p:cNvPr id="92" name="Shape 90"/>
          <p:cNvSpPr/>
          <p:nvPr/>
        </p:nvSpPr>
        <p:spPr>
          <a:xfrm>
            <a:off x="7535228" y="6090523"/>
            <a:ext cx="133350" cy="133350"/>
          </a:xfrm>
          <a:prstGeom prst="roundRect">
            <a:avLst>
              <a:gd name="adj" fmla="val 21429"/>
            </a:avLst>
          </a:prstGeom>
          <a:solidFill>
            <a:srgbClr val="78A0D2">
              <a:alpha val="14000"/>
            </a:srgbClr>
          </a:solidFill>
          <a:ln/>
        </p:spPr>
      </p:sp>
      <p:sp>
        <p:nvSpPr>
          <p:cNvPr id="93" name="Shape 91"/>
          <p:cNvSpPr/>
          <p:nvPr/>
        </p:nvSpPr>
        <p:spPr>
          <a:xfrm>
            <a:off x="7706678" y="6090523"/>
            <a:ext cx="133350" cy="133350"/>
          </a:xfrm>
          <a:prstGeom prst="roundRect">
            <a:avLst>
              <a:gd name="adj" fmla="val 21429"/>
            </a:avLst>
          </a:prstGeom>
          <a:solidFill>
            <a:srgbClr val="78A0D2">
              <a:alpha val="14000"/>
            </a:srgbClr>
          </a:solidFill>
          <a:ln/>
        </p:spPr>
      </p:sp>
      <p:sp>
        <p:nvSpPr>
          <p:cNvPr id="94" name="Shape 92"/>
          <p:cNvSpPr/>
          <p:nvPr/>
        </p:nvSpPr>
        <p:spPr>
          <a:xfrm>
            <a:off x="7878128" y="6090523"/>
            <a:ext cx="133350" cy="133350"/>
          </a:xfrm>
          <a:prstGeom prst="roundRect">
            <a:avLst>
              <a:gd name="adj" fmla="val 21429"/>
            </a:avLst>
          </a:prstGeom>
          <a:solidFill>
            <a:srgbClr val="78A0D2">
              <a:alpha val="14000"/>
            </a:srgbClr>
          </a:solidFill>
          <a:ln/>
        </p:spPr>
      </p:sp>
      <p:sp>
        <p:nvSpPr>
          <p:cNvPr id="95" name="Shape 93"/>
          <p:cNvSpPr/>
          <p:nvPr/>
        </p:nvSpPr>
        <p:spPr>
          <a:xfrm>
            <a:off x="8049578" y="6090523"/>
            <a:ext cx="133350" cy="133350"/>
          </a:xfrm>
          <a:prstGeom prst="roundRect">
            <a:avLst>
              <a:gd name="adj" fmla="val 21429"/>
            </a:avLst>
          </a:prstGeom>
          <a:solidFill>
            <a:srgbClr val="78A0D2">
              <a:alpha val="14000"/>
            </a:srgbClr>
          </a:solidFill>
          <a:ln/>
        </p:spPr>
      </p:sp>
      <p:sp>
        <p:nvSpPr>
          <p:cNvPr id="96" name="Text 94"/>
          <p:cNvSpPr/>
          <p:nvPr/>
        </p:nvSpPr>
        <p:spPr>
          <a:xfrm>
            <a:off x="9803249" y="6023848"/>
            <a:ext cx="2171224" cy="304800"/>
          </a:xfrm>
          <a:prstGeom prst="rect">
            <a:avLst/>
          </a:prstGeom>
          <a:noFill/>
          <a:ln/>
        </p:spPr>
        <p:txBody>
          <a:bodyPr wrap="square" lIns="25400" tIns="25400" rIns="25400" bIns="25400" rtlCol="0" anchor="ctr">
            <a:normAutofit/>
          </a:bodyPr>
          <a:lstStyle/>
          <a:p>
            <a:pPr algn="l" indent="0" marL="0">
              <a:buNone/>
            </a:pPr>
            <a:r>
              <a:rPr lang="en-US" sz="1500" dirty="0">
                <a:solidFill>
                  <a:srgbClr val="FFB547"/>
                </a:solidFill>
                <a:latin typeface="Arial" pitchFamily="34" charset="0"/>
                <a:ea typeface="Arial" pitchFamily="34" charset="-122"/>
                <a:cs typeface="Arial" pitchFamily="34" charset="-120"/>
              </a:rPr>
              <a:t>Mid</a:t>
            </a:r>
            <a:endParaRPr lang="en-US" sz="1500" dirty="0"/>
          </a:p>
        </p:txBody>
      </p:sp>
      <p:sp>
        <p:nvSpPr>
          <p:cNvPr id="97" name="Text 95"/>
          <p:cNvSpPr/>
          <p:nvPr/>
        </p:nvSpPr>
        <p:spPr>
          <a:xfrm>
            <a:off x="11898273" y="6023848"/>
            <a:ext cx="5043094" cy="304800"/>
          </a:xfrm>
          <a:prstGeom prst="rect">
            <a:avLst/>
          </a:prstGeom>
          <a:noFill/>
          <a:ln/>
        </p:spPr>
        <p:txBody>
          <a:bodyPr wrap="square" lIns="25400" tIns="25400" rIns="25400" bIns="25400" rtlCol="0" anchor="ctr">
            <a:normAutofit/>
          </a:bodyPr>
          <a:lstStyle/>
          <a:p>
            <a:pPr algn="l" indent="0" marL="0">
              <a:buNone/>
            </a:pPr>
            <a:r>
              <a:rPr lang="en-US" sz="1500" dirty="0">
                <a:solidFill>
                  <a:srgbClr val="8C9AB0"/>
                </a:solidFill>
                <a:latin typeface="Arial" pitchFamily="34" charset="0"/>
                <a:ea typeface="Arial" pitchFamily="34" charset="-122"/>
                <a:cs typeface="Arial" pitchFamily="34" charset="-120"/>
              </a:rPr>
              <a:t>Effective but expensive &amp; vendor-locked</a:t>
            </a:r>
            <a:endParaRPr lang="en-US" sz="1500" dirty="0"/>
          </a:p>
        </p:txBody>
      </p:sp>
      <p:sp>
        <p:nvSpPr>
          <p:cNvPr id="98" name="Shape 96"/>
          <p:cNvSpPr/>
          <p:nvPr/>
        </p:nvSpPr>
        <p:spPr>
          <a:xfrm>
            <a:off x="1493520" y="6481048"/>
            <a:ext cx="15300960" cy="643890"/>
          </a:xfrm>
          <a:prstGeom prst="rect">
            <a:avLst/>
          </a:prstGeom>
          <a:solidFill>
            <a:srgbClr val="00E5FF">
              <a:alpha val="4000"/>
            </a:srgbClr>
          </a:solidFill>
          <a:ln/>
        </p:spPr>
      </p:sp>
      <p:sp>
        <p:nvSpPr>
          <p:cNvPr id="99" name="Shape 97"/>
          <p:cNvSpPr/>
          <p:nvPr/>
        </p:nvSpPr>
        <p:spPr>
          <a:xfrm>
            <a:off x="1493520" y="6681073"/>
            <a:ext cx="57150" cy="247650"/>
          </a:xfrm>
          <a:prstGeom prst="roundRect">
            <a:avLst>
              <a:gd name="adj" fmla="val 50000"/>
            </a:avLst>
          </a:prstGeom>
          <a:solidFill>
            <a:srgbClr val="00E5FF"/>
          </a:solidFill>
          <a:ln/>
          <a:effectLst>
            <a:outerShdw sx="100000" sy="100000" kx="0" ky="0" algn="bl" rotWithShape="0" blurRad="95250" dist="50800" dir="16200000">
              <a:srgbClr val="00E5FF">
                <a:alpha val="100000"/>
              </a:srgbClr>
            </a:outerShdw>
          </a:effectLst>
        </p:spPr>
      </p:sp>
      <p:sp>
        <p:nvSpPr>
          <p:cNvPr id="100" name="Text 98"/>
          <p:cNvSpPr/>
          <p:nvPr/>
        </p:nvSpPr>
        <p:spPr>
          <a:xfrm>
            <a:off x="1664970" y="6675358"/>
            <a:ext cx="1574721" cy="297180"/>
          </a:xfrm>
          <a:prstGeom prst="rect">
            <a:avLst/>
          </a:prstGeom>
          <a:noFill/>
          <a:ln/>
        </p:spPr>
        <p:txBody>
          <a:bodyPr wrap="square" lIns="0" tIns="0" rIns="0" bIns="0" rtlCol="0" anchor="t">
            <a:normAutofit/>
          </a:bodyPr>
          <a:lstStyle/>
          <a:p>
            <a:pPr algn="l" indent="0" marL="0">
              <a:buNone/>
            </a:pPr>
            <a:r>
              <a:rPr lang="en-US" sz="1650" b="1" dirty="0">
                <a:solidFill>
                  <a:srgbClr val="00E5FF"/>
                </a:solidFill>
                <a:latin typeface="Arial" pitchFamily="34" charset="0"/>
                <a:ea typeface="Arial" pitchFamily="34" charset="-122"/>
                <a:cs typeface="Arial" pitchFamily="34" charset="-120"/>
              </a:rPr>
              <a:t>SmartShield AI</a:t>
            </a:r>
            <a:endParaRPr lang="en-US" sz="1650" dirty="0"/>
          </a:p>
        </p:txBody>
      </p:sp>
      <p:sp>
        <p:nvSpPr>
          <p:cNvPr id="101" name="Shape 99"/>
          <p:cNvSpPr/>
          <p:nvPr/>
        </p:nvSpPr>
        <p:spPr>
          <a:xfrm>
            <a:off x="4553664"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02" name="Shape 100"/>
          <p:cNvSpPr/>
          <p:nvPr/>
        </p:nvSpPr>
        <p:spPr>
          <a:xfrm>
            <a:off x="4725114"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03" name="Shape 101"/>
          <p:cNvSpPr/>
          <p:nvPr/>
        </p:nvSpPr>
        <p:spPr>
          <a:xfrm>
            <a:off x="4896564"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04" name="Shape 102"/>
          <p:cNvSpPr/>
          <p:nvPr/>
        </p:nvSpPr>
        <p:spPr>
          <a:xfrm>
            <a:off x="5068014"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05" name="Shape 103"/>
          <p:cNvSpPr/>
          <p:nvPr/>
        </p:nvSpPr>
        <p:spPr>
          <a:xfrm>
            <a:off x="5239464"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06" name="Shape 104"/>
          <p:cNvSpPr/>
          <p:nvPr/>
        </p:nvSpPr>
        <p:spPr>
          <a:xfrm>
            <a:off x="5958721"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07" name="Shape 105"/>
          <p:cNvSpPr/>
          <p:nvPr/>
        </p:nvSpPr>
        <p:spPr>
          <a:xfrm>
            <a:off x="6130171"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08" name="Shape 106"/>
          <p:cNvSpPr/>
          <p:nvPr/>
        </p:nvSpPr>
        <p:spPr>
          <a:xfrm>
            <a:off x="6301621"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09" name="Shape 107"/>
          <p:cNvSpPr/>
          <p:nvPr/>
        </p:nvSpPr>
        <p:spPr>
          <a:xfrm>
            <a:off x="6473071"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10" name="Shape 108"/>
          <p:cNvSpPr/>
          <p:nvPr/>
        </p:nvSpPr>
        <p:spPr>
          <a:xfrm>
            <a:off x="6644521"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11" name="Shape 109"/>
          <p:cNvSpPr/>
          <p:nvPr/>
        </p:nvSpPr>
        <p:spPr>
          <a:xfrm>
            <a:off x="7363778"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12" name="Shape 110"/>
          <p:cNvSpPr/>
          <p:nvPr/>
        </p:nvSpPr>
        <p:spPr>
          <a:xfrm>
            <a:off x="7535228"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13" name="Shape 111"/>
          <p:cNvSpPr/>
          <p:nvPr/>
        </p:nvSpPr>
        <p:spPr>
          <a:xfrm>
            <a:off x="7706678"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14" name="Shape 112"/>
          <p:cNvSpPr/>
          <p:nvPr/>
        </p:nvSpPr>
        <p:spPr>
          <a:xfrm>
            <a:off x="7878128"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15" name="Shape 113"/>
          <p:cNvSpPr/>
          <p:nvPr/>
        </p:nvSpPr>
        <p:spPr>
          <a:xfrm>
            <a:off x="8049578" y="6738223"/>
            <a:ext cx="133350" cy="133350"/>
          </a:xfrm>
          <a:prstGeom prst="roundRect">
            <a:avLst>
              <a:gd name="adj" fmla="val 21429"/>
            </a:avLst>
          </a:prstGeom>
          <a:solidFill>
            <a:srgbClr val="00E5FF"/>
          </a:solidFill>
          <a:ln/>
          <a:effectLst>
            <a:outerShdw sx="100000" sy="100000" kx="0" ky="0" algn="bl" rotWithShape="0" blurRad="57150" dist="50800" dir="16200000">
              <a:srgbClr val="00E5FF">
                <a:alpha val="53300"/>
              </a:srgbClr>
            </a:outerShdw>
          </a:effectLst>
        </p:spPr>
      </p:sp>
      <p:sp>
        <p:nvSpPr>
          <p:cNvPr id="116" name="Text 114"/>
          <p:cNvSpPr/>
          <p:nvPr/>
        </p:nvSpPr>
        <p:spPr>
          <a:xfrm>
            <a:off x="9803249" y="6671548"/>
            <a:ext cx="2171224" cy="300990"/>
          </a:xfrm>
          <a:prstGeom prst="rect">
            <a:avLst/>
          </a:prstGeom>
          <a:noFill/>
          <a:ln/>
        </p:spPr>
        <p:txBody>
          <a:bodyPr wrap="square" lIns="25400" tIns="25400" rIns="25400" bIns="25400" rtlCol="0" anchor="ctr">
            <a:normAutofit/>
          </a:bodyPr>
          <a:lstStyle/>
          <a:p>
            <a:pPr algn="l" indent="0" marL="0">
              <a:buNone/>
            </a:pPr>
            <a:r>
              <a:rPr lang="en-US" sz="1500" dirty="0">
                <a:solidFill>
                  <a:srgbClr val="39FF88"/>
                </a:solidFill>
                <a:latin typeface="Arial" pitchFamily="34" charset="0"/>
                <a:ea typeface="Arial" pitchFamily="34" charset="-122"/>
                <a:cs typeface="Arial" pitchFamily="34" charset="-120"/>
              </a:rPr>
              <a:t>No</a:t>
            </a:r>
            <a:endParaRPr lang="en-US" sz="1500" dirty="0"/>
          </a:p>
        </p:txBody>
      </p:sp>
      <p:sp>
        <p:nvSpPr>
          <p:cNvPr id="117" name="Text 115"/>
          <p:cNvSpPr/>
          <p:nvPr/>
        </p:nvSpPr>
        <p:spPr>
          <a:xfrm>
            <a:off x="11898273" y="6671548"/>
            <a:ext cx="5043094" cy="300990"/>
          </a:xfrm>
          <a:prstGeom prst="rect">
            <a:avLst/>
          </a:prstGeom>
          <a:noFill/>
          <a:ln/>
        </p:spPr>
        <p:txBody>
          <a:bodyPr wrap="square" lIns="25400" tIns="25400" rIns="25400" bIns="25400" rtlCol="0" anchor="ctr">
            <a:normAutofit/>
          </a:bodyPr>
          <a:lstStyle/>
          <a:p>
            <a:pPr algn="l" indent="0" marL="0">
              <a:buNone/>
            </a:pPr>
            <a:r>
              <a:rPr lang="en-US" sz="1500" dirty="0">
                <a:solidFill>
                  <a:srgbClr val="E7EEF7"/>
                </a:solidFill>
                <a:latin typeface="Arial" pitchFamily="34" charset="0"/>
                <a:ea typeface="Arial" pitchFamily="34" charset="-122"/>
                <a:cs typeface="Arial" pitchFamily="34" charset="-120"/>
              </a:rPr>
              <a:t>Behavioral scoring; lightweight &amp; open</a:t>
            </a:r>
            <a:endParaRPr lang="en-US" sz="1500" dirty="0"/>
          </a:p>
        </p:txBody>
      </p:sp>
      <p:sp>
        <p:nvSpPr>
          <p:cNvPr id="118" name="Shape 116"/>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119" name="Text 117"/>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120" name="Text 118"/>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05/17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2476500" y="2798445"/>
            <a:ext cx="826056" cy="34290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5C6A82"/>
                </a:solidFill>
                <a:latin typeface="Arial" pitchFamily="34" charset="0"/>
                <a:ea typeface="Arial" pitchFamily="34" charset="-122"/>
                <a:cs typeface="Arial" pitchFamily="34" charset="-120"/>
              </a:rPr>
              <a:t>04 /</a:t>
            </a:r>
            <a:endParaRPr lang="en-US" sz="1800" dirty="0"/>
          </a:p>
        </p:txBody>
      </p:sp>
      <p:sp>
        <p:nvSpPr>
          <p:cNvPr id="7" name="Text 5"/>
          <p:cNvSpPr/>
          <p:nvPr/>
        </p:nvSpPr>
        <p:spPr>
          <a:xfrm>
            <a:off x="3378756" y="2813685"/>
            <a:ext cx="3487354"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PROBLEM STATEMENT</a:t>
            </a:r>
            <a:endParaRPr lang="en-US" sz="1800" dirty="0"/>
          </a:p>
        </p:txBody>
      </p:sp>
      <p:sp>
        <p:nvSpPr>
          <p:cNvPr id="8" name="Text 6"/>
          <p:cNvSpPr/>
          <p:nvPr/>
        </p:nvSpPr>
        <p:spPr>
          <a:xfrm>
            <a:off x="1714500" y="3065145"/>
            <a:ext cx="1219200" cy="2324100"/>
          </a:xfrm>
          <a:prstGeom prst="rect">
            <a:avLst/>
          </a:prstGeom>
          <a:noFill/>
          <a:ln/>
        </p:spPr>
        <p:txBody>
          <a:bodyPr wrap="square" lIns="25400" tIns="25400" rIns="25400" bIns="25400" rtlCol="0" anchor="t">
            <a:normAutofit/>
          </a:bodyPr>
          <a:lstStyle/>
          <a:p>
            <a:pPr algn="l" indent="0" marL="0">
              <a:lnSpc>
                <a:spcPct val="100000"/>
              </a:lnSpc>
              <a:buNone/>
            </a:pPr>
            <a:r>
              <a:rPr lang="en-US" sz="18000" b="1" dirty="0">
                <a:solidFill>
                  <a:srgbClr val="00E5FF">
                    <a:alpha val="18000"/>
                  </a:srgbClr>
                </a:solidFill>
                <a:latin typeface="serif" pitchFamily="34" charset="0"/>
                <a:ea typeface="serif" pitchFamily="34" charset="-122"/>
                <a:cs typeface="serif" pitchFamily="34" charset="-120"/>
              </a:rPr>
              <a:t>“</a:t>
            </a:r>
            <a:endParaRPr lang="en-US" sz="18000" dirty="0"/>
          </a:p>
        </p:txBody>
      </p:sp>
      <p:sp>
        <p:nvSpPr>
          <p:cNvPr id="9" name="Text 7"/>
          <p:cNvSpPr/>
          <p:nvPr/>
        </p:nvSpPr>
        <p:spPr>
          <a:xfrm>
            <a:off x="2476500" y="3446145"/>
            <a:ext cx="13735050" cy="2385060"/>
          </a:xfrm>
          <a:prstGeom prst="rect">
            <a:avLst/>
          </a:prstGeom>
          <a:noFill/>
          <a:ln/>
        </p:spPr>
        <p:txBody>
          <a:bodyPr wrap="square" lIns="25400" tIns="25400" rIns="25400" bIns="25400" rtlCol="0" anchor="t">
            <a:normAutofit/>
          </a:bodyPr>
          <a:lstStyle/>
          <a:p>
            <a:pPr algn="l" indent="0" marL="0">
              <a:lnSpc>
                <a:spcPct val="120000"/>
              </a:lnSpc>
              <a:buNone/>
            </a:pPr>
            <a:r>
              <a:rPr lang="en-US" sz="5100" spc="-76" kern="0" dirty="0">
                <a:solidFill>
                  <a:srgbClr val="E7EEF7"/>
                </a:solidFill>
                <a:latin typeface="Arial" pitchFamily="34" charset="0"/>
                <a:ea typeface="Arial" pitchFamily="34" charset="-122"/>
                <a:cs typeface="Arial" pitchFamily="34" charset="-120"/>
              </a:rPr>
              <a:t>Today's defenses either</a:t>
            </a:r>
            <a:pPr algn="l" indent="0" marL="0">
              <a:lnSpc>
                <a:spcPct val="120000"/>
              </a:lnSpc>
              <a:buNone/>
            </a:pPr>
            <a:r>
              <a:rPr lang="en-US" sz="5100" b="1" spc="-76" kern="0" dirty="0">
                <a:solidFill>
                  <a:srgbClr val="00E5FF"/>
                </a:solidFill>
                <a:latin typeface="Arial" pitchFamily="34" charset="0"/>
                <a:ea typeface="Arial" pitchFamily="34" charset="-122"/>
                <a:cs typeface="Arial" pitchFamily="34" charset="-120"/>
              </a:rPr>
              <a:t>block entire regions </a:t>
            </a:r>
            <a:pPr algn="l" indent="0" marL="0">
              <a:lnSpc>
                <a:spcPct val="120000"/>
              </a:lnSpc>
              <a:buNone/>
            </a:pPr>
            <a:r>
              <a:rPr lang="en-US" sz="5100" spc="-76" kern="0" dirty="0">
                <a:solidFill>
                  <a:srgbClr val="E7EEF7"/>
                </a:solidFill>
                <a:latin typeface="Arial" pitchFamily="34" charset="0"/>
                <a:ea typeface="Arial" pitchFamily="34" charset="-122"/>
                <a:cs typeface="Arial" pitchFamily="34" charset="-120"/>
              </a:rPr>
              <a:t>or rely on</a:t>
            </a:r>
            <a:pPr algn="l" indent="0" marL="0">
              <a:lnSpc>
                <a:spcPct val="120000"/>
              </a:lnSpc>
              <a:buNone/>
            </a:pPr>
            <a:r>
              <a:rPr lang="en-US" sz="5100" b="1" spc="-76" kern="0" dirty="0">
                <a:solidFill>
                  <a:srgbClr val="39FF88"/>
                </a:solidFill>
                <a:latin typeface="Arial" pitchFamily="34" charset="0"/>
                <a:ea typeface="Arial" pitchFamily="34" charset="-122"/>
                <a:cs typeface="Arial" pitchFamily="34" charset="-120"/>
              </a:rPr>
              <a:t>expensive third-party tools </a:t>
            </a:r>
            <a:pPr algn="l" indent="0" marL="0">
              <a:lnSpc>
                <a:spcPct val="120000"/>
              </a:lnSpc>
              <a:buNone/>
            </a:pPr>
            <a:r>
              <a:rPr lang="en-US" sz="5100" spc="-76" kern="0" dirty="0">
                <a:solidFill>
                  <a:srgbClr val="E7EEF7"/>
                </a:solidFill>
                <a:latin typeface="Arial" pitchFamily="34" charset="0"/>
                <a:ea typeface="Arial" pitchFamily="34" charset="-122"/>
                <a:cs typeface="Arial" pitchFamily="34" charset="-120"/>
              </a:rPr>
              <a:t>— and still fail to tell a real user from a bot.</a:t>
            </a:r>
            <a:endParaRPr lang="en-US" sz="5100" dirty="0"/>
          </a:p>
        </p:txBody>
      </p:sp>
      <p:sp>
        <p:nvSpPr>
          <p:cNvPr id="10" name="Text 8"/>
          <p:cNvSpPr/>
          <p:nvPr/>
        </p:nvSpPr>
        <p:spPr>
          <a:xfrm>
            <a:off x="2476500" y="6555105"/>
            <a:ext cx="2296359" cy="571500"/>
          </a:xfrm>
          <a:prstGeom prst="rect">
            <a:avLst/>
          </a:prstGeom>
          <a:noFill/>
          <a:ln/>
          <a:effectLst>
            <a:outerShdw sx="100000" sy="100000" kx="0" ky="0" algn="bl" rotWithShape="0" blurRad="190500" dist="50800" dir="16200000">
              <a:srgbClr val="00E5FF">
                <a:alpha val="33300"/>
              </a:srgbClr>
            </a:outerShdw>
          </a:effectLst>
        </p:spPr>
        <p:txBody>
          <a:bodyPr wrap="square" lIns="25400" tIns="25400" rIns="25400" bIns="25400" rtlCol="0" anchor="t">
            <a:normAutofit/>
          </a:bodyPr>
          <a:lstStyle/>
          <a:p>
            <a:pPr algn="l" indent="0" marL="0">
              <a:lnSpc>
                <a:spcPct val="100000"/>
              </a:lnSpc>
              <a:buNone/>
            </a:pPr>
            <a:r>
              <a:rPr lang="en-US" sz="4200" b="1" dirty="0">
                <a:solidFill>
                  <a:srgbClr val="00E5FF"/>
                </a:solidFill>
                <a:latin typeface="Arial" pitchFamily="34" charset="0"/>
                <a:ea typeface="Arial" pitchFamily="34" charset="-122"/>
                <a:cs typeface="Arial" pitchFamily="34" charset="-120"/>
              </a:rPr>
              <a:t>~47%</a:t>
            </a:r>
            <a:endParaRPr lang="en-US" sz="4200" dirty="0"/>
          </a:p>
        </p:txBody>
      </p:sp>
      <p:sp>
        <p:nvSpPr>
          <p:cNvPr id="11" name="Text 9"/>
          <p:cNvSpPr/>
          <p:nvPr/>
        </p:nvSpPr>
        <p:spPr>
          <a:xfrm>
            <a:off x="2476500" y="7183755"/>
            <a:ext cx="2296359" cy="285750"/>
          </a:xfrm>
          <a:prstGeom prst="rect">
            <a:avLst/>
          </a:prstGeom>
          <a:noFill/>
          <a:ln/>
        </p:spPr>
        <p:txBody>
          <a:bodyPr wrap="square" lIns="25400" tIns="25400" rIns="25400" bIns="25400" rtlCol="0" anchor="t">
            <a:normAutofit/>
          </a:bodyPr>
          <a:lstStyle/>
          <a:p>
            <a:pPr algn="l" indent="0" marL="0">
              <a:lnSpc>
                <a:spcPct val="130000"/>
              </a:lnSpc>
              <a:buNone/>
            </a:pPr>
            <a:r>
              <a:rPr lang="en-US" sz="1500" dirty="0">
                <a:solidFill>
                  <a:srgbClr val="5C6A82"/>
                </a:solidFill>
                <a:latin typeface="Arial" pitchFamily="34" charset="0"/>
                <a:ea typeface="Arial" pitchFamily="34" charset="-122"/>
                <a:cs typeface="Arial" pitchFamily="34" charset="-120"/>
              </a:rPr>
              <a:t>of web traffic is automated</a:t>
            </a:r>
            <a:endParaRPr lang="en-US" sz="1500" dirty="0"/>
          </a:p>
        </p:txBody>
      </p:sp>
      <p:sp>
        <p:nvSpPr>
          <p:cNvPr id="12" name="Text 10"/>
          <p:cNvSpPr/>
          <p:nvPr/>
        </p:nvSpPr>
        <p:spPr>
          <a:xfrm>
            <a:off x="5458659" y="6555105"/>
            <a:ext cx="2637130" cy="571500"/>
          </a:xfrm>
          <a:prstGeom prst="rect">
            <a:avLst/>
          </a:prstGeom>
          <a:noFill/>
          <a:ln/>
          <a:effectLst>
            <a:outerShdw sx="100000" sy="100000" kx="0" ky="0" algn="bl" rotWithShape="0" blurRad="190500" dist="50800" dir="16200000">
              <a:srgbClr val="00E5FF">
                <a:alpha val="33300"/>
              </a:srgbClr>
            </a:outerShdw>
          </a:effectLst>
        </p:spPr>
        <p:txBody>
          <a:bodyPr wrap="square" lIns="25400" tIns="25400" rIns="25400" bIns="25400" rtlCol="0" anchor="t">
            <a:normAutofit/>
          </a:bodyPr>
          <a:lstStyle/>
          <a:p>
            <a:pPr algn="l" indent="0" marL="0">
              <a:lnSpc>
                <a:spcPct val="100000"/>
              </a:lnSpc>
              <a:buNone/>
            </a:pPr>
            <a:r>
              <a:rPr lang="en-US" sz="4200" b="1" dirty="0">
                <a:solidFill>
                  <a:srgbClr val="00E5FF"/>
                </a:solidFill>
                <a:latin typeface="Arial" pitchFamily="34" charset="0"/>
                <a:ea typeface="Arial" pitchFamily="34" charset="-122"/>
                <a:cs typeface="Arial" pitchFamily="34" charset="-120"/>
              </a:rPr>
              <a:t>$10K+/yr</a:t>
            </a:r>
            <a:endParaRPr lang="en-US" sz="4200" dirty="0"/>
          </a:p>
        </p:txBody>
      </p:sp>
      <p:sp>
        <p:nvSpPr>
          <p:cNvPr id="13" name="Text 11"/>
          <p:cNvSpPr/>
          <p:nvPr/>
        </p:nvSpPr>
        <p:spPr>
          <a:xfrm>
            <a:off x="5458659" y="7183755"/>
            <a:ext cx="2362200" cy="533400"/>
          </a:xfrm>
          <a:prstGeom prst="rect">
            <a:avLst/>
          </a:prstGeom>
          <a:noFill/>
          <a:ln/>
        </p:spPr>
        <p:txBody>
          <a:bodyPr wrap="square" lIns="25400" tIns="25400" rIns="25400" bIns="25400" rtlCol="0" anchor="t">
            <a:normAutofit/>
          </a:bodyPr>
          <a:lstStyle/>
          <a:p>
            <a:pPr algn="l" indent="0" marL="0">
              <a:lnSpc>
                <a:spcPct val="130000"/>
              </a:lnSpc>
              <a:buNone/>
            </a:pPr>
            <a:r>
              <a:rPr lang="en-US" sz="1500" dirty="0">
                <a:solidFill>
                  <a:srgbClr val="5C6A82"/>
                </a:solidFill>
                <a:latin typeface="Arial" pitchFamily="34" charset="0"/>
                <a:ea typeface="Arial" pitchFamily="34" charset="-122"/>
                <a:cs typeface="Arial" pitchFamily="34" charset="-120"/>
              </a:rPr>
              <a:t>enterprise bot-protection cost</a:t>
            </a:r>
            <a:endParaRPr lang="en-US" sz="1500" dirty="0"/>
          </a:p>
        </p:txBody>
      </p:sp>
      <p:sp>
        <p:nvSpPr>
          <p:cNvPr id="14" name="Text 12"/>
          <p:cNvSpPr/>
          <p:nvPr/>
        </p:nvSpPr>
        <p:spPr>
          <a:xfrm>
            <a:off x="8780979" y="6555105"/>
            <a:ext cx="2966771" cy="571500"/>
          </a:xfrm>
          <a:prstGeom prst="rect">
            <a:avLst/>
          </a:prstGeom>
          <a:noFill/>
          <a:ln/>
          <a:effectLst>
            <a:outerShdw sx="100000" sy="100000" kx="0" ky="0" algn="bl" rotWithShape="0" blurRad="190500" dist="50800" dir="16200000">
              <a:srgbClr val="00E5FF">
                <a:alpha val="33300"/>
              </a:srgbClr>
            </a:outerShdw>
          </a:effectLst>
        </p:spPr>
        <p:txBody>
          <a:bodyPr wrap="square" lIns="25400" tIns="25400" rIns="25400" bIns="25400" rtlCol="0" anchor="t">
            <a:normAutofit/>
          </a:bodyPr>
          <a:lstStyle/>
          <a:p>
            <a:pPr algn="l" indent="0" marL="0">
              <a:lnSpc>
                <a:spcPct val="100000"/>
              </a:lnSpc>
              <a:buNone/>
            </a:pPr>
            <a:r>
              <a:rPr lang="en-US" sz="4200" b="1" dirty="0">
                <a:solidFill>
                  <a:srgbClr val="00E5FF"/>
                </a:solidFill>
                <a:latin typeface="Arial" pitchFamily="34" charset="0"/>
                <a:ea typeface="Arial" pitchFamily="34" charset="-122"/>
                <a:cs typeface="Arial" pitchFamily="34" charset="-120"/>
              </a:rPr>
              <a:t>up to 12%</a:t>
            </a:r>
            <a:endParaRPr lang="en-US" sz="4200" dirty="0"/>
          </a:p>
        </p:txBody>
      </p:sp>
      <p:sp>
        <p:nvSpPr>
          <p:cNvPr id="15" name="Text 13"/>
          <p:cNvSpPr/>
          <p:nvPr/>
        </p:nvSpPr>
        <p:spPr>
          <a:xfrm>
            <a:off x="8780979" y="7183755"/>
            <a:ext cx="2362200" cy="533400"/>
          </a:xfrm>
          <a:prstGeom prst="rect">
            <a:avLst/>
          </a:prstGeom>
          <a:noFill/>
          <a:ln/>
        </p:spPr>
        <p:txBody>
          <a:bodyPr wrap="square" lIns="25400" tIns="25400" rIns="25400" bIns="25400" rtlCol="0" anchor="t">
            <a:normAutofit/>
          </a:bodyPr>
          <a:lstStyle/>
          <a:p>
            <a:pPr algn="l" indent="0" marL="0">
              <a:lnSpc>
                <a:spcPct val="130000"/>
              </a:lnSpc>
              <a:buNone/>
            </a:pPr>
            <a:r>
              <a:rPr lang="en-US" sz="1500" dirty="0">
                <a:solidFill>
                  <a:srgbClr val="5C6A82"/>
                </a:solidFill>
                <a:latin typeface="Arial" pitchFamily="34" charset="0"/>
                <a:ea typeface="Arial" pitchFamily="34" charset="-122"/>
                <a:cs typeface="Arial" pitchFamily="34" charset="-120"/>
              </a:rPr>
              <a:t>of legitimate users blocked by region rules</a:t>
            </a:r>
            <a:endParaRPr lang="en-US" sz="1500" dirty="0"/>
          </a:p>
        </p:txBody>
      </p:sp>
      <p:sp>
        <p:nvSpPr>
          <p:cNvPr id="16" name="Shape 14"/>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17" name="Text 15"/>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18" name="Text 16"/>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06/17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05/</a:t>
            </a:r>
            <a:endParaRPr lang="en-US" sz="1800" dirty="0"/>
          </a:p>
        </p:txBody>
      </p:sp>
      <p:sp>
        <p:nvSpPr>
          <p:cNvPr id="7" name="Text 5"/>
          <p:cNvSpPr/>
          <p:nvPr/>
        </p:nvSpPr>
        <p:spPr>
          <a:xfrm>
            <a:off x="1935480" y="967740"/>
            <a:ext cx="2000726"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OBJECTIVES</a:t>
            </a:r>
            <a:endParaRPr lang="en-US" sz="1800" dirty="0"/>
          </a:p>
        </p:txBody>
      </p:sp>
      <p:sp>
        <p:nvSpPr>
          <p:cNvPr id="8" name="Text 6"/>
          <p:cNvSpPr/>
          <p:nvPr/>
        </p:nvSpPr>
        <p:spPr>
          <a:xfrm>
            <a:off x="1143000" y="1428750"/>
            <a:ext cx="14504213"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We set out to filter intelligently — not block broadly</a:t>
            </a:r>
            <a:endParaRPr lang="en-US" sz="4800" dirty="0"/>
          </a:p>
        </p:txBody>
      </p:sp>
      <p:sp>
        <p:nvSpPr>
          <p:cNvPr id="9" name="Shape 7"/>
          <p:cNvSpPr/>
          <p:nvPr/>
        </p:nvSpPr>
        <p:spPr>
          <a:xfrm>
            <a:off x="1143000" y="3240643"/>
            <a:ext cx="5156121" cy="3008829"/>
          </a:xfrm>
          <a:prstGeom prst="roundRect">
            <a:avLst>
              <a:gd name="adj" fmla="val 5065"/>
            </a:avLst>
          </a:prstGeom>
          <a:solidFill>
            <a:srgbClr val="141E32">
              <a:alpha val="55000"/>
            </a:srgbClr>
          </a:solidFill>
          <a:ln w="7620">
            <a:solidFill>
              <a:srgbClr val="78A0D2">
                <a:alpha val="14000"/>
              </a:srgbClr>
            </a:solidFill>
            <a:prstDash val="solid"/>
          </a:ln>
        </p:spPr>
      </p:sp>
      <p:sp>
        <p:nvSpPr>
          <p:cNvPr id="10" name="Shape 8"/>
          <p:cNvSpPr/>
          <p:nvPr/>
        </p:nvSpPr>
        <p:spPr>
          <a:xfrm>
            <a:off x="1455420" y="3553063"/>
            <a:ext cx="571500" cy="571500"/>
          </a:xfrm>
          <a:prstGeom prst="roundRect">
            <a:avLst>
              <a:gd name="adj" fmla="val 23333"/>
            </a:avLst>
          </a:prstGeom>
          <a:solidFill>
            <a:srgbClr val="00E5FF">
              <a:alpha val="14000"/>
            </a:srgbClr>
          </a:solidFill>
          <a:ln w="7620">
            <a:solidFill>
              <a:srgbClr val="00E5FF">
                <a:alpha val="33000"/>
              </a:srgbClr>
            </a:solidFill>
            <a:prstDash val="solid"/>
          </a:ln>
        </p:spPr>
      </p:sp>
      <p:pic>
        <p:nvPicPr>
          <p:cNvPr id="11" name="Image 0" descr="preencoded.png">    </p:cNvPr>
          <p:cNvPicPr>
            <a:picLocks noChangeAspect="1"/>
          </p:cNvPicPr>
          <p:nvPr/>
        </p:nvPicPr>
        <p:blipFill>
          <a:blip r:embed="rId1"/>
          <a:stretch>
            <a:fillRect/>
          </a:stretch>
        </p:blipFill>
        <p:spPr>
          <a:xfrm>
            <a:off x="1598295" y="3695938"/>
            <a:ext cx="285750" cy="285750"/>
          </a:xfrm>
          <a:prstGeom prst="rect">
            <a:avLst/>
          </a:prstGeom>
        </p:spPr>
      </p:pic>
      <p:sp>
        <p:nvSpPr>
          <p:cNvPr id="12" name="Text 9"/>
          <p:cNvSpPr/>
          <p:nvPr/>
        </p:nvSpPr>
        <p:spPr>
          <a:xfrm>
            <a:off x="5639991" y="3553063"/>
            <a:ext cx="422910" cy="396240"/>
          </a:xfrm>
          <a:prstGeom prst="rect">
            <a:avLst/>
          </a:prstGeom>
          <a:noFill/>
          <a:ln/>
        </p:spPr>
        <p:txBody>
          <a:bodyPr wrap="square" lIns="25400" tIns="25400" rIns="25400" bIns="25400" rtlCol="0" anchor="t">
            <a:normAutofit/>
          </a:bodyPr>
          <a:lstStyle/>
          <a:p>
            <a:pPr algn="l" indent="0" marL="0">
              <a:buNone/>
            </a:pPr>
            <a:r>
              <a:rPr lang="en-US" sz="2100" b="1" spc="105" kern="0" dirty="0">
                <a:solidFill>
                  <a:srgbClr val="5C6A82"/>
                </a:solidFill>
                <a:latin typeface="Arial" pitchFamily="34" charset="0"/>
                <a:ea typeface="Arial" pitchFamily="34" charset="-122"/>
                <a:cs typeface="Arial" pitchFamily="34" charset="-120"/>
              </a:rPr>
              <a:t>01</a:t>
            </a:r>
            <a:endParaRPr lang="en-US" sz="2100" dirty="0"/>
          </a:p>
        </p:txBody>
      </p:sp>
      <p:sp>
        <p:nvSpPr>
          <p:cNvPr id="13" name="Text 10"/>
          <p:cNvSpPr/>
          <p:nvPr/>
        </p:nvSpPr>
        <p:spPr>
          <a:xfrm>
            <a:off x="1455420" y="4296013"/>
            <a:ext cx="4667219" cy="358140"/>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E7EEF7"/>
                </a:solidFill>
                <a:latin typeface="Arial" pitchFamily="34" charset="0"/>
                <a:ea typeface="Arial" pitchFamily="34" charset="-122"/>
                <a:cs typeface="Arial" pitchFamily="34" charset="-120"/>
              </a:rPr>
              <a:t>Detect bot vs human traffic</a:t>
            </a:r>
            <a:endParaRPr lang="en-US" sz="2100" dirty="0"/>
          </a:p>
        </p:txBody>
      </p:sp>
      <p:sp>
        <p:nvSpPr>
          <p:cNvPr id="14" name="Text 11"/>
          <p:cNvSpPr/>
          <p:nvPr/>
        </p:nvSpPr>
        <p:spPr>
          <a:xfrm>
            <a:off x="1455420" y="4787503"/>
            <a:ext cx="4667219"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8C9AB0"/>
                </a:solidFill>
                <a:latin typeface="Arial" pitchFamily="34" charset="0"/>
                <a:ea typeface="Arial" pitchFamily="34" charset="-122"/>
                <a:cs typeface="Arial" pitchFamily="34" charset="-120"/>
              </a:rPr>
              <a:t>Distinguish automated requests from genuine users by behavior, not just origin.</a:t>
            </a:r>
            <a:endParaRPr lang="en-US" sz="1500" dirty="0"/>
          </a:p>
        </p:txBody>
      </p:sp>
      <p:sp>
        <p:nvSpPr>
          <p:cNvPr id="15" name="Shape 12"/>
          <p:cNvSpPr/>
          <p:nvPr/>
        </p:nvSpPr>
        <p:spPr>
          <a:xfrm>
            <a:off x="6565821" y="3240643"/>
            <a:ext cx="5156240" cy="3008829"/>
          </a:xfrm>
          <a:prstGeom prst="roundRect">
            <a:avLst>
              <a:gd name="adj" fmla="val 5065"/>
            </a:avLst>
          </a:prstGeom>
          <a:solidFill>
            <a:srgbClr val="141E32">
              <a:alpha val="55000"/>
            </a:srgbClr>
          </a:solidFill>
          <a:ln w="7620">
            <a:solidFill>
              <a:srgbClr val="78A0D2">
                <a:alpha val="14000"/>
              </a:srgbClr>
            </a:solidFill>
            <a:prstDash val="solid"/>
          </a:ln>
        </p:spPr>
      </p:sp>
      <p:sp>
        <p:nvSpPr>
          <p:cNvPr id="16" name="Shape 13"/>
          <p:cNvSpPr/>
          <p:nvPr/>
        </p:nvSpPr>
        <p:spPr>
          <a:xfrm>
            <a:off x="6878241" y="3553063"/>
            <a:ext cx="571500" cy="571500"/>
          </a:xfrm>
          <a:prstGeom prst="roundRect">
            <a:avLst>
              <a:gd name="adj" fmla="val 23333"/>
            </a:avLst>
          </a:prstGeom>
          <a:solidFill>
            <a:srgbClr val="00E5FF">
              <a:alpha val="14000"/>
            </a:srgbClr>
          </a:solidFill>
          <a:ln w="7620">
            <a:solidFill>
              <a:srgbClr val="00E5FF">
                <a:alpha val="33000"/>
              </a:srgbClr>
            </a:solidFill>
            <a:prstDash val="solid"/>
          </a:ln>
        </p:spPr>
      </p:sp>
      <p:pic>
        <p:nvPicPr>
          <p:cNvPr id="17" name="Image 1" descr="preencoded.png">    </p:cNvPr>
          <p:cNvPicPr>
            <a:picLocks noChangeAspect="1"/>
          </p:cNvPicPr>
          <p:nvPr/>
        </p:nvPicPr>
        <p:blipFill>
          <a:blip r:embed="rId2"/>
          <a:stretch>
            <a:fillRect/>
          </a:stretch>
        </p:blipFill>
        <p:spPr>
          <a:xfrm>
            <a:off x="7021116" y="3695938"/>
            <a:ext cx="285750" cy="285750"/>
          </a:xfrm>
          <a:prstGeom prst="rect">
            <a:avLst/>
          </a:prstGeom>
        </p:spPr>
      </p:pic>
      <p:sp>
        <p:nvSpPr>
          <p:cNvPr id="18" name="Text 14"/>
          <p:cNvSpPr/>
          <p:nvPr/>
        </p:nvSpPr>
        <p:spPr>
          <a:xfrm>
            <a:off x="11062931" y="3553063"/>
            <a:ext cx="422910" cy="396240"/>
          </a:xfrm>
          <a:prstGeom prst="rect">
            <a:avLst/>
          </a:prstGeom>
          <a:noFill/>
          <a:ln/>
        </p:spPr>
        <p:txBody>
          <a:bodyPr wrap="square" lIns="25400" tIns="25400" rIns="25400" bIns="25400" rtlCol="0" anchor="t">
            <a:normAutofit/>
          </a:bodyPr>
          <a:lstStyle/>
          <a:p>
            <a:pPr algn="l" indent="0" marL="0">
              <a:buNone/>
            </a:pPr>
            <a:r>
              <a:rPr lang="en-US" sz="2100" b="1" spc="105" kern="0" dirty="0">
                <a:solidFill>
                  <a:srgbClr val="5C6A82"/>
                </a:solidFill>
                <a:latin typeface="Arial" pitchFamily="34" charset="0"/>
                <a:ea typeface="Arial" pitchFamily="34" charset="-122"/>
                <a:cs typeface="Arial" pitchFamily="34" charset="-120"/>
              </a:rPr>
              <a:t>02</a:t>
            </a:r>
            <a:endParaRPr lang="en-US" sz="2100" dirty="0"/>
          </a:p>
        </p:txBody>
      </p:sp>
      <p:sp>
        <p:nvSpPr>
          <p:cNvPr id="19" name="Text 15"/>
          <p:cNvSpPr/>
          <p:nvPr/>
        </p:nvSpPr>
        <p:spPr>
          <a:xfrm>
            <a:off x="6878241" y="4296013"/>
            <a:ext cx="4667342" cy="358140"/>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E7EEF7"/>
                </a:solidFill>
                <a:latin typeface="Arial" pitchFamily="34" charset="0"/>
                <a:ea typeface="Arial" pitchFamily="34" charset="-122"/>
                <a:cs typeface="Arial" pitchFamily="34" charset="-120"/>
              </a:rPr>
              <a:t>Avoid blocking genuine users</a:t>
            </a:r>
            <a:endParaRPr lang="en-US" sz="2100" dirty="0"/>
          </a:p>
        </p:txBody>
      </p:sp>
      <p:sp>
        <p:nvSpPr>
          <p:cNvPr id="20" name="Text 16"/>
          <p:cNvSpPr/>
          <p:nvPr/>
        </p:nvSpPr>
        <p:spPr>
          <a:xfrm>
            <a:off x="6878241" y="4787503"/>
            <a:ext cx="4667342"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8C9AB0"/>
                </a:solidFill>
                <a:latin typeface="Arial" pitchFamily="34" charset="0"/>
                <a:ea typeface="Arial" pitchFamily="34" charset="-122"/>
                <a:cs typeface="Arial" pitchFamily="34" charset="-120"/>
              </a:rPr>
              <a:t>Stop punishing whole countries to catch a few bad actors.</a:t>
            </a:r>
            <a:endParaRPr lang="en-US" sz="1500" dirty="0"/>
          </a:p>
        </p:txBody>
      </p:sp>
      <p:sp>
        <p:nvSpPr>
          <p:cNvPr id="21" name="Shape 17"/>
          <p:cNvSpPr/>
          <p:nvPr/>
        </p:nvSpPr>
        <p:spPr>
          <a:xfrm>
            <a:off x="11988760" y="3240643"/>
            <a:ext cx="5156240" cy="3008829"/>
          </a:xfrm>
          <a:prstGeom prst="roundRect">
            <a:avLst>
              <a:gd name="adj" fmla="val 5065"/>
            </a:avLst>
          </a:prstGeom>
          <a:solidFill>
            <a:srgbClr val="141E32">
              <a:alpha val="55000"/>
            </a:srgbClr>
          </a:solidFill>
          <a:ln w="7620">
            <a:solidFill>
              <a:srgbClr val="78A0D2">
                <a:alpha val="14000"/>
              </a:srgbClr>
            </a:solidFill>
            <a:prstDash val="solid"/>
          </a:ln>
        </p:spPr>
      </p:sp>
      <p:sp>
        <p:nvSpPr>
          <p:cNvPr id="22" name="Shape 18"/>
          <p:cNvSpPr/>
          <p:nvPr/>
        </p:nvSpPr>
        <p:spPr>
          <a:xfrm>
            <a:off x="12301181" y="3553063"/>
            <a:ext cx="571500" cy="571500"/>
          </a:xfrm>
          <a:prstGeom prst="roundRect">
            <a:avLst>
              <a:gd name="adj" fmla="val 23333"/>
            </a:avLst>
          </a:prstGeom>
          <a:solidFill>
            <a:srgbClr val="00E5FF">
              <a:alpha val="14000"/>
            </a:srgbClr>
          </a:solidFill>
          <a:ln w="7620">
            <a:solidFill>
              <a:srgbClr val="00E5FF">
                <a:alpha val="33000"/>
              </a:srgbClr>
            </a:solidFill>
            <a:prstDash val="solid"/>
          </a:ln>
        </p:spPr>
      </p:sp>
      <p:pic>
        <p:nvPicPr>
          <p:cNvPr id="23" name="Image 2" descr="preencoded.png">    </p:cNvPr>
          <p:cNvPicPr>
            <a:picLocks noChangeAspect="1"/>
          </p:cNvPicPr>
          <p:nvPr/>
        </p:nvPicPr>
        <p:blipFill>
          <a:blip r:embed="rId3"/>
          <a:stretch>
            <a:fillRect/>
          </a:stretch>
        </p:blipFill>
        <p:spPr>
          <a:xfrm>
            <a:off x="12444056" y="3695938"/>
            <a:ext cx="285750" cy="285750"/>
          </a:xfrm>
          <a:prstGeom prst="rect">
            <a:avLst/>
          </a:prstGeom>
        </p:spPr>
      </p:pic>
      <p:sp>
        <p:nvSpPr>
          <p:cNvPr id="24" name="Text 19"/>
          <p:cNvSpPr/>
          <p:nvPr/>
        </p:nvSpPr>
        <p:spPr>
          <a:xfrm>
            <a:off x="16485870" y="3553063"/>
            <a:ext cx="422910" cy="396240"/>
          </a:xfrm>
          <a:prstGeom prst="rect">
            <a:avLst/>
          </a:prstGeom>
          <a:noFill/>
          <a:ln/>
        </p:spPr>
        <p:txBody>
          <a:bodyPr wrap="square" lIns="25400" tIns="25400" rIns="25400" bIns="25400" rtlCol="0" anchor="t">
            <a:normAutofit/>
          </a:bodyPr>
          <a:lstStyle/>
          <a:p>
            <a:pPr algn="l" indent="0" marL="0">
              <a:buNone/>
            </a:pPr>
            <a:r>
              <a:rPr lang="en-US" sz="2100" b="1" spc="105" kern="0" dirty="0">
                <a:solidFill>
                  <a:srgbClr val="5C6A82"/>
                </a:solidFill>
                <a:latin typeface="Arial" pitchFamily="34" charset="0"/>
                <a:ea typeface="Arial" pitchFamily="34" charset="-122"/>
                <a:cs typeface="Arial" pitchFamily="34" charset="-120"/>
              </a:rPr>
              <a:t>03</a:t>
            </a:r>
            <a:endParaRPr lang="en-US" sz="2100" dirty="0"/>
          </a:p>
        </p:txBody>
      </p:sp>
      <p:sp>
        <p:nvSpPr>
          <p:cNvPr id="25" name="Text 20"/>
          <p:cNvSpPr/>
          <p:nvPr/>
        </p:nvSpPr>
        <p:spPr>
          <a:xfrm>
            <a:off x="12301181" y="4296013"/>
            <a:ext cx="4667342" cy="358140"/>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E7EEF7"/>
                </a:solidFill>
                <a:latin typeface="Arial" pitchFamily="34" charset="0"/>
                <a:ea typeface="Arial" pitchFamily="34" charset="-122"/>
                <a:cs typeface="Arial" pitchFamily="34" charset="-120"/>
              </a:rPr>
              <a:t>Reduce server overload</a:t>
            </a:r>
            <a:endParaRPr lang="en-US" sz="2100" dirty="0"/>
          </a:p>
        </p:txBody>
      </p:sp>
      <p:sp>
        <p:nvSpPr>
          <p:cNvPr id="26" name="Text 21"/>
          <p:cNvSpPr/>
          <p:nvPr/>
        </p:nvSpPr>
        <p:spPr>
          <a:xfrm>
            <a:off x="12301181" y="4787503"/>
            <a:ext cx="4667342"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8C9AB0"/>
                </a:solidFill>
                <a:latin typeface="Arial" pitchFamily="34" charset="0"/>
                <a:ea typeface="Arial" pitchFamily="34" charset="-122"/>
                <a:cs typeface="Arial" pitchFamily="34" charset="-120"/>
              </a:rPr>
              <a:t>Cut malicious traffic at the edge before it touches your application.</a:t>
            </a:r>
            <a:endParaRPr lang="en-US" sz="1500" dirty="0"/>
          </a:p>
        </p:txBody>
      </p:sp>
      <p:sp>
        <p:nvSpPr>
          <p:cNvPr id="27" name="Shape 22"/>
          <p:cNvSpPr/>
          <p:nvPr/>
        </p:nvSpPr>
        <p:spPr>
          <a:xfrm>
            <a:off x="1143000" y="6516171"/>
            <a:ext cx="5156121" cy="3008829"/>
          </a:xfrm>
          <a:prstGeom prst="roundRect">
            <a:avLst>
              <a:gd name="adj" fmla="val 5065"/>
            </a:avLst>
          </a:prstGeom>
          <a:solidFill>
            <a:srgbClr val="141E32">
              <a:alpha val="55000"/>
            </a:srgbClr>
          </a:solidFill>
          <a:ln w="7620">
            <a:solidFill>
              <a:srgbClr val="78A0D2">
                <a:alpha val="14000"/>
              </a:srgbClr>
            </a:solidFill>
            <a:prstDash val="solid"/>
          </a:ln>
        </p:spPr>
      </p:sp>
      <p:sp>
        <p:nvSpPr>
          <p:cNvPr id="28" name="Shape 23"/>
          <p:cNvSpPr/>
          <p:nvPr/>
        </p:nvSpPr>
        <p:spPr>
          <a:xfrm>
            <a:off x="1455420" y="6828592"/>
            <a:ext cx="571500" cy="571500"/>
          </a:xfrm>
          <a:prstGeom prst="roundRect">
            <a:avLst>
              <a:gd name="adj" fmla="val 23333"/>
            </a:avLst>
          </a:prstGeom>
          <a:solidFill>
            <a:srgbClr val="00E5FF">
              <a:alpha val="14000"/>
            </a:srgbClr>
          </a:solidFill>
          <a:ln w="7620">
            <a:solidFill>
              <a:srgbClr val="00E5FF">
                <a:alpha val="33000"/>
              </a:srgbClr>
            </a:solidFill>
            <a:prstDash val="solid"/>
          </a:ln>
        </p:spPr>
      </p:sp>
      <p:pic>
        <p:nvPicPr>
          <p:cNvPr id="29" name="Image 3" descr="preencoded.png">    </p:cNvPr>
          <p:cNvPicPr>
            <a:picLocks noChangeAspect="1"/>
          </p:cNvPicPr>
          <p:nvPr/>
        </p:nvPicPr>
        <p:blipFill>
          <a:blip r:embed="rId4"/>
          <a:stretch>
            <a:fillRect/>
          </a:stretch>
        </p:blipFill>
        <p:spPr>
          <a:xfrm>
            <a:off x="1598295" y="6971467"/>
            <a:ext cx="285750" cy="285750"/>
          </a:xfrm>
          <a:prstGeom prst="rect">
            <a:avLst/>
          </a:prstGeom>
        </p:spPr>
      </p:pic>
      <p:sp>
        <p:nvSpPr>
          <p:cNvPr id="30" name="Text 24"/>
          <p:cNvSpPr/>
          <p:nvPr/>
        </p:nvSpPr>
        <p:spPr>
          <a:xfrm>
            <a:off x="5639991" y="6828592"/>
            <a:ext cx="422910" cy="396240"/>
          </a:xfrm>
          <a:prstGeom prst="rect">
            <a:avLst/>
          </a:prstGeom>
          <a:noFill/>
          <a:ln/>
        </p:spPr>
        <p:txBody>
          <a:bodyPr wrap="square" lIns="25400" tIns="25400" rIns="25400" bIns="25400" rtlCol="0" anchor="t">
            <a:normAutofit/>
          </a:bodyPr>
          <a:lstStyle/>
          <a:p>
            <a:pPr algn="l" indent="0" marL="0">
              <a:buNone/>
            </a:pPr>
            <a:r>
              <a:rPr lang="en-US" sz="2100" b="1" spc="105" kern="0" dirty="0">
                <a:solidFill>
                  <a:srgbClr val="5C6A82"/>
                </a:solidFill>
                <a:latin typeface="Arial" pitchFamily="34" charset="0"/>
                <a:ea typeface="Arial" pitchFamily="34" charset="-122"/>
                <a:cs typeface="Arial" pitchFamily="34" charset="-120"/>
              </a:rPr>
              <a:t>04</a:t>
            </a:r>
            <a:endParaRPr lang="en-US" sz="2100" dirty="0"/>
          </a:p>
        </p:txBody>
      </p:sp>
      <p:sp>
        <p:nvSpPr>
          <p:cNvPr id="31" name="Text 25"/>
          <p:cNvSpPr/>
          <p:nvPr/>
        </p:nvSpPr>
        <p:spPr>
          <a:xfrm>
            <a:off x="1455420" y="7571542"/>
            <a:ext cx="4667219" cy="358140"/>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E7EEF7"/>
                </a:solidFill>
                <a:latin typeface="Arial" pitchFamily="34" charset="0"/>
                <a:ea typeface="Arial" pitchFamily="34" charset="-122"/>
                <a:cs typeface="Arial" pitchFamily="34" charset="-120"/>
              </a:rPr>
              <a:t>Stay cost-effective &amp; lightweight</a:t>
            </a:r>
            <a:endParaRPr lang="en-US" sz="2100" dirty="0"/>
          </a:p>
        </p:txBody>
      </p:sp>
      <p:sp>
        <p:nvSpPr>
          <p:cNvPr id="32" name="Text 26"/>
          <p:cNvSpPr/>
          <p:nvPr/>
        </p:nvSpPr>
        <p:spPr>
          <a:xfrm>
            <a:off x="1455420" y="8063032"/>
            <a:ext cx="4667219"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8C9AB0"/>
                </a:solidFill>
                <a:latin typeface="Arial" pitchFamily="34" charset="0"/>
                <a:ea typeface="Arial" pitchFamily="34" charset="-122"/>
                <a:cs typeface="Arial" pitchFamily="34" charset="-120"/>
              </a:rPr>
              <a:t>Run as middleware — no enterprise license, minimal footprint.</a:t>
            </a:r>
            <a:endParaRPr lang="en-US" sz="1500" dirty="0"/>
          </a:p>
        </p:txBody>
      </p:sp>
      <p:sp>
        <p:nvSpPr>
          <p:cNvPr id="33" name="Shape 27"/>
          <p:cNvSpPr/>
          <p:nvPr/>
        </p:nvSpPr>
        <p:spPr>
          <a:xfrm>
            <a:off x="6565821" y="6516171"/>
            <a:ext cx="5156240" cy="3008829"/>
          </a:xfrm>
          <a:prstGeom prst="roundRect">
            <a:avLst>
              <a:gd name="adj" fmla="val 5065"/>
            </a:avLst>
          </a:prstGeom>
          <a:solidFill>
            <a:srgbClr val="141E32">
              <a:alpha val="55000"/>
            </a:srgbClr>
          </a:solidFill>
          <a:ln w="7620">
            <a:solidFill>
              <a:srgbClr val="78A0D2">
                <a:alpha val="14000"/>
              </a:srgbClr>
            </a:solidFill>
            <a:prstDash val="solid"/>
          </a:ln>
        </p:spPr>
      </p:sp>
      <p:sp>
        <p:nvSpPr>
          <p:cNvPr id="34" name="Shape 28"/>
          <p:cNvSpPr/>
          <p:nvPr/>
        </p:nvSpPr>
        <p:spPr>
          <a:xfrm>
            <a:off x="6878241" y="6828592"/>
            <a:ext cx="571500" cy="571500"/>
          </a:xfrm>
          <a:prstGeom prst="roundRect">
            <a:avLst>
              <a:gd name="adj" fmla="val 23333"/>
            </a:avLst>
          </a:prstGeom>
          <a:solidFill>
            <a:srgbClr val="00E5FF">
              <a:alpha val="14000"/>
            </a:srgbClr>
          </a:solidFill>
          <a:ln w="7620">
            <a:solidFill>
              <a:srgbClr val="00E5FF">
                <a:alpha val="33000"/>
              </a:srgbClr>
            </a:solidFill>
            <a:prstDash val="solid"/>
          </a:ln>
        </p:spPr>
      </p:sp>
      <p:pic>
        <p:nvPicPr>
          <p:cNvPr id="35" name="Image 4" descr="preencoded.png">    </p:cNvPr>
          <p:cNvPicPr>
            <a:picLocks noChangeAspect="1"/>
          </p:cNvPicPr>
          <p:nvPr/>
        </p:nvPicPr>
        <p:blipFill>
          <a:blip r:embed="rId5"/>
          <a:stretch>
            <a:fillRect/>
          </a:stretch>
        </p:blipFill>
        <p:spPr>
          <a:xfrm>
            <a:off x="7021116" y="6971467"/>
            <a:ext cx="285750" cy="285750"/>
          </a:xfrm>
          <a:prstGeom prst="rect">
            <a:avLst/>
          </a:prstGeom>
        </p:spPr>
      </p:pic>
      <p:sp>
        <p:nvSpPr>
          <p:cNvPr id="36" name="Text 29"/>
          <p:cNvSpPr/>
          <p:nvPr/>
        </p:nvSpPr>
        <p:spPr>
          <a:xfrm>
            <a:off x="11062931" y="6828592"/>
            <a:ext cx="422910" cy="396240"/>
          </a:xfrm>
          <a:prstGeom prst="rect">
            <a:avLst/>
          </a:prstGeom>
          <a:noFill/>
          <a:ln/>
        </p:spPr>
        <p:txBody>
          <a:bodyPr wrap="square" lIns="25400" tIns="25400" rIns="25400" bIns="25400" rtlCol="0" anchor="t">
            <a:normAutofit/>
          </a:bodyPr>
          <a:lstStyle/>
          <a:p>
            <a:pPr algn="l" indent="0" marL="0">
              <a:buNone/>
            </a:pPr>
            <a:r>
              <a:rPr lang="en-US" sz="2100" b="1" spc="105" kern="0" dirty="0">
                <a:solidFill>
                  <a:srgbClr val="5C6A82"/>
                </a:solidFill>
                <a:latin typeface="Arial" pitchFamily="34" charset="0"/>
                <a:ea typeface="Arial" pitchFamily="34" charset="-122"/>
                <a:cs typeface="Arial" pitchFamily="34" charset="-120"/>
              </a:rPr>
              <a:t>05</a:t>
            </a:r>
            <a:endParaRPr lang="en-US" sz="2100" dirty="0"/>
          </a:p>
        </p:txBody>
      </p:sp>
      <p:sp>
        <p:nvSpPr>
          <p:cNvPr id="37" name="Text 30"/>
          <p:cNvSpPr/>
          <p:nvPr/>
        </p:nvSpPr>
        <p:spPr>
          <a:xfrm>
            <a:off x="6878241" y="7571542"/>
            <a:ext cx="4667342" cy="358140"/>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E7EEF7"/>
                </a:solidFill>
                <a:latin typeface="Arial" pitchFamily="34" charset="0"/>
                <a:ea typeface="Arial" pitchFamily="34" charset="-122"/>
                <a:cs typeface="Arial" pitchFamily="34" charset="-120"/>
              </a:rPr>
              <a:t>Real-time monitoring dashboard</a:t>
            </a:r>
            <a:endParaRPr lang="en-US" sz="2100" dirty="0"/>
          </a:p>
        </p:txBody>
      </p:sp>
      <p:sp>
        <p:nvSpPr>
          <p:cNvPr id="38" name="Text 31"/>
          <p:cNvSpPr/>
          <p:nvPr/>
        </p:nvSpPr>
        <p:spPr>
          <a:xfrm>
            <a:off x="6878241" y="8063032"/>
            <a:ext cx="4667342"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8C9AB0"/>
                </a:solidFill>
                <a:latin typeface="Arial" pitchFamily="34" charset="0"/>
                <a:ea typeface="Arial" pitchFamily="34" charset="-122"/>
                <a:cs typeface="Arial" pitchFamily="34" charset="-120"/>
              </a:rPr>
              <a:t>Give operators a live view of attacks, decisions, and risk scores.</a:t>
            </a:r>
            <a:endParaRPr lang="en-US" sz="1500" dirty="0"/>
          </a:p>
        </p:txBody>
      </p:sp>
      <p:sp>
        <p:nvSpPr>
          <p:cNvPr id="39" name="Shape 32"/>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40" name="Text 33"/>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41" name="Text 34"/>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07/17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06/</a:t>
            </a:r>
            <a:endParaRPr lang="en-US" sz="1800" dirty="0"/>
          </a:p>
        </p:txBody>
      </p:sp>
      <p:sp>
        <p:nvSpPr>
          <p:cNvPr id="7" name="Text 5"/>
          <p:cNvSpPr/>
          <p:nvPr/>
        </p:nvSpPr>
        <p:spPr>
          <a:xfrm>
            <a:off x="1935480" y="967740"/>
            <a:ext cx="2745170"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PROPOSED WORK</a:t>
            </a:r>
            <a:endParaRPr lang="en-US" sz="1800" dirty="0"/>
          </a:p>
        </p:txBody>
      </p:sp>
      <p:sp>
        <p:nvSpPr>
          <p:cNvPr id="8" name="Text 6"/>
          <p:cNvSpPr/>
          <p:nvPr/>
        </p:nvSpPr>
        <p:spPr>
          <a:xfrm>
            <a:off x="1143000" y="1428750"/>
            <a:ext cx="14504213"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SmartShield AI sits between traffic and your site — and decides per request</a:t>
            </a:r>
            <a:endParaRPr lang="en-US" sz="4800" dirty="0"/>
          </a:p>
        </p:txBody>
      </p:sp>
      <p:sp>
        <p:nvSpPr>
          <p:cNvPr id="9" name="Shape 7"/>
          <p:cNvSpPr/>
          <p:nvPr/>
        </p:nvSpPr>
        <p:spPr>
          <a:xfrm>
            <a:off x="1143000" y="4955977"/>
            <a:ext cx="4113847" cy="1322070"/>
          </a:xfrm>
          <a:prstGeom prst="roundRect">
            <a:avLst>
              <a:gd name="adj" fmla="val 11527"/>
            </a:avLst>
          </a:prstGeom>
          <a:solidFill>
            <a:srgbClr val="141E32">
              <a:alpha val="55000"/>
            </a:srgbClr>
          </a:solidFill>
          <a:ln w="7620">
            <a:solidFill>
              <a:srgbClr val="78A0D2">
                <a:alpha val="14000"/>
              </a:srgbClr>
            </a:solidFill>
            <a:prstDash val="solid"/>
          </a:ln>
        </p:spPr>
      </p:sp>
      <p:sp>
        <p:nvSpPr>
          <p:cNvPr id="10" name="Shape 8"/>
          <p:cNvSpPr/>
          <p:nvPr/>
        </p:nvSpPr>
        <p:spPr>
          <a:xfrm>
            <a:off x="1398270" y="5211246"/>
            <a:ext cx="495300" cy="495300"/>
          </a:xfrm>
          <a:prstGeom prst="roundRect">
            <a:avLst>
              <a:gd name="adj" fmla="val 23077"/>
            </a:avLst>
          </a:prstGeom>
          <a:solidFill>
            <a:srgbClr val="00E5FF">
              <a:alpha val="19000"/>
            </a:srgbClr>
          </a:solidFill>
          <a:ln w="7620">
            <a:solidFill>
              <a:srgbClr val="00E5FF">
                <a:alpha val="40000"/>
              </a:srgbClr>
            </a:solidFill>
            <a:prstDash val="solid"/>
          </a:ln>
        </p:spPr>
      </p:sp>
      <p:pic>
        <p:nvPicPr>
          <p:cNvPr id="11" name="Image 0" descr="preencoded.png">    </p:cNvPr>
          <p:cNvPicPr>
            <a:picLocks noChangeAspect="1"/>
          </p:cNvPicPr>
          <p:nvPr/>
        </p:nvPicPr>
        <p:blipFill>
          <a:blip r:embed="rId1"/>
          <a:stretch>
            <a:fillRect/>
          </a:stretch>
        </p:blipFill>
        <p:spPr>
          <a:xfrm>
            <a:off x="1522095" y="5335071"/>
            <a:ext cx="247650" cy="247650"/>
          </a:xfrm>
          <a:prstGeom prst="rect">
            <a:avLst/>
          </a:prstGeom>
        </p:spPr>
      </p:pic>
      <p:sp>
        <p:nvSpPr>
          <p:cNvPr id="12" name="Text 9"/>
          <p:cNvSpPr/>
          <p:nvPr/>
        </p:nvSpPr>
        <p:spPr>
          <a:xfrm>
            <a:off x="2065020" y="5211246"/>
            <a:ext cx="302465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E7EEF7"/>
                </a:solidFill>
                <a:latin typeface="Arial" pitchFamily="34" charset="0"/>
                <a:ea typeface="Arial" pitchFamily="34" charset="-122"/>
                <a:cs typeface="Arial" pitchFamily="34" charset="-120"/>
              </a:rPr>
              <a:t>Middleware layer</a:t>
            </a:r>
            <a:endParaRPr lang="en-US" sz="1800" dirty="0"/>
          </a:p>
        </p:txBody>
      </p:sp>
      <p:sp>
        <p:nvSpPr>
          <p:cNvPr id="13" name="Text 10"/>
          <p:cNvSpPr/>
          <p:nvPr/>
        </p:nvSpPr>
        <p:spPr>
          <a:xfrm>
            <a:off x="2065020" y="5542717"/>
            <a:ext cx="3024654"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Sits between the client and your app — drop-in, no rewrite.</a:t>
            </a:r>
            <a:endParaRPr lang="en-US" sz="1350" dirty="0"/>
          </a:p>
        </p:txBody>
      </p:sp>
      <p:sp>
        <p:nvSpPr>
          <p:cNvPr id="14" name="Shape 11"/>
          <p:cNvSpPr/>
          <p:nvPr/>
        </p:nvSpPr>
        <p:spPr>
          <a:xfrm>
            <a:off x="5466398" y="4955977"/>
            <a:ext cx="4113967" cy="1322070"/>
          </a:xfrm>
          <a:prstGeom prst="roundRect">
            <a:avLst>
              <a:gd name="adj" fmla="val 11527"/>
            </a:avLst>
          </a:prstGeom>
          <a:solidFill>
            <a:srgbClr val="141E32">
              <a:alpha val="55000"/>
            </a:srgbClr>
          </a:solidFill>
          <a:ln w="7620">
            <a:solidFill>
              <a:srgbClr val="78A0D2">
                <a:alpha val="14000"/>
              </a:srgbClr>
            </a:solidFill>
            <a:prstDash val="solid"/>
          </a:ln>
        </p:spPr>
      </p:sp>
      <p:sp>
        <p:nvSpPr>
          <p:cNvPr id="15" name="Shape 12"/>
          <p:cNvSpPr/>
          <p:nvPr/>
        </p:nvSpPr>
        <p:spPr>
          <a:xfrm>
            <a:off x="5721668" y="5211246"/>
            <a:ext cx="495300" cy="495300"/>
          </a:xfrm>
          <a:prstGeom prst="roundRect">
            <a:avLst>
              <a:gd name="adj" fmla="val 23077"/>
            </a:avLst>
          </a:prstGeom>
          <a:solidFill>
            <a:srgbClr val="00E5FF">
              <a:alpha val="19000"/>
            </a:srgbClr>
          </a:solidFill>
          <a:ln w="7620">
            <a:solidFill>
              <a:srgbClr val="00E5FF">
                <a:alpha val="40000"/>
              </a:srgbClr>
            </a:solidFill>
            <a:prstDash val="solid"/>
          </a:ln>
        </p:spPr>
      </p:sp>
      <p:pic>
        <p:nvPicPr>
          <p:cNvPr id="16" name="Image 1" descr="preencoded.png">    </p:cNvPr>
          <p:cNvPicPr>
            <a:picLocks noChangeAspect="1"/>
          </p:cNvPicPr>
          <p:nvPr/>
        </p:nvPicPr>
        <p:blipFill>
          <a:blip r:embed="rId2"/>
          <a:stretch>
            <a:fillRect/>
          </a:stretch>
        </p:blipFill>
        <p:spPr>
          <a:xfrm>
            <a:off x="5845493" y="5335071"/>
            <a:ext cx="247650" cy="247650"/>
          </a:xfrm>
          <a:prstGeom prst="rect">
            <a:avLst/>
          </a:prstGeom>
        </p:spPr>
      </p:pic>
      <p:sp>
        <p:nvSpPr>
          <p:cNvPr id="17" name="Text 13"/>
          <p:cNvSpPr/>
          <p:nvPr/>
        </p:nvSpPr>
        <p:spPr>
          <a:xfrm>
            <a:off x="6388418" y="5211246"/>
            <a:ext cx="3024777"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E7EEF7"/>
                </a:solidFill>
                <a:latin typeface="Arial" pitchFamily="34" charset="0"/>
                <a:ea typeface="Arial" pitchFamily="34" charset="-122"/>
                <a:cs typeface="Arial" pitchFamily="34" charset="-120"/>
              </a:rPr>
              <a:t>AI risk-scoring engine</a:t>
            </a:r>
            <a:endParaRPr lang="en-US" sz="1800" dirty="0"/>
          </a:p>
        </p:txBody>
      </p:sp>
      <p:sp>
        <p:nvSpPr>
          <p:cNvPr id="18" name="Text 14"/>
          <p:cNvSpPr/>
          <p:nvPr/>
        </p:nvSpPr>
        <p:spPr>
          <a:xfrm>
            <a:off x="6388418" y="5542717"/>
            <a:ext cx="3024777"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Scores every request 0–100 from behavior + signal features.</a:t>
            </a:r>
            <a:endParaRPr lang="en-US" sz="1350" dirty="0"/>
          </a:p>
        </p:txBody>
      </p:sp>
      <p:sp>
        <p:nvSpPr>
          <p:cNvPr id="19" name="Shape 15"/>
          <p:cNvSpPr/>
          <p:nvPr/>
        </p:nvSpPr>
        <p:spPr>
          <a:xfrm>
            <a:off x="1143000" y="6487596"/>
            <a:ext cx="4113847" cy="1322070"/>
          </a:xfrm>
          <a:prstGeom prst="roundRect">
            <a:avLst>
              <a:gd name="adj" fmla="val 11527"/>
            </a:avLst>
          </a:prstGeom>
          <a:solidFill>
            <a:srgbClr val="141E32">
              <a:alpha val="55000"/>
            </a:srgbClr>
          </a:solidFill>
          <a:ln w="7620">
            <a:solidFill>
              <a:srgbClr val="78A0D2">
                <a:alpha val="14000"/>
              </a:srgbClr>
            </a:solidFill>
            <a:prstDash val="solid"/>
          </a:ln>
        </p:spPr>
      </p:sp>
      <p:sp>
        <p:nvSpPr>
          <p:cNvPr id="20" name="Shape 16"/>
          <p:cNvSpPr/>
          <p:nvPr/>
        </p:nvSpPr>
        <p:spPr>
          <a:xfrm>
            <a:off x="1398270" y="6742867"/>
            <a:ext cx="495300" cy="495300"/>
          </a:xfrm>
          <a:prstGeom prst="roundRect">
            <a:avLst>
              <a:gd name="adj" fmla="val 23077"/>
            </a:avLst>
          </a:prstGeom>
          <a:solidFill>
            <a:srgbClr val="00E5FF">
              <a:alpha val="19000"/>
            </a:srgbClr>
          </a:solidFill>
          <a:ln w="7620">
            <a:solidFill>
              <a:srgbClr val="00E5FF">
                <a:alpha val="40000"/>
              </a:srgbClr>
            </a:solidFill>
            <a:prstDash val="solid"/>
          </a:ln>
        </p:spPr>
      </p:sp>
      <p:pic>
        <p:nvPicPr>
          <p:cNvPr id="21" name="Image 2" descr="preencoded.png">    </p:cNvPr>
          <p:cNvPicPr>
            <a:picLocks noChangeAspect="1"/>
          </p:cNvPicPr>
          <p:nvPr/>
        </p:nvPicPr>
        <p:blipFill>
          <a:blip r:embed="rId3"/>
          <a:stretch>
            <a:fillRect/>
          </a:stretch>
        </p:blipFill>
        <p:spPr>
          <a:xfrm>
            <a:off x="1522095" y="6866692"/>
            <a:ext cx="247650" cy="247650"/>
          </a:xfrm>
          <a:prstGeom prst="rect">
            <a:avLst/>
          </a:prstGeom>
        </p:spPr>
      </p:pic>
      <p:sp>
        <p:nvSpPr>
          <p:cNvPr id="22" name="Text 17"/>
          <p:cNvSpPr/>
          <p:nvPr/>
        </p:nvSpPr>
        <p:spPr>
          <a:xfrm>
            <a:off x="2065020" y="6742867"/>
            <a:ext cx="302465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E7EEF7"/>
                </a:solidFill>
                <a:latin typeface="Arial" pitchFamily="34" charset="0"/>
                <a:ea typeface="Arial" pitchFamily="34" charset="-122"/>
                <a:cs typeface="Arial" pitchFamily="34" charset="-120"/>
              </a:rPr>
              <a:t>JS challenge filter</a:t>
            </a:r>
            <a:endParaRPr lang="en-US" sz="1800" dirty="0"/>
          </a:p>
        </p:txBody>
      </p:sp>
      <p:sp>
        <p:nvSpPr>
          <p:cNvPr id="23" name="Text 18"/>
          <p:cNvSpPr/>
          <p:nvPr/>
        </p:nvSpPr>
        <p:spPr>
          <a:xfrm>
            <a:off x="2065020" y="7074337"/>
            <a:ext cx="3024654"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Borderline traffic gets a silent JS challenge before passing.</a:t>
            </a:r>
            <a:endParaRPr lang="en-US" sz="1350" dirty="0"/>
          </a:p>
        </p:txBody>
      </p:sp>
      <p:sp>
        <p:nvSpPr>
          <p:cNvPr id="24" name="Shape 19"/>
          <p:cNvSpPr/>
          <p:nvPr/>
        </p:nvSpPr>
        <p:spPr>
          <a:xfrm>
            <a:off x="5466398" y="6487596"/>
            <a:ext cx="4113967" cy="1322070"/>
          </a:xfrm>
          <a:prstGeom prst="roundRect">
            <a:avLst>
              <a:gd name="adj" fmla="val 11527"/>
            </a:avLst>
          </a:prstGeom>
          <a:solidFill>
            <a:srgbClr val="141E32">
              <a:alpha val="55000"/>
            </a:srgbClr>
          </a:solidFill>
          <a:ln w="7620">
            <a:solidFill>
              <a:srgbClr val="78A0D2">
                <a:alpha val="14000"/>
              </a:srgbClr>
            </a:solidFill>
            <a:prstDash val="solid"/>
          </a:ln>
        </p:spPr>
      </p:sp>
      <p:sp>
        <p:nvSpPr>
          <p:cNvPr id="25" name="Shape 20"/>
          <p:cNvSpPr/>
          <p:nvPr/>
        </p:nvSpPr>
        <p:spPr>
          <a:xfrm>
            <a:off x="5721668" y="6742867"/>
            <a:ext cx="495300" cy="495300"/>
          </a:xfrm>
          <a:prstGeom prst="roundRect">
            <a:avLst>
              <a:gd name="adj" fmla="val 23077"/>
            </a:avLst>
          </a:prstGeom>
          <a:solidFill>
            <a:srgbClr val="00E5FF">
              <a:alpha val="19000"/>
            </a:srgbClr>
          </a:solidFill>
          <a:ln w="7620">
            <a:solidFill>
              <a:srgbClr val="00E5FF">
                <a:alpha val="40000"/>
              </a:srgbClr>
            </a:solidFill>
            <a:prstDash val="solid"/>
          </a:ln>
        </p:spPr>
      </p:sp>
      <p:pic>
        <p:nvPicPr>
          <p:cNvPr id="26" name="Image 3" descr="preencoded.png">    </p:cNvPr>
          <p:cNvPicPr>
            <a:picLocks noChangeAspect="1"/>
          </p:cNvPicPr>
          <p:nvPr/>
        </p:nvPicPr>
        <p:blipFill>
          <a:blip r:embed="rId4"/>
          <a:stretch>
            <a:fillRect/>
          </a:stretch>
        </p:blipFill>
        <p:spPr>
          <a:xfrm>
            <a:off x="5845493" y="6866692"/>
            <a:ext cx="247650" cy="247650"/>
          </a:xfrm>
          <a:prstGeom prst="rect">
            <a:avLst/>
          </a:prstGeom>
        </p:spPr>
      </p:pic>
      <p:sp>
        <p:nvSpPr>
          <p:cNvPr id="27" name="Text 21"/>
          <p:cNvSpPr/>
          <p:nvPr/>
        </p:nvSpPr>
        <p:spPr>
          <a:xfrm>
            <a:off x="6388418" y="6742867"/>
            <a:ext cx="3024777"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E7EEF7"/>
                </a:solidFill>
                <a:latin typeface="Arial" pitchFamily="34" charset="0"/>
                <a:ea typeface="Arial" pitchFamily="34" charset="-122"/>
                <a:cs typeface="Arial" pitchFamily="34" charset="-120"/>
              </a:rPr>
              <a:t>Real-time dashboard</a:t>
            </a:r>
            <a:endParaRPr lang="en-US" sz="1800" dirty="0"/>
          </a:p>
        </p:txBody>
      </p:sp>
      <p:sp>
        <p:nvSpPr>
          <p:cNvPr id="28" name="Text 22"/>
          <p:cNvSpPr/>
          <p:nvPr/>
        </p:nvSpPr>
        <p:spPr>
          <a:xfrm>
            <a:off x="6388418" y="7074337"/>
            <a:ext cx="3024777"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Live view of decisions, scores, and attack patterns.</a:t>
            </a:r>
            <a:endParaRPr lang="en-US" sz="1350" dirty="0"/>
          </a:p>
        </p:txBody>
      </p:sp>
      <p:pic>
        <p:nvPicPr>
          <p:cNvPr id="29" name="Image 4" descr="preencoded.png">    </p:cNvPr>
          <p:cNvPicPr>
            <a:picLocks noChangeAspect="1"/>
          </p:cNvPicPr>
          <p:nvPr/>
        </p:nvPicPr>
        <p:blipFill>
          <a:blip r:embed="rId5"/>
          <a:stretch>
            <a:fillRect/>
          </a:stretch>
        </p:blipFill>
        <p:spPr>
          <a:xfrm>
            <a:off x="10113764" y="4096822"/>
            <a:ext cx="7031117" cy="4572000"/>
          </a:xfrm>
          <a:prstGeom prst="rect">
            <a:avLst/>
          </a:prstGeom>
        </p:spPr>
      </p:pic>
      <p:sp>
        <p:nvSpPr>
          <p:cNvPr id="30" name="Shape 23"/>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31" name="Text 24"/>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32" name="Text 25"/>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08/17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07/</a:t>
            </a:r>
            <a:endParaRPr lang="en-US" sz="1800" dirty="0"/>
          </a:p>
        </p:txBody>
      </p:sp>
      <p:sp>
        <p:nvSpPr>
          <p:cNvPr id="7" name="Text 5"/>
          <p:cNvSpPr/>
          <p:nvPr/>
        </p:nvSpPr>
        <p:spPr>
          <a:xfrm>
            <a:off x="1935480" y="967740"/>
            <a:ext cx="3847040"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SYSTEM ARCHITECTURE</a:t>
            </a:r>
            <a:endParaRPr lang="en-US" sz="1800" dirty="0"/>
          </a:p>
        </p:txBody>
      </p:sp>
      <p:sp>
        <p:nvSpPr>
          <p:cNvPr id="8" name="Text 6"/>
          <p:cNvSpPr/>
          <p:nvPr/>
        </p:nvSpPr>
        <p:spPr>
          <a:xfrm>
            <a:off x="1143000" y="1428750"/>
            <a:ext cx="14504213"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Every request flows through a four-stage pipeline before reaching the site</a:t>
            </a:r>
            <a:endParaRPr lang="en-US" sz="4800" dirty="0"/>
          </a:p>
        </p:txBody>
      </p:sp>
      <p:sp>
        <p:nvSpPr>
          <p:cNvPr id="9" name="Shape 7"/>
          <p:cNvSpPr/>
          <p:nvPr/>
        </p:nvSpPr>
        <p:spPr>
          <a:xfrm>
            <a:off x="1476375" y="4624507"/>
            <a:ext cx="1238250" cy="1238250"/>
          </a:xfrm>
          <a:prstGeom prst="roundRect">
            <a:avLst>
              <a:gd name="adj" fmla="val 18462"/>
            </a:avLst>
          </a:prstGeom>
          <a:solidFill>
            <a:srgbClr val="0E1422"/>
          </a:solidFill>
          <a:ln w="15240">
            <a:solidFill>
              <a:srgbClr val="00E5FF">
                <a:alpha val="32000"/>
              </a:srgbClr>
            </a:solidFill>
            <a:prstDash val="solid"/>
          </a:ln>
          <a:effectLst>
            <a:outerShdw sx="100000" sy="100000" kx="0" ky="0" algn="bl" rotWithShape="0" blurRad="190500" dist="50800" dir="16200000">
              <a:srgbClr val="00E5FF">
                <a:alpha val="8200"/>
              </a:srgbClr>
            </a:outerShdw>
          </a:effectLst>
        </p:spPr>
      </p:sp>
      <p:pic>
        <p:nvPicPr>
          <p:cNvPr id="10" name="Image 0" descr="preencoded.png">    </p:cNvPr>
          <p:cNvPicPr>
            <a:picLocks noChangeAspect="1"/>
          </p:cNvPicPr>
          <p:nvPr/>
        </p:nvPicPr>
        <p:blipFill>
          <a:blip r:embed="rId1"/>
          <a:stretch>
            <a:fillRect/>
          </a:stretch>
        </p:blipFill>
        <p:spPr>
          <a:xfrm>
            <a:off x="1866900" y="5015032"/>
            <a:ext cx="457200" cy="457200"/>
          </a:xfrm>
          <a:prstGeom prst="rect">
            <a:avLst/>
          </a:prstGeom>
        </p:spPr>
      </p:pic>
      <p:sp>
        <p:nvSpPr>
          <p:cNvPr id="11" name="Text 8"/>
          <p:cNvSpPr/>
          <p:nvPr/>
        </p:nvSpPr>
        <p:spPr>
          <a:xfrm>
            <a:off x="1835587" y="6015157"/>
            <a:ext cx="595908"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E7EEF7"/>
                </a:solidFill>
                <a:latin typeface="Arial" pitchFamily="34" charset="0"/>
                <a:ea typeface="Arial" pitchFamily="34" charset="-122"/>
                <a:cs typeface="Arial" pitchFamily="34" charset="-120"/>
              </a:rPr>
              <a:t>User</a:t>
            </a:r>
            <a:endParaRPr lang="en-US" sz="1800" dirty="0"/>
          </a:p>
        </p:txBody>
      </p:sp>
      <p:sp>
        <p:nvSpPr>
          <p:cNvPr id="12" name="Text 9"/>
          <p:cNvSpPr/>
          <p:nvPr/>
        </p:nvSpPr>
        <p:spPr>
          <a:xfrm>
            <a:off x="1584484" y="6441877"/>
            <a:ext cx="1022033" cy="236220"/>
          </a:xfrm>
          <a:prstGeom prst="rect">
            <a:avLst/>
          </a:prstGeom>
          <a:noFill/>
          <a:ln/>
        </p:spPr>
        <p:txBody>
          <a:bodyPr wrap="square" lIns="25400" tIns="25400" rIns="25400" bIns="25400" rtlCol="0" anchor="t">
            <a:normAutofit/>
          </a:bodyPr>
          <a:lstStyle/>
          <a:p>
            <a:pPr algn="ctr" indent="0" marL="0">
              <a:lnSpc>
                <a:spcPct val="130000"/>
              </a:lnSpc>
              <a:buNone/>
            </a:pPr>
            <a:r>
              <a:rPr lang="en-US" sz="1200" dirty="0">
                <a:solidFill>
                  <a:srgbClr val="5C6A82"/>
                </a:solidFill>
                <a:latin typeface="Arial" pitchFamily="34" charset="0"/>
                <a:ea typeface="Arial" pitchFamily="34" charset="-122"/>
                <a:cs typeface="Arial" pitchFamily="34" charset="-120"/>
              </a:rPr>
              <a:t>HTTP request</a:t>
            </a:r>
            <a:endParaRPr lang="en-US" sz="1200" dirty="0"/>
          </a:p>
        </p:txBody>
      </p:sp>
      <p:pic>
        <p:nvPicPr>
          <p:cNvPr id="13" name="Image 1" descr="preencoded.png">    </p:cNvPr>
          <p:cNvPicPr>
            <a:picLocks noChangeAspect="1"/>
          </p:cNvPicPr>
          <p:nvPr/>
        </p:nvPicPr>
        <p:blipFill>
          <a:blip r:embed="rId2"/>
          <a:stretch>
            <a:fillRect/>
          </a:stretch>
        </p:blipFill>
        <p:spPr>
          <a:xfrm>
            <a:off x="3086100" y="5346502"/>
            <a:ext cx="1543050" cy="571500"/>
          </a:xfrm>
          <a:prstGeom prst="rect">
            <a:avLst/>
          </a:prstGeom>
        </p:spPr>
      </p:pic>
      <p:sp>
        <p:nvSpPr>
          <p:cNvPr id="14" name="Shape 10"/>
          <p:cNvSpPr/>
          <p:nvPr/>
        </p:nvSpPr>
        <p:spPr>
          <a:xfrm>
            <a:off x="4499610" y="5578912"/>
            <a:ext cx="91440" cy="106680"/>
          </a:xfrm>
          <a:prstGeom prst="rect">
            <a:avLst/>
          </a:prstGeom>
          <a:solidFill>
            <a:srgbClr val="00E5FF"/>
          </a:solidFill>
          <a:ln/>
        </p:spPr>
      </p:sp>
      <p:sp>
        <p:nvSpPr>
          <p:cNvPr id="15" name="Shape 11"/>
          <p:cNvSpPr/>
          <p:nvPr/>
        </p:nvSpPr>
        <p:spPr>
          <a:xfrm>
            <a:off x="5000625" y="4525447"/>
            <a:ext cx="1238250" cy="1238250"/>
          </a:xfrm>
          <a:prstGeom prst="roundRect">
            <a:avLst>
              <a:gd name="adj" fmla="val 18462"/>
            </a:avLst>
          </a:prstGeom>
          <a:solidFill>
            <a:srgbClr val="0E1422"/>
          </a:solidFill>
          <a:ln w="15240">
            <a:solidFill>
              <a:srgbClr val="00E5FF">
                <a:alpha val="32000"/>
              </a:srgbClr>
            </a:solidFill>
            <a:prstDash val="solid"/>
          </a:ln>
          <a:effectLst>
            <a:outerShdw sx="100000" sy="100000" kx="0" ky="0" algn="bl" rotWithShape="0" blurRad="190500" dist="50800" dir="16200000">
              <a:srgbClr val="00E5FF">
                <a:alpha val="8200"/>
              </a:srgbClr>
            </a:outerShdw>
          </a:effectLst>
        </p:spPr>
      </p:sp>
      <p:pic>
        <p:nvPicPr>
          <p:cNvPr id="16" name="Image 2" descr="preencoded.png">    </p:cNvPr>
          <p:cNvPicPr>
            <a:picLocks noChangeAspect="1"/>
          </p:cNvPicPr>
          <p:nvPr/>
        </p:nvPicPr>
        <p:blipFill>
          <a:blip r:embed="rId3"/>
          <a:stretch>
            <a:fillRect/>
          </a:stretch>
        </p:blipFill>
        <p:spPr>
          <a:xfrm>
            <a:off x="5391150" y="4915971"/>
            <a:ext cx="457200" cy="457200"/>
          </a:xfrm>
          <a:prstGeom prst="rect">
            <a:avLst/>
          </a:prstGeom>
        </p:spPr>
      </p:pic>
      <p:sp>
        <p:nvSpPr>
          <p:cNvPr id="17" name="Text 12"/>
          <p:cNvSpPr/>
          <p:nvPr/>
        </p:nvSpPr>
        <p:spPr>
          <a:xfrm>
            <a:off x="4974074" y="5916096"/>
            <a:ext cx="1367433"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E7EEF7"/>
                </a:solidFill>
                <a:latin typeface="Arial" pitchFamily="34" charset="0"/>
                <a:ea typeface="Arial" pitchFamily="34" charset="-122"/>
                <a:cs typeface="Arial" pitchFamily="34" charset="-120"/>
              </a:rPr>
              <a:t>Middleware</a:t>
            </a:r>
            <a:endParaRPr lang="en-US" sz="1800" dirty="0"/>
          </a:p>
        </p:txBody>
      </p:sp>
      <p:sp>
        <p:nvSpPr>
          <p:cNvPr id="18" name="Text 13"/>
          <p:cNvSpPr/>
          <p:nvPr/>
        </p:nvSpPr>
        <p:spPr>
          <a:xfrm>
            <a:off x="4724400" y="6342817"/>
            <a:ext cx="1790700" cy="434340"/>
          </a:xfrm>
          <a:prstGeom prst="rect">
            <a:avLst/>
          </a:prstGeom>
          <a:noFill/>
          <a:ln/>
        </p:spPr>
        <p:txBody>
          <a:bodyPr wrap="square" lIns="25400" tIns="25400" rIns="25400" bIns="25400" rtlCol="0" anchor="t">
            <a:normAutofit/>
          </a:bodyPr>
          <a:lstStyle/>
          <a:p>
            <a:pPr algn="ctr" indent="0" marL="0">
              <a:lnSpc>
                <a:spcPct val="130000"/>
              </a:lnSpc>
              <a:buNone/>
            </a:pPr>
            <a:r>
              <a:rPr lang="en-US" sz="1200" dirty="0">
                <a:solidFill>
                  <a:srgbClr val="5C6A82"/>
                </a:solidFill>
                <a:latin typeface="Arial" pitchFamily="34" charset="0"/>
                <a:ea typeface="Arial" pitchFamily="34" charset="-122"/>
                <a:cs typeface="Arial" pitchFamily="34" charset="-120"/>
              </a:rPr>
              <a:t>Inspects headers, IP, fingerprint</a:t>
            </a:r>
            <a:endParaRPr lang="en-US" sz="1200" dirty="0"/>
          </a:p>
        </p:txBody>
      </p:sp>
      <p:pic>
        <p:nvPicPr>
          <p:cNvPr id="19" name="Image 3" descr="preencoded.png">    </p:cNvPr>
          <p:cNvPicPr>
            <a:picLocks noChangeAspect="1"/>
          </p:cNvPicPr>
          <p:nvPr/>
        </p:nvPicPr>
        <p:blipFill>
          <a:blip r:embed="rId4"/>
          <a:stretch>
            <a:fillRect/>
          </a:stretch>
        </p:blipFill>
        <p:spPr>
          <a:xfrm>
            <a:off x="6610350" y="5346502"/>
            <a:ext cx="1543050" cy="571500"/>
          </a:xfrm>
          <a:prstGeom prst="rect">
            <a:avLst/>
          </a:prstGeom>
        </p:spPr>
      </p:pic>
      <p:sp>
        <p:nvSpPr>
          <p:cNvPr id="20" name="Shape 14"/>
          <p:cNvSpPr/>
          <p:nvPr/>
        </p:nvSpPr>
        <p:spPr>
          <a:xfrm>
            <a:off x="8023860" y="5578912"/>
            <a:ext cx="91440" cy="106680"/>
          </a:xfrm>
          <a:prstGeom prst="rect">
            <a:avLst/>
          </a:prstGeom>
          <a:solidFill>
            <a:srgbClr val="00E5FF"/>
          </a:solidFill>
          <a:ln/>
        </p:spPr>
      </p:sp>
      <p:sp>
        <p:nvSpPr>
          <p:cNvPr id="21" name="Shape 15"/>
          <p:cNvSpPr/>
          <p:nvPr/>
        </p:nvSpPr>
        <p:spPr>
          <a:xfrm>
            <a:off x="8524875" y="4624507"/>
            <a:ext cx="1238250" cy="1238250"/>
          </a:xfrm>
          <a:prstGeom prst="roundRect">
            <a:avLst>
              <a:gd name="adj" fmla="val 18462"/>
            </a:avLst>
          </a:prstGeom>
          <a:solidFill>
            <a:srgbClr val="00E5FF">
              <a:alpha val="25000"/>
            </a:srgbClr>
          </a:solidFill>
          <a:ln w="15240">
            <a:solidFill>
              <a:srgbClr val="00E5FF"/>
            </a:solidFill>
            <a:prstDash val="solid"/>
          </a:ln>
          <a:effectLst>
            <a:outerShdw sx="100000" sy="100000" kx="0" ky="0" algn="bl" rotWithShape="0" blurRad="285750" dist="50800" dir="16200000">
              <a:srgbClr val="00E5FF">
                <a:alpha val="33300"/>
              </a:srgbClr>
            </a:outerShdw>
          </a:effectLst>
        </p:spPr>
      </p:sp>
      <p:pic>
        <p:nvPicPr>
          <p:cNvPr id="22" name="Image 4" descr="preencoded.png">    </p:cNvPr>
          <p:cNvPicPr>
            <a:picLocks noChangeAspect="1"/>
          </p:cNvPicPr>
          <p:nvPr/>
        </p:nvPicPr>
        <p:blipFill>
          <a:blip r:embed="rId5"/>
          <a:stretch>
            <a:fillRect/>
          </a:stretch>
        </p:blipFill>
        <p:spPr>
          <a:xfrm>
            <a:off x="8915400" y="5015032"/>
            <a:ext cx="457200" cy="457200"/>
          </a:xfrm>
          <a:prstGeom prst="rect">
            <a:avLst/>
          </a:prstGeom>
        </p:spPr>
      </p:pic>
      <p:sp>
        <p:nvSpPr>
          <p:cNvPr id="23" name="Shape 16"/>
          <p:cNvSpPr/>
          <p:nvPr/>
        </p:nvSpPr>
        <p:spPr>
          <a:xfrm>
            <a:off x="9332595" y="4544497"/>
            <a:ext cx="510540" cy="228600"/>
          </a:xfrm>
          <a:prstGeom prst="roundRect">
            <a:avLst>
              <a:gd name="adj" fmla="val 50000"/>
            </a:avLst>
          </a:prstGeom>
          <a:solidFill>
            <a:srgbClr val="00E5FF"/>
          </a:solidFill>
          <a:ln/>
        </p:spPr>
      </p:sp>
      <p:sp>
        <p:nvSpPr>
          <p:cNvPr id="24" name="Text 17"/>
          <p:cNvSpPr/>
          <p:nvPr/>
        </p:nvSpPr>
        <p:spPr>
          <a:xfrm>
            <a:off x="9427845" y="4582597"/>
            <a:ext cx="396240" cy="190500"/>
          </a:xfrm>
          <a:prstGeom prst="rect">
            <a:avLst/>
          </a:prstGeom>
          <a:noFill/>
          <a:ln/>
        </p:spPr>
        <p:txBody>
          <a:bodyPr wrap="square" lIns="25400" tIns="25400" rIns="25400" bIns="25400" rtlCol="0" anchor="t">
            <a:normAutofit/>
          </a:bodyPr>
          <a:lstStyle/>
          <a:p>
            <a:pPr algn="l" indent="0" marL="0">
              <a:buNone/>
            </a:pPr>
            <a:r>
              <a:rPr lang="en-US" sz="900" b="1" spc="90" kern="0" dirty="0">
                <a:solidFill>
                  <a:srgbClr val="05070D"/>
                </a:solidFill>
                <a:latin typeface="Arial" pitchFamily="34" charset="0"/>
                <a:ea typeface="Arial" pitchFamily="34" charset="-122"/>
                <a:cs typeface="Arial" pitchFamily="34" charset="-120"/>
              </a:rPr>
              <a:t>CORE</a:t>
            </a:r>
            <a:endParaRPr lang="en-US" sz="900" dirty="0"/>
          </a:p>
        </p:txBody>
      </p:sp>
      <p:sp>
        <p:nvSpPr>
          <p:cNvPr id="25" name="Text 18"/>
          <p:cNvSpPr/>
          <p:nvPr/>
        </p:nvSpPr>
        <p:spPr>
          <a:xfrm>
            <a:off x="8622268" y="6015157"/>
            <a:ext cx="1119545"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E7EEF7"/>
                </a:solidFill>
                <a:latin typeface="Arial" pitchFamily="34" charset="0"/>
                <a:ea typeface="Arial" pitchFamily="34" charset="-122"/>
                <a:cs typeface="Arial" pitchFamily="34" charset="-120"/>
              </a:rPr>
              <a:t>AI Engine</a:t>
            </a:r>
            <a:endParaRPr lang="en-US" sz="1800" dirty="0"/>
          </a:p>
        </p:txBody>
      </p:sp>
      <p:sp>
        <p:nvSpPr>
          <p:cNvPr id="26" name="Text 19"/>
          <p:cNvSpPr/>
          <p:nvPr/>
        </p:nvSpPr>
        <p:spPr>
          <a:xfrm>
            <a:off x="8332947" y="6441877"/>
            <a:ext cx="1622108" cy="236220"/>
          </a:xfrm>
          <a:prstGeom prst="rect">
            <a:avLst/>
          </a:prstGeom>
          <a:noFill/>
          <a:ln/>
        </p:spPr>
        <p:txBody>
          <a:bodyPr wrap="square" lIns="25400" tIns="25400" rIns="25400" bIns="25400" rtlCol="0" anchor="t">
            <a:normAutofit/>
          </a:bodyPr>
          <a:lstStyle/>
          <a:p>
            <a:pPr algn="ctr" indent="0" marL="0">
              <a:lnSpc>
                <a:spcPct val="130000"/>
              </a:lnSpc>
              <a:buNone/>
            </a:pPr>
            <a:r>
              <a:rPr lang="en-US" sz="1200" dirty="0">
                <a:solidFill>
                  <a:srgbClr val="5C6A82"/>
                </a:solidFill>
                <a:latin typeface="Arial" pitchFamily="34" charset="0"/>
                <a:ea typeface="Arial" pitchFamily="34" charset="-122"/>
                <a:cs typeface="Arial" pitchFamily="34" charset="-120"/>
              </a:rPr>
              <a:t>Behavior + risk scoring</a:t>
            </a:r>
            <a:endParaRPr lang="en-US" sz="1200" dirty="0"/>
          </a:p>
        </p:txBody>
      </p:sp>
      <p:pic>
        <p:nvPicPr>
          <p:cNvPr id="27" name="Image 5" descr="preencoded.png">    </p:cNvPr>
          <p:cNvPicPr>
            <a:picLocks noChangeAspect="1"/>
          </p:cNvPicPr>
          <p:nvPr/>
        </p:nvPicPr>
        <p:blipFill>
          <a:blip r:embed="rId6"/>
          <a:stretch>
            <a:fillRect/>
          </a:stretch>
        </p:blipFill>
        <p:spPr>
          <a:xfrm>
            <a:off x="10134600" y="5346502"/>
            <a:ext cx="1543050" cy="571500"/>
          </a:xfrm>
          <a:prstGeom prst="rect">
            <a:avLst/>
          </a:prstGeom>
        </p:spPr>
      </p:pic>
      <p:sp>
        <p:nvSpPr>
          <p:cNvPr id="28" name="Shape 20"/>
          <p:cNvSpPr/>
          <p:nvPr/>
        </p:nvSpPr>
        <p:spPr>
          <a:xfrm>
            <a:off x="11548110" y="5578912"/>
            <a:ext cx="91440" cy="106680"/>
          </a:xfrm>
          <a:prstGeom prst="rect">
            <a:avLst/>
          </a:prstGeom>
          <a:solidFill>
            <a:srgbClr val="00E5FF"/>
          </a:solidFill>
          <a:ln/>
        </p:spPr>
      </p:sp>
      <p:sp>
        <p:nvSpPr>
          <p:cNvPr id="29" name="Shape 21"/>
          <p:cNvSpPr/>
          <p:nvPr/>
        </p:nvSpPr>
        <p:spPr>
          <a:xfrm>
            <a:off x="12049125" y="4624507"/>
            <a:ext cx="1238250" cy="1238250"/>
          </a:xfrm>
          <a:prstGeom prst="roundRect">
            <a:avLst>
              <a:gd name="adj" fmla="val 18462"/>
            </a:avLst>
          </a:prstGeom>
          <a:solidFill>
            <a:srgbClr val="0E1422"/>
          </a:solidFill>
          <a:ln w="15240">
            <a:solidFill>
              <a:srgbClr val="00E5FF">
                <a:alpha val="32000"/>
              </a:srgbClr>
            </a:solidFill>
            <a:prstDash val="solid"/>
          </a:ln>
          <a:effectLst>
            <a:outerShdw sx="100000" sy="100000" kx="0" ky="0" algn="bl" rotWithShape="0" blurRad="190500" dist="50800" dir="16200000">
              <a:srgbClr val="00E5FF">
                <a:alpha val="8200"/>
              </a:srgbClr>
            </a:outerShdw>
          </a:effectLst>
        </p:spPr>
      </p:sp>
      <p:pic>
        <p:nvPicPr>
          <p:cNvPr id="30" name="Image 6" descr="preencoded.png">    </p:cNvPr>
          <p:cNvPicPr>
            <a:picLocks noChangeAspect="1"/>
          </p:cNvPicPr>
          <p:nvPr/>
        </p:nvPicPr>
        <p:blipFill>
          <a:blip r:embed="rId7"/>
          <a:stretch>
            <a:fillRect/>
          </a:stretch>
        </p:blipFill>
        <p:spPr>
          <a:xfrm>
            <a:off x="12439650" y="5015032"/>
            <a:ext cx="457200" cy="457200"/>
          </a:xfrm>
          <a:prstGeom prst="rect">
            <a:avLst/>
          </a:prstGeom>
        </p:spPr>
      </p:pic>
      <p:sp>
        <p:nvSpPr>
          <p:cNvPr id="31" name="Text 22"/>
          <p:cNvSpPr/>
          <p:nvPr/>
        </p:nvSpPr>
        <p:spPr>
          <a:xfrm>
            <a:off x="12189380" y="6015157"/>
            <a:ext cx="1033939"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E7EEF7"/>
                </a:solidFill>
                <a:latin typeface="Arial" pitchFamily="34" charset="0"/>
                <a:ea typeface="Arial" pitchFamily="34" charset="-122"/>
                <a:cs typeface="Arial" pitchFamily="34" charset="-120"/>
              </a:rPr>
              <a:t>Decision</a:t>
            </a:r>
            <a:endParaRPr lang="en-US" sz="1800" dirty="0"/>
          </a:p>
        </p:txBody>
      </p:sp>
      <p:sp>
        <p:nvSpPr>
          <p:cNvPr id="32" name="Text 23"/>
          <p:cNvSpPr/>
          <p:nvPr/>
        </p:nvSpPr>
        <p:spPr>
          <a:xfrm>
            <a:off x="11783020" y="6441877"/>
            <a:ext cx="1770340" cy="236220"/>
          </a:xfrm>
          <a:prstGeom prst="rect">
            <a:avLst/>
          </a:prstGeom>
          <a:noFill/>
          <a:ln/>
        </p:spPr>
        <p:txBody>
          <a:bodyPr wrap="square" lIns="25400" tIns="25400" rIns="25400" bIns="25400" rtlCol="0" anchor="t">
            <a:normAutofit/>
          </a:bodyPr>
          <a:lstStyle/>
          <a:p>
            <a:pPr algn="ctr" indent="0" marL="0">
              <a:lnSpc>
                <a:spcPct val="130000"/>
              </a:lnSpc>
              <a:buNone/>
            </a:pPr>
            <a:r>
              <a:rPr lang="en-US" sz="1200" dirty="0">
                <a:solidFill>
                  <a:srgbClr val="5C6A82"/>
                </a:solidFill>
                <a:latin typeface="Arial" pitchFamily="34" charset="0"/>
                <a:ea typeface="Arial" pitchFamily="34" charset="-122"/>
                <a:cs typeface="Arial" pitchFamily="34" charset="-120"/>
              </a:rPr>
              <a:t>Allow · Challenge · Block</a:t>
            </a:r>
            <a:endParaRPr lang="en-US" sz="1200" dirty="0"/>
          </a:p>
        </p:txBody>
      </p:sp>
      <p:pic>
        <p:nvPicPr>
          <p:cNvPr id="33" name="Image 7" descr="preencoded.png">    </p:cNvPr>
          <p:cNvPicPr>
            <a:picLocks noChangeAspect="1"/>
          </p:cNvPicPr>
          <p:nvPr/>
        </p:nvPicPr>
        <p:blipFill>
          <a:blip r:embed="rId8"/>
          <a:stretch>
            <a:fillRect/>
          </a:stretch>
        </p:blipFill>
        <p:spPr>
          <a:xfrm>
            <a:off x="13658850" y="5346502"/>
            <a:ext cx="1543050" cy="571500"/>
          </a:xfrm>
          <a:prstGeom prst="rect">
            <a:avLst/>
          </a:prstGeom>
        </p:spPr>
      </p:pic>
      <p:sp>
        <p:nvSpPr>
          <p:cNvPr id="34" name="Shape 24"/>
          <p:cNvSpPr/>
          <p:nvPr/>
        </p:nvSpPr>
        <p:spPr>
          <a:xfrm>
            <a:off x="15072360" y="5578912"/>
            <a:ext cx="91440" cy="106680"/>
          </a:xfrm>
          <a:prstGeom prst="rect">
            <a:avLst/>
          </a:prstGeom>
          <a:solidFill>
            <a:srgbClr val="00E5FF"/>
          </a:solidFill>
          <a:ln/>
        </p:spPr>
      </p:sp>
      <p:sp>
        <p:nvSpPr>
          <p:cNvPr id="35" name="Shape 25"/>
          <p:cNvSpPr/>
          <p:nvPr/>
        </p:nvSpPr>
        <p:spPr>
          <a:xfrm>
            <a:off x="15573375" y="4624507"/>
            <a:ext cx="1238250" cy="1238250"/>
          </a:xfrm>
          <a:prstGeom prst="roundRect">
            <a:avLst>
              <a:gd name="adj" fmla="val 18462"/>
            </a:avLst>
          </a:prstGeom>
          <a:solidFill>
            <a:srgbClr val="0E1422"/>
          </a:solidFill>
          <a:ln w="15240">
            <a:solidFill>
              <a:srgbClr val="00E5FF">
                <a:alpha val="32000"/>
              </a:srgbClr>
            </a:solidFill>
            <a:prstDash val="solid"/>
          </a:ln>
          <a:effectLst>
            <a:outerShdw sx="100000" sy="100000" kx="0" ky="0" algn="bl" rotWithShape="0" blurRad="190500" dist="50800" dir="16200000">
              <a:srgbClr val="00E5FF">
                <a:alpha val="8200"/>
              </a:srgbClr>
            </a:outerShdw>
          </a:effectLst>
        </p:spPr>
      </p:sp>
      <p:pic>
        <p:nvPicPr>
          <p:cNvPr id="36" name="Image 8" descr="preencoded.png">    </p:cNvPr>
          <p:cNvPicPr>
            <a:picLocks noChangeAspect="1"/>
          </p:cNvPicPr>
          <p:nvPr/>
        </p:nvPicPr>
        <p:blipFill>
          <a:blip r:embed="rId9"/>
          <a:stretch>
            <a:fillRect/>
          </a:stretch>
        </p:blipFill>
        <p:spPr>
          <a:xfrm>
            <a:off x="15963900" y="5015032"/>
            <a:ext cx="457200" cy="457200"/>
          </a:xfrm>
          <a:prstGeom prst="rect">
            <a:avLst/>
          </a:prstGeom>
        </p:spPr>
      </p:pic>
      <p:sp>
        <p:nvSpPr>
          <p:cNvPr id="37" name="Text 26"/>
          <p:cNvSpPr/>
          <p:nvPr/>
        </p:nvSpPr>
        <p:spPr>
          <a:xfrm>
            <a:off x="15743159" y="6015157"/>
            <a:ext cx="97488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E7EEF7"/>
                </a:solidFill>
                <a:latin typeface="Arial" pitchFamily="34" charset="0"/>
                <a:ea typeface="Arial" pitchFamily="34" charset="-122"/>
                <a:cs typeface="Arial" pitchFamily="34" charset="-120"/>
              </a:rPr>
              <a:t>Website</a:t>
            </a:r>
            <a:endParaRPr lang="en-US" sz="1800" dirty="0"/>
          </a:p>
        </p:txBody>
      </p:sp>
      <p:sp>
        <p:nvSpPr>
          <p:cNvPr id="38" name="Text 27"/>
          <p:cNvSpPr/>
          <p:nvPr/>
        </p:nvSpPr>
        <p:spPr>
          <a:xfrm>
            <a:off x="15548729" y="6441877"/>
            <a:ext cx="1287542" cy="236220"/>
          </a:xfrm>
          <a:prstGeom prst="rect">
            <a:avLst/>
          </a:prstGeom>
          <a:noFill/>
          <a:ln/>
        </p:spPr>
        <p:txBody>
          <a:bodyPr wrap="square" lIns="25400" tIns="25400" rIns="25400" bIns="25400" rtlCol="0" anchor="t">
            <a:normAutofit/>
          </a:bodyPr>
          <a:lstStyle/>
          <a:p>
            <a:pPr algn="ctr" indent="0" marL="0">
              <a:lnSpc>
                <a:spcPct val="130000"/>
              </a:lnSpc>
              <a:buNone/>
            </a:pPr>
            <a:r>
              <a:rPr lang="en-US" sz="1200" dirty="0">
                <a:solidFill>
                  <a:srgbClr val="5C6A82"/>
                </a:solidFill>
                <a:latin typeface="Arial" pitchFamily="34" charset="0"/>
                <a:ea typeface="Arial" pitchFamily="34" charset="-122"/>
                <a:cs typeface="Arial" pitchFamily="34" charset="-120"/>
              </a:rPr>
              <a:t>Application server</a:t>
            </a:r>
            <a:endParaRPr lang="en-US" sz="1200" dirty="0"/>
          </a:p>
        </p:txBody>
      </p:sp>
      <p:sp>
        <p:nvSpPr>
          <p:cNvPr id="39" name="Shape 28"/>
          <p:cNvSpPr/>
          <p:nvPr/>
        </p:nvSpPr>
        <p:spPr>
          <a:xfrm>
            <a:off x="1143000" y="8023860"/>
            <a:ext cx="5156121" cy="929640"/>
          </a:xfrm>
          <a:prstGeom prst="roundRect">
            <a:avLst>
              <a:gd name="adj" fmla="val 12295"/>
            </a:avLst>
          </a:prstGeom>
          <a:solidFill>
            <a:srgbClr val="39FF88">
              <a:alpha val="6000"/>
            </a:srgbClr>
          </a:solidFill>
          <a:ln w="7620">
            <a:solidFill>
              <a:srgbClr val="39FF88">
                <a:alpha val="33000"/>
              </a:srgbClr>
            </a:solidFill>
            <a:prstDash val="solid"/>
          </a:ln>
        </p:spPr>
      </p:sp>
      <p:sp>
        <p:nvSpPr>
          <p:cNvPr id="40" name="Shape 29"/>
          <p:cNvSpPr/>
          <p:nvPr/>
        </p:nvSpPr>
        <p:spPr>
          <a:xfrm>
            <a:off x="1379220" y="8202930"/>
            <a:ext cx="76200" cy="571500"/>
          </a:xfrm>
          <a:prstGeom prst="roundRect">
            <a:avLst>
              <a:gd name="adj" fmla="val 50000"/>
            </a:avLst>
          </a:prstGeom>
          <a:solidFill>
            <a:srgbClr val="39FF88"/>
          </a:solidFill>
          <a:ln/>
          <a:effectLst>
            <a:outerShdw sx="100000" sy="100000" kx="0" ky="0" algn="bl" rotWithShape="0" blurRad="114300" dist="50800" dir="16200000">
              <a:srgbClr val="39FF88">
                <a:alpha val="100000"/>
              </a:srgbClr>
            </a:outerShdw>
          </a:effectLst>
        </p:spPr>
      </p:sp>
      <p:sp>
        <p:nvSpPr>
          <p:cNvPr id="41" name="Text 30"/>
          <p:cNvSpPr/>
          <p:nvPr/>
        </p:nvSpPr>
        <p:spPr>
          <a:xfrm>
            <a:off x="1626870" y="8210550"/>
            <a:ext cx="792123" cy="358140"/>
          </a:xfrm>
          <a:prstGeom prst="rect">
            <a:avLst/>
          </a:prstGeom>
          <a:noFill/>
          <a:ln/>
        </p:spPr>
        <p:txBody>
          <a:bodyPr wrap="square" lIns="25400" tIns="25400" rIns="25400" bIns="25400" rtlCol="0" anchor="t">
            <a:normAutofit/>
          </a:bodyPr>
          <a:lstStyle/>
          <a:p>
            <a:pPr algn="l" indent="0" marL="0">
              <a:buNone/>
            </a:pPr>
            <a:r>
              <a:rPr lang="en-US" sz="2100" b="1" dirty="0">
                <a:solidFill>
                  <a:srgbClr val="E7EEF7"/>
                </a:solidFill>
                <a:latin typeface="Arial" pitchFamily="34" charset="0"/>
                <a:ea typeface="Arial" pitchFamily="34" charset="-122"/>
                <a:cs typeface="Arial" pitchFamily="34" charset="-120"/>
              </a:rPr>
              <a:t>Allow</a:t>
            </a:r>
            <a:endParaRPr lang="en-US" sz="2100" dirty="0"/>
          </a:p>
        </p:txBody>
      </p:sp>
      <p:sp>
        <p:nvSpPr>
          <p:cNvPr id="42" name="Text 31"/>
          <p:cNvSpPr/>
          <p:nvPr/>
        </p:nvSpPr>
        <p:spPr>
          <a:xfrm>
            <a:off x="2457093" y="8332470"/>
            <a:ext cx="41529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39FF88"/>
                </a:solidFill>
                <a:latin typeface="Arial" pitchFamily="34" charset="0"/>
                <a:ea typeface="Arial" pitchFamily="34" charset="-122"/>
                <a:cs typeface="Arial" pitchFamily="34" charset="-120"/>
              </a:rPr>
              <a:t>0–30</a:t>
            </a:r>
            <a:endParaRPr lang="en-US" sz="1200" dirty="0"/>
          </a:p>
        </p:txBody>
      </p:sp>
      <p:sp>
        <p:nvSpPr>
          <p:cNvPr id="43" name="Text 32"/>
          <p:cNvSpPr/>
          <p:nvPr/>
        </p:nvSpPr>
        <p:spPr>
          <a:xfrm>
            <a:off x="1626870" y="8568690"/>
            <a:ext cx="4569112" cy="236220"/>
          </a:xfrm>
          <a:prstGeom prst="rect">
            <a:avLst/>
          </a:prstGeom>
          <a:noFill/>
          <a:ln/>
        </p:spPr>
        <p:txBody>
          <a:bodyPr wrap="square" lIns="25400" tIns="25400" rIns="25400" bIns="25400" rtlCol="0" anchor="t">
            <a:normAutofit/>
          </a:bodyPr>
          <a:lstStyle/>
          <a:p>
            <a:pPr algn="l" indent="0" marL="0">
              <a:buNone/>
            </a:pPr>
            <a:r>
              <a:rPr lang="en-US" sz="1350" dirty="0">
                <a:solidFill>
                  <a:srgbClr val="8C9AB0"/>
                </a:solidFill>
                <a:latin typeface="Arial" pitchFamily="34" charset="0"/>
                <a:ea typeface="Arial" pitchFamily="34" charset="-122"/>
                <a:cs typeface="Arial" pitchFamily="34" charset="-120"/>
              </a:rPr>
              <a:t>Low risk · pass through immediately</a:t>
            </a:r>
            <a:endParaRPr lang="en-US" sz="1350" dirty="0"/>
          </a:p>
        </p:txBody>
      </p:sp>
      <p:sp>
        <p:nvSpPr>
          <p:cNvPr id="44" name="Shape 33"/>
          <p:cNvSpPr/>
          <p:nvPr/>
        </p:nvSpPr>
        <p:spPr>
          <a:xfrm>
            <a:off x="6565821" y="8023860"/>
            <a:ext cx="5156240" cy="929640"/>
          </a:xfrm>
          <a:prstGeom prst="roundRect">
            <a:avLst>
              <a:gd name="adj" fmla="val 12295"/>
            </a:avLst>
          </a:prstGeom>
          <a:solidFill>
            <a:srgbClr val="FFB547">
              <a:alpha val="6000"/>
            </a:srgbClr>
          </a:solidFill>
          <a:ln w="7620">
            <a:solidFill>
              <a:srgbClr val="FFB547">
                <a:alpha val="33000"/>
              </a:srgbClr>
            </a:solidFill>
            <a:prstDash val="solid"/>
          </a:ln>
        </p:spPr>
      </p:sp>
      <p:sp>
        <p:nvSpPr>
          <p:cNvPr id="45" name="Shape 34"/>
          <p:cNvSpPr/>
          <p:nvPr/>
        </p:nvSpPr>
        <p:spPr>
          <a:xfrm>
            <a:off x="6802041" y="8202930"/>
            <a:ext cx="76200" cy="571500"/>
          </a:xfrm>
          <a:prstGeom prst="roundRect">
            <a:avLst>
              <a:gd name="adj" fmla="val 50000"/>
            </a:avLst>
          </a:prstGeom>
          <a:solidFill>
            <a:srgbClr val="FFB547"/>
          </a:solidFill>
          <a:ln/>
          <a:effectLst>
            <a:outerShdw sx="100000" sy="100000" kx="0" ky="0" algn="bl" rotWithShape="0" blurRad="114300" dist="50800" dir="16200000">
              <a:srgbClr val="FFB547">
                <a:alpha val="100000"/>
              </a:srgbClr>
            </a:outerShdw>
          </a:effectLst>
        </p:spPr>
      </p:sp>
      <p:sp>
        <p:nvSpPr>
          <p:cNvPr id="46" name="Text 35"/>
          <p:cNvSpPr/>
          <p:nvPr/>
        </p:nvSpPr>
        <p:spPr>
          <a:xfrm>
            <a:off x="7049691" y="8210550"/>
            <a:ext cx="1374219" cy="358140"/>
          </a:xfrm>
          <a:prstGeom prst="rect">
            <a:avLst/>
          </a:prstGeom>
          <a:noFill/>
          <a:ln/>
        </p:spPr>
        <p:txBody>
          <a:bodyPr wrap="square" lIns="25400" tIns="25400" rIns="25400" bIns="25400" rtlCol="0" anchor="t">
            <a:normAutofit/>
          </a:bodyPr>
          <a:lstStyle/>
          <a:p>
            <a:pPr algn="l" indent="0" marL="0">
              <a:buNone/>
            </a:pPr>
            <a:r>
              <a:rPr lang="en-US" sz="2100" b="1" dirty="0">
                <a:solidFill>
                  <a:srgbClr val="E7EEF7"/>
                </a:solidFill>
                <a:latin typeface="Arial" pitchFamily="34" charset="0"/>
                <a:ea typeface="Arial" pitchFamily="34" charset="-122"/>
                <a:cs typeface="Arial" pitchFamily="34" charset="-120"/>
              </a:rPr>
              <a:t>Challenge</a:t>
            </a:r>
            <a:endParaRPr lang="en-US" sz="2100" dirty="0"/>
          </a:p>
        </p:txBody>
      </p:sp>
      <p:sp>
        <p:nvSpPr>
          <p:cNvPr id="47" name="Text 36"/>
          <p:cNvSpPr/>
          <p:nvPr/>
        </p:nvSpPr>
        <p:spPr>
          <a:xfrm>
            <a:off x="8462010" y="8332470"/>
            <a:ext cx="500063" cy="213360"/>
          </a:xfrm>
          <a:prstGeom prst="rect">
            <a:avLst/>
          </a:prstGeom>
          <a:noFill/>
          <a:ln/>
        </p:spPr>
        <p:txBody>
          <a:bodyPr wrap="square" lIns="25400" tIns="25400" rIns="25400" bIns="25400" rtlCol="0" anchor="t">
            <a:normAutofit/>
          </a:bodyPr>
          <a:lstStyle/>
          <a:p>
            <a:pPr algn="l" indent="0" marL="0">
              <a:buNone/>
            </a:pPr>
            <a:r>
              <a:rPr lang="en-US" sz="1200" dirty="0">
                <a:solidFill>
                  <a:srgbClr val="FFB547"/>
                </a:solidFill>
                <a:latin typeface="Arial" pitchFamily="34" charset="0"/>
                <a:ea typeface="Arial" pitchFamily="34" charset="-122"/>
                <a:cs typeface="Arial" pitchFamily="34" charset="-120"/>
              </a:rPr>
              <a:t>31–69</a:t>
            </a:r>
            <a:endParaRPr lang="en-US" sz="1200" dirty="0"/>
          </a:p>
        </p:txBody>
      </p:sp>
      <p:sp>
        <p:nvSpPr>
          <p:cNvPr id="48" name="Text 37"/>
          <p:cNvSpPr/>
          <p:nvPr/>
        </p:nvSpPr>
        <p:spPr>
          <a:xfrm>
            <a:off x="7049691" y="8568690"/>
            <a:ext cx="4569234" cy="236220"/>
          </a:xfrm>
          <a:prstGeom prst="rect">
            <a:avLst/>
          </a:prstGeom>
          <a:noFill/>
          <a:ln/>
        </p:spPr>
        <p:txBody>
          <a:bodyPr wrap="square" lIns="25400" tIns="25400" rIns="25400" bIns="25400" rtlCol="0" anchor="t">
            <a:normAutofit/>
          </a:bodyPr>
          <a:lstStyle/>
          <a:p>
            <a:pPr algn="l" indent="0" marL="0">
              <a:buNone/>
            </a:pPr>
            <a:r>
              <a:rPr lang="en-US" sz="1350" dirty="0">
                <a:solidFill>
                  <a:srgbClr val="8C9AB0"/>
                </a:solidFill>
                <a:latin typeface="Arial" pitchFamily="34" charset="0"/>
                <a:ea typeface="Arial" pitchFamily="34" charset="-122"/>
                <a:cs typeface="Arial" pitchFamily="34" charset="-120"/>
              </a:rPr>
              <a:t>Borderline · silent JS challenge</a:t>
            </a:r>
            <a:endParaRPr lang="en-US" sz="1350" dirty="0"/>
          </a:p>
        </p:txBody>
      </p:sp>
      <p:sp>
        <p:nvSpPr>
          <p:cNvPr id="49" name="Shape 38"/>
          <p:cNvSpPr/>
          <p:nvPr/>
        </p:nvSpPr>
        <p:spPr>
          <a:xfrm>
            <a:off x="11988760" y="8023860"/>
            <a:ext cx="5156240" cy="929640"/>
          </a:xfrm>
          <a:prstGeom prst="roundRect">
            <a:avLst>
              <a:gd name="adj" fmla="val 12295"/>
            </a:avLst>
          </a:prstGeom>
          <a:solidFill>
            <a:srgbClr val="FF4D6D">
              <a:alpha val="6000"/>
            </a:srgbClr>
          </a:solidFill>
          <a:ln w="7620">
            <a:solidFill>
              <a:srgbClr val="FF4D6D">
                <a:alpha val="33000"/>
              </a:srgbClr>
            </a:solidFill>
            <a:prstDash val="solid"/>
          </a:ln>
        </p:spPr>
      </p:sp>
      <p:sp>
        <p:nvSpPr>
          <p:cNvPr id="50" name="Shape 39"/>
          <p:cNvSpPr/>
          <p:nvPr/>
        </p:nvSpPr>
        <p:spPr>
          <a:xfrm>
            <a:off x="12224981" y="8202930"/>
            <a:ext cx="76200" cy="571500"/>
          </a:xfrm>
          <a:prstGeom prst="roundRect">
            <a:avLst>
              <a:gd name="adj" fmla="val 50000"/>
            </a:avLst>
          </a:prstGeom>
          <a:solidFill>
            <a:srgbClr val="FF4D6D"/>
          </a:solidFill>
          <a:ln/>
          <a:effectLst>
            <a:outerShdw sx="100000" sy="100000" kx="0" ky="0" algn="bl" rotWithShape="0" blurRad="114300" dist="50800" dir="16200000">
              <a:srgbClr val="FF4D6D">
                <a:alpha val="100000"/>
              </a:srgbClr>
            </a:outerShdw>
          </a:effectLst>
        </p:spPr>
      </p:sp>
      <p:sp>
        <p:nvSpPr>
          <p:cNvPr id="51" name="Text 40"/>
          <p:cNvSpPr/>
          <p:nvPr/>
        </p:nvSpPr>
        <p:spPr>
          <a:xfrm>
            <a:off x="12472631" y="8210550"/>
            <a:ext cx="791408" cy="358140"/>
          </a:xfrm>
          <a:prstGeom prst="rect">
            <a:avLst/>
          </a:prstGeom>
          <a:noFill/>
          <a:ln/>
        </p:spPr>
        <p:txBody>
          <a:bodyPr wrap="square" lIns="25400" tIns="25400" rIns="25400" bIns="25400" rtlCol="0" anchor="t">
            <a:normAutofit/>
          </a:bodyPr>
          <a:lstStyle/>
          <a:p>
            <a:pPr algn="l" indent="0" marL="0">
              <a:buNone/>
            </a:pPr>
            <a:r>
              <a:rPr lang="en-US" sz="2100" b="1" dirty="0">
                <a:solidFill>
                  <a:srgbClr val="E7EEF7"/>
                </a:solidFill>
                <a:latin typeface="Arial" pitchFamily="34" charset="0"/>
                <a:ea typeface="Arial" pitchFamily="34" charset="-122"/>
                <a:cs typeface="Arial" pitchFamily="34" charset="-120"/>
              </a:rPr>
              <a:t>Block</a:t>
            </a:r>
            <a:endParaRPr lang="en-US" sz="2100" dirty="0"/>
          </a:p>
        </p:txBody>
      </p:sp>
      <p:sp>
        <p:nvSpPr>
          <p:cNvPr id="52" name="Text 41"/>
          <p:cNvSpPr/>
          <p:nvPr/>
        </p:nvSpPr>
        <p:spPr>
          <a:xfrm>
            <a:off x="13302139" y="8332470"/>
            <a:ext cx="584835" cy="213360"/>
          </a:xfrm>
          <a:prstGeom prst="rect">
            <a:avLst/>
          </a:prstGeom>
          <a:noFill/>
          <a:ln/>
        </p:spPr>
        <p:txBody>
          <a:bodyPr wrap="square" lIns="25400" tIns="25400" rIns="25400" bIns="25400" rtlCol="0" anchor="t">
            <a:normAutofit/>
          </a:bodyPr>
          <a:lstStyle/>
          <a:p>
            <a:pPr algn="l" indent="0" marL="0">
              <a:buNone/>
            </a:pPr>
            <a:r>
              <a:rPr lang="en-US" sz="1200" dirty="0">
                <a:solidFill>
                  <a:srgbClr val="FF4D6D"/>
                </a:solidFill>
                <a:latin typeface="Arial" pitchFamily="34" charset="0"/>
                <a:ea typeface="Arial" pitchFamily="34" charset="-122"/>
                <a:cs typeface="Arial" pitchFamily="34" charset="-120"/>
              </a:rPr>
              <a:t>70–100</a:t>
            </a:r>
            <a:endParaRPr lang="en-US" sz="1200" dirty="0"/>
          </a:p>
        </p:txBody>
      </p:sp>
      <p:sp>
        <p:nvSpPr>
          <p:cNvPr id="53" name="Text 42"/>
          <p:cNvSpPr/>
          <p:nvPr/>
        </p:nvSpPr>
        <p:spPr>
          <a:xfrm>
            <a:off x="12472631" y="8568690"/>
            <a:ext cx="4569234" cy="236220"/>
          </a:xfrm>
          <a:prstGeom prst="rect">
            <a:avLst/>
          </a:prstGeom>
          <a:noFill/>
          <a:ln/>
        </p:spPr>
        <p:txBody>
          <a:bodyPr wrap="square" lIns="25400" tIns="25400" rIns="25400" bIns="25400" rtlCol="0" anchor="t">
            <a:normAutofit/>
          </a:bodyPr>
          <a:lstStyle/>
          <a:p>
            <a:pPr algn="l" indent="0" marL="0">
              <a:buNone/>
            </a:pPr>
            <a:r>
              <a:rPr lang="en-US" sz="1350" dirty="0">
                <a:solidFill>
                  <a:srgbClr val="8C9AB0"/>
                </a:solidFill>
                <a:latin typeface="Arial" pitchFamily="34" charset="0"/>
                <a:ea typeface="Arial" pitchFamily="34" charset="-122"/>
                <a:cs typeface="Arial" pitchFamily="34" charset="-120"/>
              </a:rPr>
              <a:t>High risk · drop with 403</a:t>
            </a:r>
            <a:endParaRPr lang="en-US" sz="1350" dirty="0"/>
          </a:p>
        </p:txBody>
      </p:sp>
      <p:sp>
        <p:nvSpPr>
          <p:cNvPr id="54" name="Shape 43"/>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55" name="Text 44"/>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56" name="Text 45"/>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09/17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08/</a:t>
            </a:r>
            <a:endParaRPr lang="en-US" sz="1800" dirty="0"/>
          </a:p>
        </p:txBody>
      </p:sp>
      <p:sp>
        <p:nvSpPr>
          <p:cNvPr id="7" name="Text 5"/>
          <p:cNvSpPr/>
          <p:nvPr/>
        </p:nvSpPr>
        <p:spPr>
          <a:xfrm>
            <a:off x="1935480" y="967740"/>
            <a:ext cx="2433399"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METHODOLOGY</a:t>
            </a:r>
            <a:endParaRPr lang="en-US" sz="1800" dirty="0"/>
          </a:p>
        </p:txBody>
      </p:sp>
      <p:sp>
        <p:nvSpPr>
          <p:cNvPr id="8" name="Text 6"/>
          <p:cNvSpPr/>
          <p:nvPr/>
        </p:nvSpPr>
        <p:spPr>
          <a:xfrm>
            <a:off x="1143000" y="1428750"/>
            <a:ext cx="14504213"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From raw signals to a decision in five steps</a:t>
            </a:r>
            <a:endParaRPr lang="en-US" sz="4800" dirty="0"/>
          </a:p>
        </p:txBody>
      </p:sp>
      <p:sp>
        <p:nvSpPr>
          <p:cNvPr id="9" name="Shape 7"/>
          <p:cNvSpPr/>
          <p:nvPr/>
        </p:nvSpPr>
        <p:spPr>
          <a:xfrm>
            <a:off x="2150745" y="4851559"/>
            <a:ext cx="1047750" cy="1047750"/>
          </a:xfrm>
          <a:prstGeom prst="ellipse">
            <a:avLst/>
          </a:prstGeom>
          <a:solidFill>
            <a:srgbClr val="00E5FF">
              <a:alpha val="19000"/>
            </a:srgbClr>
          </a:solidFill>
          <a:ln w="15240">
            <a:solidFill>
              <a:srgbClr val="00E5FF"/>
            </a:solidFill>
            <a:prstDash val="solid"/>
          </a:ln>
          <a:effectLst>
            <a:outerShdw sx="100000" sy="100000" kx="0" ky="0" algn="bl" rotWithShape="0" blurRad="285750" dist="50800" dir="16200000">
              <a:srgbClr val="00E5FF">
                <a:alpha val="33300"/>
              </a:srgbClr>
            </a:outerShdw>
          </a:effectLst>
        </p:spPr>
      </p:sp>
      <p:pic>
        <p:nvPicPr>
          <p:cNvPr id="10" name="Image 0" descr="preencoded.png">    </p:cNvPr>
          <p:cNvPicPr>
            <a:picLocks noChangeAspect="1"/>
          </p:cNvPicPr>
          <p:nvPr/>
        </p:nvPicPr>
        <p:blipFill>
          <a:blip r:embed="rId1"/>
          <a:stretch>
            <a:fillRect/>
          </a:stretch>
        </p:blipFill>
        <p:spPr>
          <a:xfrm>
            <a:off x="2474595" y="5175409"/>
            <a:ext cx="400050" cy="400050"/>
          </a:xfrm>
          <a:prstGeom prst="rect">
            <a:avLst/>
          </a:prstGeom>
        </p:spPr>
      </p:pic>
      <p:sp>
        <p:nvSpPr>
          <p:cNvPr id="11" name="Text 8"/>
          <p:cNvSpPr/>
          <p:nvPr/>
        </p:nvSpPr>
        <p:spPr>
          <a:xfrm>
            <a:off x="2273022" y="6089809"/>
            <a:ext cx="879396" cy="23622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00E5FF"/>
                </a:solidFill>
                <a:latin typeface="Arial" pitchFamily="34" charset="0"/>
                <a:ea typeface="Arial" pitchFamily="34" charset="-122"/>
                <a:cs typeface="Arial" pitchFamily="34" charset="-120"/>
              </a:rPr>
              <a:t>STEP01</a:t>
            </a:r>
            <a:endParaRPr lang="en-US" sz="1350" dirty="0"/>
          </a:p>
        </p:txBody>
      </p:sp>
      <p:sp>
        <p:nvSpPr>
          <p:cNvPr id="12" name="Text 9"/>
          <p:cNvSpPr/>
          <p:nvPr/>
        </p:nvSpPr>
        <p:spPr>
          <a:xfrm>
            <a:off x="1744385" y="6478429"/>
            <a:ext cx="1860471" cy="335280"/>
          </a:xfrm>
          <a:prstGeom prst="rect">
            <a:avLst/>
          </a:prstGeom>
          <a:noFill/>
          <a:ln/>
        </p:spPr>
        <p:txBody>
          <a:bodyPr wrap="square" lIns="25400" tIns="25400" rIns="25400" bIns="25400" rtlCol="0" anchor="t">
            <a:normAutofit/>
          </a:bodyPr>
          <a:lstStyle/>
          <a:p>
            <a:pPr algn="ctr" indent="0" marL="0">
              <a:lnSpc>
                <a:spcPct val="120000"/>
              </a:lnSpc>
              <a:buNone/>
            </a:pPr>
            <a:r>
              <a:rPr lang="en-US" sz="1950" b="1" dirty="0">
                <a:solidFill>
                  <a:srgbClr val="E7EEF7"/>
                </a:solidFill>
                <a:latin typeface="Arial" pitchFamily="34" charset="0"/>
                <a:ea typeface="Arial" pitchFamily="34" charset="-122"/>
                <a:cs typeface="Arial" pitchFamily="34" charset="-120"/>
              </a:rPr>
              <a:t>Data collection</a:t>
            </a:r>
            <a:endParaRPr lang="en-US" sz="1950" dirty="0"/>
          </a:p>
        </p:txBody>
      </p:sp>
      <p:sp>
        <p:nvSpPr>
          <p:cNvPr id="13" name="Text 10"/>
          <p:cNvSpPr/>
          <p:nvPr/>
        </p:nvSpPr>
        <p:spPr>
          <a:xfrm>
            <a:off x="1493520" y="6966109"/>
            <a:ext cx="2362200" cy="51816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8C9AB0"/>
                </a:solidFill>
                <a:latin typeface="Arial" pitchFamily="34" charset="0"/>
                <a:ea typeface="Arial" pitchFamily="34" charset="-122"/>
                <a:cs typeface="Arial" pitchFamily="34" charset="-120"/>
              </a:rPr>
              <a:t>Capture headers, IP, geo, JS-fingerprint, request rate.</a:t>
            </a:r>
            <a:endParaRPr lang="en-US" sz="1350" dirty="0"/>
          </a:p>
        </p:txBody>
      </p:sp>
      <p:sp>
        <p:nvSpPr>
          <p:cNvPr id="14" name="Shape 11"/>
          <p:cNvSpPr/>
          <p:nvPr/>
        </p:nvSpPr>
        <p:spPr>
          <a:xfrm>
            <a:off x="5385435" y="4851559"/>
            <a:ext cx="1047750" cy="1047750"/>
          </a:xfrm>
          <a:prstGeom prst="ellipse">
            <a:avLst/>
          </a:prstGeom>
          <a:solidFill>
            <a:srgbClr val="00E5FF">
              <a:alpha val="19000"/>
            </a:srgbClr>
          </a:solidFill>
          <a:ln w="15240">
            <a:solidFill>
              <a:srgbClr val="00E5FF"/>
            </a:solidFill>
            <a:prstDash val="solid"/>
          </a:ln>
          <a:effectLst>
            <a:outerShdw sx="100000" sy="100000" kx="0" ky="0" algn="bl" rotWithShape="0" blurRad="285750" dist="50800" dir="16200000">
              <a:srgbClr val="00E5FF">
                <a:alpha val="33300"/>
              </a:srgbClr>
            </a:outerShdw>
          </a:effectLst>
        </p:spPr>
      </p:sp>
      <p:pic>
        <p:nvPicPr>
          <p:cNvPr id="15" name="Image 1" descr="preencoded.png">    </p:cNvPr>
          <p:cNvPicPr>
            <a:picLocks noChangeAspect="1"/>
          </p:cNvPicPr>
          <p:nvPr/>
        </p:nvPicPr>
        <p:blipFill>
          <a:blip r:embed="rId2"/>
          <a:stretch>
            <a:fillRect/>
          </a:stretch>
        </p:blipFill>
        <p:spPr>
          <a:xfrm>
            <a:off x="5709285" y="5175409"/>
            <a:ext cx="400050" cy="400050"/>
          </a:xfrm>
          <a:prstGeom prst="rect">
            <a:avLst/>
          </a:prstGeom>
        </p:spPr>
      </p:pic>
      <p:sp>
        <p:nvSpPr>
          <p:cNvPr id="16" name="Text 12"/>
          <p:cNvSpPr/>
          <p:nvPr/>
        </p:nvSpPr>
        <p:spPr>
          <a:xfrm>
            <a:off x="5507712" y="6089809"/>
            <a:ext cx="879396" cy="23622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00E5FF"/>
                </a:solidFill>
                <a:latin typeface="Arial" pitchFamily="34" charset="0"/>
                <a:ea typeface="Arial" pitchFamily="34" charset="-122"/>
                <a:cs typeface="Arial" pitchFamily="34" charset="-120"/>
              </a:rPr>
              <a:t>STEP02</a:t>
            </a:r>
            <a:endParaRPr lang="en-US" sz="1350" dirty="0"/>
          </a:p>
        </p:txBody>
      </p:sp>
      <p:sp>
        <p:nvSpPr>
          <p:cNvPr id="17" name="Text 13"/>
          <p:cNvSpPr/>
          <p:nvPr/>
        </p:nvSpPr>
        <p:spPr>
          <a:xfrm>
            <a:off x="4781193" y="6478429"/>
            <a:ext cx="2256234" cy="335280"/>
          </a:xfrm>
          <a:prstGeom prst="rect">
            <a:avLst/>
          </a:prstGeom>
          <a:noFill/>
          <a:ln/>
        </p:spPr>
        <p:txBody>
          <a:bodyPr wrap="square" lIns="25400" tIns="25400" rIns="25400" bIns="25400" rtlCol="0" anchor="t">
            <a:normAutofit/>
          </a:bodyPr>
          <a:lstStyle/>
          <a:p>
            <a:pPr algn="ctr" indent="0" marL="0">
              <a:lnSpc>
                <a:spcPct val="120000"/>
              </a:lnSpc>
              <a:buNone/>
            </a:pPr>
            <a:r>
              <a:rPr lang="en-US" sz="1950" b="1" dirty="0">
                <a:solidFill>
                  <a:srgbClr val="E7EEF7"/>
                </a:solidFill>
                <a:latin typeface="Arial" pitchFamily="34" charset="0"/>
                <a:ea typeface="Arial" pitchFamily="34" charset="-122"/>
                <a:cs typeface="Arial" pitchFamily="34" charset="-120"/>
              </a:rPr>
              <a:t>Feature extraction</a:t>
            </a:r>
            <a:endParaRPr lang="en-US" sz="1950" dirty="0"/>
          </a:p>
        </p:txBody>
      </p:sp>
      <p:sp>
        <p:nvSpPr>
          <p:cNvPr id="18" name="Text 14"/>
          <p:cNvSpPr/>
          <p:nvPr/>
        </p:nvSpPr>
        <p:spPr>
          <a:xfrm>
            <a:off x="4728210" y="6966109"/>
            <a:ext cx="2362200" cy="51816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8C9AB0"/>
                </a:solidFill>
                <a:latin typeface="Arial" pitchFamily="34" charset="0"/>
                <a:ea typeface="Arial" pitchFamily="34" charset="-122"/>
                <a:cs typeface="Arial" pitchFamily="34" charset="-120"/>
              </a:rPr>
              <a:t>Build a 30+ feature vector per session.</a:t>
            </a:r>
            <a:endParaRPr lang="en-US" sz="1350" dirty="0"/>
          </a:p>
        </p:txBody>
      </p:sp>
      <p:sp>
        <p:nvSpPr>
          <p:cNvPr id="19" name="Shape 15"/>
          <p:cNvSpPr/>
          <p:nvPr/>
        </p:nvSpPr>
        <p:spPr>
          <a:xfrm>
            <a:off x="8620125" y="4851559"/>
            <a:ext cx="1047750" cy="1047750"/>
          </a:xfrm>
          <a:prstGeom prst="ellipse">
            <a:avLst/>
          </a:prstGeom>
          <a:solidFill>
            <a:srgbClr val="00E5FF">
              <a:alpha val="19000"/>
            </a:srgbClr>
          </a:solidFill>
          <a:ln w="15240">
            <a:solidFill>
              <a:srgbClr val="00E5FF"/>
            </a:solidFill>
            <a:prstDash val="solid"/>
          </a:ln>
          <a:effectLst>
            <a:outerShdw sx="100000" sy="100000" kx="0" ky="0" algn="bl" rotWithShape="0" blurRad="285750" dist="50800" dir="16200000">
              <a:srgbClr val="00E5FF">
                <a:alpha val="33300"/>
              </a:srgbClr>
            </a:outerShdw>
          </a:effectLst>
        </p:spPr>
      </p:sp>
      <p:pic>
        <p:nvPicPr>
          <p:cNvPr id="20" name="Image 2" descr="preencoded.png">    </p:cNvPr>
          <p:cNvPicPr>
            <a:picLocks noChangeAspect="1"/>
          </p:cNvPicPr>
          <p:nvPr/>
        </p:nvPicPr>
        <p:blipFill>
          <a:blip r:embed="rId3"/>
          <a:stretch>
            <a:fillRect/>
          </a:stretch>
        </p:blipFill>
        <p:spPr>
          <a:xfrm>
            <a:off x="8943975" y="5175409"/>
            <a:ext cx="400050" cy="400050"/>
          </a:xfrm>
          <a:prstGeom prst="rect">
            <a:avLst/>
          </a:prstGeom>
        </p:spPr>
      </p:pic>
      <p:sp>
        <p:nvSpPr>
          <p:cNvPr id="21" name="Text 16"/>
          <p:cNvSpPr/>
          <p:nvPr/>
        </p:nvSpPr>
        <p:spPr>
          <a:xfrm>
            <a:off x="8742402" y="6089809"/>
            <a:ext cx="879396" cy="23622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00E5FF"/>
                </a:solidFill>
                <a:latin typeface="Arial" pitchFamily="34" charset="0"/>
                <a:ea typeface="Arial" pitchFamily="34" charset="-122"/>
                <a:cs typeface="Arial" pitchFamily="34" charset="-120"/>
              </a:rPr>
              <a:t>STEP03</a:t>
            </a:r>
            <a:endParaRPr lang="en-US" sz="1350" dirty="0"/>
          </a:p>
        </p:txBody>
      </p:sp>
      <p:sp>
        <p:nvSpPr>
          <p:cNvPr id="22" name="Text 17"/>
          <p:cNvSpPr/>
          <p:nvPr/>
        </p:nvSpPr>
        <p:spPr>
          <a:xfrm>
            <a:off x="8457605" y="6478429"/>
            <a:ext cx="1372791" cy="335280"/>
          </a:xfrm>
          <a:prstGeom prst="rect">
            <a:avLst/>
          </a:prstGeom>
          <a:noFill/>
          <a:ln/>
        </p:spPr>
        <p:txBody>
          <a:bodyPr wrap="square" lIns="25400" tIns="25400" rIns="25400" bIns="25400" rtlCol="0" anchor="t">
            <a:normAutofit/>
          </a:bodyPr>
          <a:lstStyle/>
          <a:p>
            <a:pPr algn="ctr" indent="0" marL="0">
              <a:lnSpc>
                <a:spcPct val="120000"/>
              </a:lnSpc>
              <a:buNone/>
            </a:pPr>
            <a:r>
              <a:rPr lang="en-US" sz="1950" b="1" dirty="0">
                <a:solidFill>
                  <a:srgbClr val="E7EEF7"/>
                </a:solidFill>
                <a:latin typeface="Arial" pitchFamily="34" charset="0"/>
                <a:ea typeface="Arial" pitchFamily="34" charset="-122"/>
                <a:cs typeface="Arial" pitchFamily="34" charset="-120"/>
              </a:rPr>
              <a:t>AI analysis</a:t>
            </a:r>
            <a:endParaRPr lang="en-US" sz="1950" dirty="0"/>
          </a:p>
        </p:txBody>
      </p:sp>
      <p:sp>
        <p:nvSpPr>
          <p:cNvPr id="23" name="Text 18"/>
          <p:cNvSpPr/>
          <p:nvPr/>
        </p:nvSpPr>
        <p:spPr>
          <a:xfrm>
            <a:off x="7962900" y="6966109"/>
            <a:ext cx="2362200" cy="51816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8C9AB0"/>
                </a:solidFill>
                <a:latin typeface="Arial" pitchFamily="34" charset="0"/>
                <a:ea typeface="Arial" pitchFamily="34" charset="-122"/>
                <a:cs typeface="Arial" pitchFamily="34" charset="-120"/>
              </a:rPr>
              <a:t>Classifier + behavior model evaluate the vector.</a:t>
            </a:r>
            <a:endParaRPr lang="en-US" sz="1350" dirty="0"/>
          </a:p>
        </p:txBody>
      </p:sp>
      <p:sp>
        <p:nvSpPr>
          <p:cNvPr id="24" name="Shape 19"/>
          <p:cNvSpPr/>
          <p:nvPr/>
        </p:nvSpPr>
        <p:spPr>
          <a:xfrm>
            <a:off x="11854815" y="4851559"/>
            <a:ext cx="1047750" cy="1047750"/>
          </a:xfrm>
          <a:prstGeom prst="ellipse">
            <a:avLst/>
          </a:prstGeom>
          <a:solidFill>
            <a:srgbClr val="00E5FF">
              <a:alpha val="19000"/>
            </a:srgbClr>
          </a:solidFill>
          <a:ln w="15240">
            <a:solidFill>
              <a:srgbClr val="00E5FF"/>
            </a:solidFill>
            <a:prstDash val="solid"/>
          </a:ln>
          <a:effectLst>
            <a:outerShdw sx="100000" sy="100000" kx="0" ky="0" algn="bl" rotWithShape="0" blurRad="285750" dist="50800" dir="16200000">
              <a:srgbClr val="00E5FF">
                <a:alpha val="33300"/>
              </a:srgbClr>
            </a:outerShdw>
          </a:effectLst>
        </p:spPr>
      </p:sp>
      <p:pic>
        <p:nvPicPr>
          <p:cNvPr id="25" name="Image 3" descr="preencoded.png">    </p:cNvPr>
          <p:cNvPicPr>
            <a:picLocks noChangeAspect="1"/>
          </p:cNvPicPr>
          <p:nvPr/>
        </p:nvPicPr>
        <p:blipFill>
          <a:blip r:embed="rId4"/>
          <a:stretch>
            <a:fillRect/>
          </a:stretch>
        </p:blipFill>
        <p:spPr>
          <a:xfrm>
            <a:off x="12178665" y="5175409"/>
            <a:ext cx="400050" cy="400050"/>
          </a:xfrm>
          <a:prstGeom prst="rect">
            <a:avLst/>
          </a:prstGeom>
        </p:spPr>
      </p:pic>
      <p:sp>
        <p:nvSpPr>
          <p:cNvPr id="26" name="Text 20"/>
          <p:cNvSpPr/>
          <p:nvPr/>
        </p:nvSpPr>
        <p:spPr>
          <a:xfrm>
            <a:off x="11977092" y="6089809"/>
            <a:ext cx="879396" cy="23622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00E5FF"/>
                </a:solidFill>
                <a:latin typeface="Arial" pitchFamily="34" charset="0"/>
                <a:ea typeface="Arial" pitchFamily="34" charset="-122"/>
                <a:cs typeface="Arial" pitchFamily="34" charset="-120"/>
              </a:rPr>
              <a:t>STEP04</a:t>
            </a:r>
            <a:endParaRPr lang="en-US" sz="1350" dirty="0"/>
          </a:p>
        </p:txBody>
      </p:sp>
      <p:sp>
        <p:nvSpPr>
          <p:cNvPr id="27" name="Text 21"/>
          <p:cNvSpPr/>
          <p:nvPr/>
        </p:nvSpPr>
        <p:spPr>
          <a:xfrm>
            <a:off x="11606569" y="6478429"/>
            <a:ext cx="1544241" cy="335280"/>
          </a:xfrm>
          <a:prstGeom prst="rect">
            <a:avLst/>
          </a:prstGeom>
          <a:noFill/>
          <a:ln/>
        </p:spPr>
        <p:txBody>
          <a:bodyPr wrap="square" lIns="25400" tIns="25400" rIns="25400" bIns="25400" rtlCol="0" anchor="t">
            <a:normAutofit/>
          </a:bodyPr>
          <a:lstStyle/>
          <a:p>
            <a:pPr algn="ctr" indent="0" marL="0">
              <a:lnSpc>
                <a:spcPct val="120000"/>
              </a:lnSpc>
              <a:buNone/>
            </a:pPr>
            <a:r>
              <a:rPr lang="en-US" sz="1950" b="1" dirty="0">
                <a:solidFill>
                  <a:srgbClr val="E7EEF7"/>
                </a:solidFill>
                <a:latin typeface="Arial" pitchFamily="34" charset="0"/>
                <a:ea typeface="Arial" pitchFamily="34" charset="-122"/>
                <a:cs typeface="Arial" pitchFamily="34" charset="-120"/>
              </a:rPr>
              <a:t>Risk scoring</a:t>
            </a:r>
            <a:endParaRPr lang="en-US" sz="1950" dirty="0"/>
          </a:p>
        </p:txBody>
      </p:sp>
      <p:sp>
        <p:nvSpPr>
          <p:cNvPr id="28" name="Text 22"/>
          <p:cNvSpPr/>
          <p:nvPr/>
        </p:nvSpPr>
        <p:spPr>
          <a:xfrm>
            <a:off x="11197590" y="6966109"/>
            <a:ext cx="2362200" cy="51816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8C9AB0"/>
                </a:solidFill>
                <a:latin typeface="Arial" pitchFamily="34" charset="0"/>
                <a:ea typeface="Arial" pitchFamily="34" charset="-122"/>
                <a:cs typeface="Arial" pitchFamily="34" charset="-120"/>
              </a:rPr>
              <a:t>Continuous 0–100 score, weighted across signals.</a:t>
            </a:r>
            <a:endParaRPr lang="en-US" sz="1350" dirty="0"/>
          </a:p>
        </p:txBody>
      </p:sp>
      <p:sp>
        <p:nvSpPr>
          <p:cNvPr id="29" name="Shape 23"/>
          <p:cNvSpPr/>
          <p:nvPr/>
        </p:nvSpPr>
        <p:spPr>
          <a:xfrm>
            <a:off x="15089506" y="4851559"/>
            <a:ext cx="1047750" cy="1047750"/>
          </a:xfrm>
          <a:prstGeom prst="ellipse">
            <a:avLst/>
          </a:prstGeom>
          <a:solidFill>
            <a:srgbClr val="00E5FF">
              <a:alpha val="19000"/>
            </a:srgbClr>
          </a:solidFill>
          <a:ln w="15240">
            <a:solidFill>
              <a:srgbClr val="00E5FF"/>
            </a:solidFill>
            <a:prstDash val="solid"/>
          </a:ln>
          <a:effectLst>
            <a:outerShdw sx="100000" sy="100000" kx="0" ky="0" algn="bl" rotWithShape="0" blurRad="285750" dist="50800" dir="16200000">
              <a:srgbClr val="00E5FF">
                <a:alpha val="33300"/>
              </a:srgbClr>
            </a:outerShdw>
          </a:effectLst>
        </p:spPr>
      </p:sp>
      <p:pic>
        <p:nvPicPr>
          <p:cNvPr id="30" name="Image 4" descr="preencoded.png">    </p:cNvPr>
          <p:cNvPicPr>
            <a:picLocks noChangeAspect="1"/>
          </p:cNvPicPr>
          <p:nvPr/>
        </p:nvPicPr>
        <p:blipFill>
          <a:blip r:embed="rId5"/>
          <a:stretch>
            <a:fillRect/>
          </a:stretch>
        </p:blipFill>
        <p:spPr>
          <a:xfrm>
            <a:off x="15413356" y="5175409"/>
            <a:ext cx="400050" cy="400050"/>
          </a:xfrm>
          <a:prstGeom prst="rect">
            <a:avLst/>
          </a:prstGeom>
        </p:spPr>
      </p:pic>
      <p:sp>
        <p:nvSpPr>
          <p:cNvPr id="31" name="Text 24"/>
          <p:cNvSpPr/>
          <p:nvPr/>
        </p:nvSpPr>
        <p:spPr>
          <a:xfrm>
            <a:off x="15211782" y="6089809"/>
            <a:ext cx="879396" cy="23622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00E5FF"/>
                </a:solidFill>
                <a:latin typeface="Arial" pitchFamily="34" charset="0"/>
                <a:ea typeface="Arial" pitchFamily="34" charset="-122"/>
                <a:cs typeface="Arial" pitchFamily="34" charset="-120"/>
              </a:rPr>
              <a:t>STEP05</a:t>
            </a:r>
            <a:endParaRPr lang="en-US" sz="1350" dirty="0"/>
          </a:p>
        </p:txBody>
      </p:sp>
      <p:sp>
        <p:nvSpPr>
          <p:cNvPr id="32" name="Text 25"/>
          <p:cNvSpPr/>
          <p:nvPr/>
        </p:nvSpPr>
        <p:spPr>
          <a:xfrm>
            <a:off x="15056405" y="6478429"/>
            <a:ext cx="1113830" cy="335280"/>
          </a:xfrm>
          <a:prstGeom prst="rect">
            <a:avLst/>
          </a:prstGeom>
          <a:noFill/>
          <a:ln/>
        </p:spPr>
        <p:txBody>
          <a:bodyPr wrap="square" lIns="25400" tIns="25400" rIns="25400" bIns="25400" rtlCol="0" anchor="t">
            <a:normAutofit/>
          </a:bodyPr>
          <a:lstStyle/>
          <a:p>
            <a:pPr algn="ctr" indent="0" marL="0">
              <a:lnSpc>
                <a:spcPct val="120000"/>
              </a:lnSpc>
              <a:buNone/>
            </a:pPr>
            <a:r>
              <a:rPr lang="en-US" sz="1950" b="1" dirty="0">
                <a:solidFill>
                  <a:srgbClr val="E7EEF7"/>
                </a:solidFill>
                <a:latin typeface="Arial" pitchFamily="34" charset="0"/>
                <a:ea typeface="Arial" pitchFamily="34" charset="-122"/>
                <a:cs typeface="Arial" pitchFamily="34" charset="-120"/>
              </a:rPr>
              <a:t>Decision</a:t>
            </a:r>
            <a:endParaRPr lang="en-US" sz="1950" dirty="0"/>
          </a:p>
        </p:txBody>
      </p:sp>
      <p:sp>
        <p:nvSpPr>
          <p:cNvPr id="33" name="Text 26"/>
          <p:cNvSpPr/>
          <p:nvPr/>
        </p:nvSpPr>
        <p:spPr>
          <a:xfrm>
            <a:off x="14432281" y="6966109"/>
            <a:ext cx="2362200" cy="518160"/>
          </a:xfrm>
          <a:prstGeom prst="rect">
            <a:avLst/>
          </a:prstGeom>
          <a:noFill/>
          <a:ln/>
        </p:spPr>
        <p:txBody>
          <a:bodyPr wrap="square" lIns="25400" tIns="25400" rIns="25400" bIns="25400" rtlCol="0" anchor="t">
            <a:normAutofit/>
          </a:bodyPr>
          <a:lstStyle/>
          <a:p>
            <a:pPr algn="ctr" indent="0" marL="0">
              <a:lnSpc>
                <a:spcPct val="140000"/>
              </a:lnSpc>
              <a:buNone/>
            </a:pPr>
            <a:r>
              <a:rPr lang="en-US" sz="1350" dirty="0">
                <a:solidFill>
                  <a:srgbClr val="8C9AB0"/>
                </a:solidFill>
                <a:latin typeface="Arial" pitchFamily="34" charset="0"/>
                <a:ea typeface="Arial" pitchFamily="34" charset="-122"/>
                <a:cs typeface="Arial" pitchFamily="34" charset="-120"/>
              </a:rPr>
              <a:t>Allow, challenge, or block — sub-millisecond.</a:t>
            </a:r>
            <a:endParaRPr lang="en-US" sz="1350" dirty="0"/>
          </a:p>
        </p:txBody>
      </p:sp>
      <p:sp>
        <p:nvSpPr>
          <p:cNvPr id="34" name="Shape 27"/>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35" name="Text 28"/>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36" name="Text 29"/>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10/17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09/</a:t>
            </a:r>
            <a:endParaRPr lang="en-US" sz="1800" dirty="0"/>
          </a:p>
        </p:txBody>
      </p:sp>
      <p:sp>
        <p:nvSpPr>
          <p:cNvPr id="7" name="Text 5"/>
          <p:cNvSpPr/>
          <p:nvPr/>
        </p:nvSpPr>
        <p:spPr>
          <a:xfrm>
            <a:off x="1935480" y="967740"/>
            <a:ext cx="2361962"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KEY FEATURES</a:t>
            </a:r>
            <a:endParaRPr lang="en-US" sz="1800" dirty="0"/>
          </a:p>
        </p:txBody>
      </p:sp>
      <p:sp>
        <p:nvSpPr>
          <p:cNvPr id="8" name="Text 6"/>
          <p:cNvSpPr/>
          <p:nvPr/>
        </p:nvSpPr>
        <p:spPr>
          <a:xfrm>
            <a:off x="1143000" y="1428750"/>
            <a:ext cx="14504213"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Behavior, not blocklists, drives every decision</a:t>
            </a:r>
            <a:endParaRPr lang="en-US" sz="4800" dirty="0"/>
          </a:p>
        </p:txBody>
      </p:sp>
      <p:sp>
        <p:nvSpPr>
          <p:cNvPr id="9" name="Shape 7"/>
          <p:cNvSpPr/>
          <p:nvPr/>
        </p:nvSpPr>
        <p:spPr>
          <a:xfrm>
            <a:off x="1143000" y="2582347"/>
            <a:ext cx="3032760" cy="6942654"/>
          </a:xfrm>
          <a:prstGeom prst="roundRect">
            <a:avLst>
              <a:gd name="adj" fmla="val 5025"/>
            </a:avLst>
          </a:prstGeom>
          <a:solidFill>
            <a:srgbClr val="00E5FF">
              <a:alpha val="6000"/>
            </a:srgbClr>
          </a:solidFill>
          <a:ln w="7620">
            <a:solidFill>
              <a:srgbClr val="78A0D2">
                <a:alpha val="14000"/>
              </a:srgbClr>
            </a:solidFill>
            <a:prstDash val="solid"/>
          </a:ln>
        </p:spPr>
      </p:sp>
      <p:sp>
        <p:nvSpPr>
          <p:cNvPr id="10" name="Shape 8"/>
          <p:cNvSpPr/>
          <p:nvPr/>
        </p:nvSpPr>
        <p:spPr>
          <a:xfrm>
            <a:off x="1150620" y="2589967"/>
            <a:ext cx="3017520" cy="19050"/>
          </a:xfrm>
          <a:prstGeom prst="rect">
            <a:avLst/>
          </a:prstGeom>
          <a:solidFill>
            <a:srgbClr val="00E5FF"/>
          </a:solidFill>
          <a:ln/>
        </p:spPr>
      </p:sp>
      <p:sp>
        <p:nvSpPr>
          <p:cNvPr id="11" name="Text 9"/>
          <p:cNvSpPr/>
          <p:nvPr/>
        </p:nvSpPr>
        <p:spPr>
          <a:xfrm>
            <a:off x="1455420" y="2894767"/>
            <a:ext cx="2484120" cy="21336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00E5FF"/>
                </a:solidFill>
                <a:latin typeface="Arial" pitchFamily="34" charset="0"/>
                <a:ea typeface="Arial" pitchFamily="34" charset="-122"/>
                <a:cs typeface="Arial" pitchFamily="34" charset="-120"/>
              </a:rPr>
              <a:t>01</a:t>
            </a:r>
            <a:endParaRPr lang="en-US" sz="1200" dirty="0"/>
          </a:p>
        </p:txBody>
      </p:sp>
      <p:sp>
        <p:nvSpPr>
          <p:cNvPr id="12" name="Shape 10"/>
          <p:cNvSpPr/>
          <p:nvPr/>
        </p:nvSpPr>
        <p:spPr>
          <a:xfrm>
            <a:off x="1455420" y="3279577"/>
            <a:ext cx="609600" cy="609600"/>
          </a:xfrm>
          <a:prstGeom prst="roundRect">
            <a:avLst>
              <a:gd name="adj" fmla="val 21875"/>
            </a:avLst>
          </a:prstGeom>
          <a:solidFill>
            <a:srgbClr val="00E5FF">
              <a:alpha val="19000"/>
            </a:srgbClr>
          </a:solidFill>
          <a:ln w="7620">
            <a:solidFill>
              <a:srgbClr val="00E5FF">
                <a:alpha val="40000"/>
              </a:srgbClr>
            </a:solidFill>
            <a:prstDash val="solid"/>
          </a:ln>
        </p:spPr>
      </p:sp>
      <p:pic>
        <p:nvPicPr>
          <p:cNvPr id="13" name="Image 0" descr="preencoded.png">    </p:cNvPr>
          <p:cNvPicPr>
            <a:picLocks noChangeAspect="1"/>
          </p:cNvPicPr>
          <p:nvPr/>
        </p:nvPicPr>
        <p:blipFill>
          <a:blip r:embed="rId1"/>
          <a:stretch>
            <a:fillRect/>
          </a:stretch>
        </p:blipFill>
        <p:spPr>
          <a:xfrm>
            <a:off x="1607820" y="3431977"/>
            <a:ext cx="304800" cy="304800"/>
          </a:xfrm>
          <a:prstGeom prst="rect">
            <a:avLst/>
          </a:prstGeom>
        </p:spPr>
      </p:pic>
      <p:sp>
        <p:nvSpPr>
          <p:cNvPr id="14" name="Text 11"/>
          <p:cNvSpPr/>
          <p:nvPr/>
        </p:nvSpPr>
        <p:spPr>
          <a:xfrm>
            <a:off x="1455420" y="4098727"/>
            <a:ext cx="2484120" cy="6324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E7EEF7"/>
                </a:solidFill>
                <a:latin typeface="Arial" pitchFamily="34" charset="0"/>
                <a:ea typeface="Arial" pitchFamily="34" charset="-122"/>
                <a:cs typeface="Arial" pitchFamily="34" charset="-120"/>
              </a:rPr>
              <a:t>Behavior-based detection</a:t>
            </a:r>
            <a:endParaRPr lang="en-US" sz="1950" dirty="0"/>
          </a:p>
        </p:txBody>
      </p:sp>
      <p:sp>
        <p:nvSpPr>
          <p:cNvPr id="15" name="Text 12"/>
          <p:cNvSpPr/>
          <p:nvPr/>
        </p:nvSpPr>
        <p:spPr>
          <a:xfrm>
            <a:off x="1455420" y="4902637"/>
            <a:ext cx="2484120"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Mouse, scroll, timing patterns — not just IP.</a:t>
            </a:r>
            <a:endParaRPr lang="en-US" sz="1350" dirty="0"/>
          </a:p>
        </p:txBody>
      </p:sp>
      <p:sp>
        <p:nvSpPr>
          <p:cNvPr id="16" name="Shape 13"/>
          <p:cNvSpPr/>
          <p:nvPr/>
        </p:nvSpPr>
        <p:spPr>
          <a:xfrm>
            <a:off x="4385310" y="2582347"/>
            <a:ext cx="3032760" cy="6942654"/>
          </a:xfrm>
          <a:prstGeom prst="roundRect">
            <a:avLst>
              <a:gd name="adj" fmla="val 5025"/>
            </a:avLst>
          </a:prstGeom>
          <a:solidFill>
            <a:srgbClr val="00E5FF">
              <a:alpha val="6000"/>
            </a:srgbClr>
          </a:solidFill>
          <a:ln w="7620">
            <a:solidFill>
              <a:srgbClr val="78A0D2">
                <a:alpha val="14000"/>
              </a:srgbClr>
            </a:solidFill>
            <a:prstDash val="solid"/>
          </a:ln>
        </p:spPr>
      </p:sp>
      <p:sp>
        <p:nvSpPr>
          <p:cNvPr id="17" name="Shape 14"/>
          <p:cNvSpPr/>
          <p:nvPr/>
        </p:nvSpPr>
        <p:spPr>
          <a:xfrm>
            <a:off x="4392930" y="2589967"/>
            <a:ext cx="3017520" cy="19050"/>
          </a:xfrm>
          <a:prstGeom prst="rect">
            <a:avLst/>
          </a:prstGeom>
          <a:solidFill>
            <a:srgbClr val="00E5FF"/>
          </a:solidFill>
          <a:ln/>
        </p:spPr>
      </p:sp>
      <p:sp>
        <p:nvSpPr>
          <p:cNvPr id="18" name="Text 15"/>
          <p:cNvSpPr/>
          <p:nvPr/>
        </p:nvSpPr>
        <p:spPr>
          <a:xfrm>
            <a:off x="4697730" y="2894767"/>
            <a:ext cx="2484120" cy="21336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00E5FF"/>
                </a:solidFill>
                <a:latin typeface="Arial" pitchFamily="34" charset="0"/>
                <a:ea typeface="Arial" pitchFamily="34" charset="-122"/>
                <a:cs typeface="Arial" pitchFamily="34" charset="-120"/>
              </a:rPr>
              <a:t>02</a:t>
            </a:r>
            <a:endParaRPr lang="en-US" sz="1200" dirty="0"/>
          </a:p>
        </p:txBody>
      </p:sp>
      <p:sp>
        <p:nvSpPr>
          <p:cNvPr id="19" name="Shape 16"/>
          <p:cNvSpPr/>
          <p:nvPr/>
        </p:nvSpPr>
        <p:spPr>
          <a:xfrm>
            <a:off x="4697730" y="3279577"/>
            <a:ext cx="609600" cy="609600"/>
          </a:xfrm>
          <a:prstGeom prst="roundRect">
            <a:avLst>
              <a:gd name="adj" fmla="val 21875"/>
            </a:avLst>
          </a:prstGeom>
          <a:solidFill>
            <a:srgbClr val="00E5FF">
              <a:alpha val="19000"/>
            </a:srgbClr>
          </a:solidFill>
          <a:ln w="7620">
            <a:solidFill>
              <a:srgbClr val="00E5FF">
                <a:alpha val="40000"/>
              </a:srgbClr>
            </a:solidFill>
            <a:prstDash val="solid"/>
          </a:ln>
        </p:spPr>
      </p:sp>
      <p:pic>
        <p:nvPicPr>
          <p:cNvPr id="20" name="Image 1" descr="preencoded.png">    </p:cNvPr>
          <p:cNvPicPr>
            <a:picLocks noChangeAspect="1"/>
          </p:cNvPicPr>
          <p:nvPr/>
        </p:nvPicPr>
        <p:blipFill>
          <a:blip r:embed="rId2"/>
          <a:stretch>
            <a:fillRect/>
          </a:stretch>
        </p:blipFill>
        <p:spPr>
          <a:xfrm>
            <a:off x="4850130" y="3431977"/>
            <a:ext cx="304800" cy="304800"/>
          </a:xfrm>
          <a:prstGeom prst="rect">
            <a:avLst/>
          </a:prstGeom>
        </p:spPr>
      </p:pic>
      <p:sp>
        <p:nvSpPr>
          <p:cNvPr id="21" name="Text 17"/>
          <p:cNvSpPr/>
          <p:nvPr/>
        </p:nvSpPr>
        <p:spPr>
          <a:xfrm>
            <a:off x="4697730" y="4098727"/>
            <a:ext cx="2484120" cy="6324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E7EEF7"/>
                </a:solidFill>
                <a:latin typeface="Arial" pitchFamily="34" charset="0"/>
                <a:ea typeface="Arial" pitchFamily="34" charset="-122"/>
                <a:cs typeface="Arial" pitchFamily="34" charset="-120"/>
              </a:rPr>
              <a:t>Real-time processing</a:t>
            </a:r>
            <a:endParaRPr lang="en-US" sz="1950" dirty="0"/>
          </a:p>
        </p:txBody>
      </p:sp>
      <p:sp>
        <p:nvSpPr>
          <p:cNvPr id="22" name="Text 18"/>
          <p:cNvSpPr/>
          <p:nvPr/>
        </p:nvSpPr>
        <p:spPr>
          <a:xfrm>
            <a:off x="4697730" y="4902637"/>
            <a:ext cx="2484120"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Sub-millisecond decision per request.</a:t>
            </a:r>
            <a:endParaRPr lang="en-US" sz="1350" dirty="0"/>
          </a:p>
        </p:txBody>
      </p:sp>
      <p:sp>
        <p:nvSpPr>
          <p:cNvPr id="23" name="Shape 19"/>
          <p:cNvSpPr/>
          <p:nvPr/>
        </p:nvSpPr>
        <p:spPr>
          <a:xfrm>
            <a:off x="7627620" y="2582347"/>
            <a:ext cx="3032760" cy="6942654"/>
          </a:xfrm>
          <a:prstGeom prst="roundRect">
            <a:avLst>
              <a:gd name="adj" fmla="val 5025"/>
            </a:avLst>
          </a:prstGeom>
          <a:solidFill>
            <a:srgbClr val="00E5FF">
              <a:alpha val="6000"/>
            </a:srgbClr>
          </a:solidFill>
          <a:ln w="7620">
            <a:solidFill>
              <a:srgbClr val="78A0D2">
                <a:alpha val="14000"/>
              </a:srgbClr>
            </a:solidFill>
            <a:prstDash val="solid"/>
          </a:ln>
        </p:spPr>
      </p:sp>
      <p:sp>
        <p:nvSpPr>
          <p:cNvPr id="24" name="Shape 20"/>
          <p:cNvSpPr/>
          <p:nvPr/>
        </p:nvSpPr>
        <p:spPr>
          <a:xfrm>
            <a:off x="7635240" y="2589967"/>
            <a:ext cx="3017520" cy="19050"/>
          </a:xfrm>
          <a:prstGeom prst="rect">
            <a:avLst/>
          </a:prstGeom>
          <a:solidFill>
            <a:srgbClr val="00E5FF"/>
          </a:solidFill>
          <a:ln/>
        </p:spPr>
      </p:sp>
      <p:sp>
        <p:nvSpPr>
          <p:cNvPr id="25" name="Text 21"/>
          <p:cNvSpPr/>
          <p:nvPr/>
        </p:nvSpPr>
        <p:spPr>
          <a:xfrm>
            <a:off x="7940040" y="2894767"/>
            <a:ext cx="2484120" cy="21336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00E5FF"/>
                </a:solidFill>
                <a:latin typeface="Arial" pitchFamily="34" charset="0"/>
                <a:ea typeface="Arial" pitchFamily="34" charset="-122"/>
                <a:cs typeface="Arial" pitchFamily="34" charset="-120"/>
              </a:rPr>
              <a:t>03</a:t>
            </a:r>
            <a:endParaRPr lang="en-US" sz="1200" dirty="0"/>
          </a:p>
        </p:txBody>
      </p:sp>
      <p:sp>
        <p:nvSpPr>
          <p:cNvPr id="26" name="Shape 22"/>
          <p:cNvSpPr/>
          <p:nvPr/>
        </p:nvSpPr>
        <p:spPr>
          <a:xfrm>
            <a:off x="7940040" y="3279577"/>
            <a:ext cx="609600" cy="609600"/>
          </a:xfrm>
          <a:prstGeom prst="roundRect">
            <a:avLst>
              <a:gd name="adj" fmla="val 21875"/>
            </a:avLst>
          </a:prstGeom>
          <a:solidFill>
            <a:srgbClr val="00E5FF">
              <a:alpha val="19000"/>
            </a:srgbClr>
          </a:solidFill>
          <a:ln w="7620">
            <a:solidFill>
              <a:srgbClr val="00E5FF">
                <a:alpha val="40000"/>
              </a:srgbClr>
            </a:solidFill>
            <a:prstDash val="solid"/>
          </a:ln>
        </p:spPr>
      </p:sp>
      <p:pic>
        <p:nvPicPr>
          <p:cNvPr id="27" name="Image 2" descr="preencoded.png">    </p:cNvPr>
          <p:cNvPicPr>
            <a:picLocks noChangeAspect="1"/>
          </p:cNvPicPr>
          <p:nvPr/>
        </p:nvPicPr>
        <p:blipFill>
          <a:blip r:embed="rId3"/>
          <a:stretch>
            <a:fillRect/>
          </a:stretch>
        </p:blipFill>
        <p:spPr>
          <a:xfrm>
            <a:off x="8092440" y="3431977"/>
            <a:ext cx="304800" cy="304800"/>
          </a:xfrm>
          <a:prstGeom prst="rect">
            <a:avLst/>
          </a:prstGeom>
        </p:spPr>
      </p:pic>
      <p:sp>
        <p:nvSpPr>
          <p:cNvPr id="28" name="Text 23"/>
          <p:cNvSpPr/>
          <p:nvPr/>
        </p:nvSpPr>
        <p:spPr>
          <a:xfrm>
            <a:off x="7940040" y="4098727"/>
            <a:ext cx="2484120" cy="33528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E7EEF7"/>
                </a:solidFill>
                <a:latin typeface="Arial" pitchFamily="34" charset="0"/>
                <a:ea typeface="Arial" pitchFamily="34" charset="-122"/>
                <a:cs typeface="Arial" pitchFamily="34" charset="-120"/>
              </a:rPr>
              <a:t>Dynamic risk score</a:t>
            </a:r>
            <a:endParaRPr lang="en-US" sz="1950" dirty="0"/>
          </a:p>
        </p:txBody>
      </p:sp>
      <p:sp>
        <p:nvSpPr>
          <p:cNvPr id="29" name="Text 24"/>
          <p:cNvSpPr/>
          <p:nvPr/>
        </p:nvSpPr>
        <p:spPr>
          <a:xfrm>
            <a:off x="7940040" y="4605457"/>
            <a:ext cx="2484120"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Continuous 0–100, recomputed every request.</a:t>
            </a:r>
            <a:endParaRPr lang="en-US" sz="1350" dirty="0"/>
          </a:p>
        </p:txBody>
      </p:sp>
      <p:sp>
        <p:nvSpPr>
          <p:cNvPr id="30" name="Shape 25"/>
          <p:cNvSpPr/>
          <p:nvPr/>
        </p:nvSpPr>
        <p:spPr>
          <a:xfrm>
            <a:off x="10869931" y="2582347"/>
            <a:ext cx="3032760" cy="6942654"/>
          </a:xfrm>
          <a:prstGeom prst="roundRect">
            <a:avLst>
              <a:gd name="adj" fmla="val 5025"/>
            </a:avLst>
          </a:prstGeom>
          <a:solidFill>
            <a:srgbClr val="00E5FF">
              <a:alpha val="6000"/>
            </a:srgbClr>
          </a:solidFill>
          <a:ln w="7620">
            <a:solidFill>
              <a:srgbClr val="78A0D2">
                <a:alpha val="14000"/>
              </a:srgbClr>
            </a:solidFill>
            <a:prstDash val="solid"/>
          </a:ln>
        </p:spPr>
      </p:sp>
      <p:sp>
        <p:nvSpPr>
          <p:cNvPr id="31" name="Shape 26"/>
          <p:cNvSpPr/>
          <p:nvPr/>
        </p:nvSpPr>
        <p:spPr>
          <a:xfrm>
            <a:off x="10877550" y="2589967"/>
            <a:ext cx="3017520" cy="19050"/>
          </a:xfrm>
          <a:prstGeom prst="rect">
            <a:avLst/>
          </a:prstGeom>
          <a:solidFill>
            <a:srgbClr val="00E5FF"/>
          </a:solidFill>
          <a:ln/>
        </p:spPr>
      </p:sp>
      <p:sp>
        <p:nvSpPr>
          <p:cNvPr id="32" name="Text 27"/>
          <p:cNvSpPr/>
          <p:nvPr/>
        </p:nvSpPr>
        <p:spPr>
          <a:xfrm>
            <a:off x="11182350" y="2894767"/>
            <a:ext cx="2484120" cy="21336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00E5FF"/>
                </a:solidFill>
                <a:latin typeface="Arial" pitchFamily="34" charset="0"/>
                <a:ea typeface="Arial" pitchFamily="34" charset="-122"/>
                <a:cs typeface="Arial" pitchFamily="34" charset="-120"/>
              </a:rPr>
              <a:t>04</a:t>
            </a:r>
            <a:endParaRPr lang="en-US" sz="1200" dirty="0"/>
          </a:p>
        </p:txBody>
      </p:sp>
      <p:sp>
        <p:nvSpPr>
          <p:cNvPr id="33" name="Shape 28"/>
          <p:cNvSpPr/>
          <p:nvPr/>
        </p:nvSpPr>
        <p:spPr>
          <a:xfrm>
            <a:off x="11182350" y="3279577"/>
            <a:ext cx="609600" cy="609600"/>
          </a:xfrm>
          <a:prstGeom prst="roundRect">
            <a:avLst>
              <a:gd name="adj" fmla="val 21875"/>
            </a:avLst>
          </a:prstGeom>
          <a:solidFill>
            <a:srgbClr val="00E5FF">
              <a:alpha val="19000"/>
            </a:srgbClr>
          </a:solidFill>
          <a:ln w="7620">
            <a:solidFill>
              <a:srgbClr val="00E5FF">
                <a:alpha val="40000"/>
              </a:srgbClr>
            </a:solidFill>
            <a:prstDash val="solid"/>
          </a:ln>
        </p:spPr>
      </p:sp>
      <p:pic>
        <p:nvPicPr>
          <p:cNvPr id="34" name="Image 3" descr="preencoded.png">    </p:cNvPr>
          <p:cNvPicPr>
            <a:picLocks noChangeAspect="1"/>
          </p:cNvPicPr>
          <p:nvPr/>
        </p:nvPicPr>
        <p:blipFill>
          <a:blip r:embed="rId4"/>
          <a:stretch>
            <a:fillRect/>
          </a:stretch>
        </p:blipFill>
        <p:spPr>
          <a:xfrm>
            <a:off x="11334750" y="3431977"/>
            <a:ext cx="304800" cy="304800"/>
          </a:xfrm>
          <a:prstGeom prst="rect">
            <a:avLst/>
          </a:prstGeom>
        </p:spPr>
      </p:pic>
      <p:sp>
        <p:nvSpPr>
          <p:cNvPr id="35" name="Text 29"/>
          <p:cNvSpPr/>
          <p:nvPr/>
        </p:nvSpPr>
        <p:spPr>
          <a:xfrm>
            <a:off x="11182350" y="4098727"/>
            <a:ext cx="2484120" cy="6324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E7EEF7"/>
                </a:solidFill>
                <a:latin typeface="Arial" pitchFamily="34" charset="0"/>
                <a:ea typeface="Arial" pitchFamily="34" charset="-122"/>
                <a:cs typeface="Arial" pitchFamily="34" charset="-120"/>
              </a:rPr>
              <a:t>JS challenge validation</a:t>
            </a:r>
            <a:endParaRPr lang="en-US" sz="1950" dirty="0"/>
          </a:p>
        </p:txBody>
      </p:sp>
      <p:sp>
        <p:nvSpPr>
          <p:cNvPr id="36" name="Text 30"/>
          <p:cNvSpPr/>
          <p:nvPr/>
        </p:nvSpPr>
        <p:spPr>
          <a:xfrm>
            <a:off x="11182350" y="4902637"/>
            <a:ext cx="2484120"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Silent proof-of-work for borderline traffic.</a:t>
            </a:r>
            <a:endParaRPr lang="en-US" sz="1350" dirty="0"/>
          </a:p>
        </p:txBody>
      </p:sp>
      <p:sp>
        <p:nvSpPr>
          <p:cNvPr id="37" name="Shape 31"/>
          <p:cNvSpPr/>
          <p:nvPr/>
        </p:nvSpPr>
        <p:spPr>
          <a:xfrm>
            <a:off x="14112240" y="2582347"/>
            <a:ext cx="3032760" cy="6942654"/>
          </a:xfrm>
          <a:prstGeom prst="roundRect">
            <a:avLst>
              <a:gd name="adj" fmla="val 5025"/>
            </a:avLst>
          </a:prstGeom>
          <a:solidFill>
            <a:srgbClr val="00E5FF">
              <a:alpha val="6000"/>
            </a:srgbClr>
          </a:solidFill>
          <a:ln w="7620">
            <a:solidFill>
              <a:srgbClr val="78A0D2">
                <a:alpha val="14000"/>
              </a:srgbClr>
            </a:solidFill>
            <a:prstDash val="solid"/>
          </a:ln>
        </p:spPr>
      </p:sp>
      <p:sp>
        <p:nvSpPr>
          <p:cNvPr id="38" name="Shape 32"/>
          <p:cNvSpPr/>
          <p:nvPr/>
        </p:nvSpPr>
        <p:spPr>
          <a:xfrm>
            <a:off x="14119860" y="2589967"/>
            <a:ext cx="3017520" cy="19050"/>
          </a:xfrm>
          <a:prstGeom prst="rect">
            <a:avLst/>
          </a:prstGeom>
          <a:solidFill>
            <a:srgbClr val="00E5FF"/>
          </a:solidFill>
          <a:ln/>
        </p:spPr>
      </p:sp>
      <p:sp>
        <p:nvSpPr>
          <p:cNvPr id="39" name="Text 33"/>
          <p:cNvSpPr/>
          <p:nvPr/>
        </p:nvSpPr>
        <p:spPr>
          <a:xfrm>
            <a:off x="14424660" y="2894767"/>
            <a:ext cx="2484120" cy="21336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00E5FF"/>
                </a:solidFill>
                <a:latin typeface="Arial" pitchFamily="34" charset="0"/>
                <a:ea typeface="Arial" pitchFamily="34" charset="-122"/>
                <a:cs typeface="Arial" pitchFamily="34" charset="-120"/>
              </a:rPr>
              <a:t>05</a:t>
            </a:r>
            <a:endParaRPr lang="en-US" sz="1200" dirty="0"/>
          </a:p>
        </p:txBody>
      </p:sp>
      <p:sp>
        <p:nvSpPr>
          <p:cNvPr id="40" name="Shape 34"/>
          <p:cNvSpPr/>
          <p:nvPr/>
        </p:nvSpPr>
        <p:spPr>
          <a:xfrm>
            <a:off x="14424660" y="3279577"/>
            <a:ext cx="609600" cy="609600"/>
          </a:xfrm>
          <a:prstGeom prst="roundRect">
            <a:avLst>
              <a:gd name="adj" fmla="val 21875"/>
            </a:avLst>
          </a:prstGeom>
          <a:solidFill>
            <a:srgbClr val="00E5FF">
              <a:alpha val="19000"/>
            </a:srgbClr>
          </a:solidFill>
          <a:ln w="7620">
            <a:solidFill>
              <a:srgbClr val="00E5FF">
                <a:alpha val="40000"/>
              </a:srgbClr>
            </a:solidFill>
            <a:prstDash val="solid"/>
          </a:ln>
        </p:spPr>
      </p:sp>
      <p:pic>
        <p:nvPicPr>
          <p:cNvPr id="41" name="Image 4" descr="preencoded.png">    </p:cNvPr>
          <p:cNvPicPr>
            <a:picLocks noChangeAspect="1"/>
          </p:cNvPicPr>
          <p:nvPr/>
        </p:nvPicPr>
        <p:blipFill>
          <a:blip r:embed="rId5"/>
          <a:stretch>
            <a:fillRect/>
          </a:stretch>
        </p:blipFill>
        <p:spPr>
          <a:xfrm>
            <a:off x="14577060" y="3431977"/>
            <a:ext cx="304800" cy="304800"/>
          </a:xfrm>
          <a:prstGeom prst="rect">
            <a:avLst/>
          </a:prstGeom>
        </p:spPr>
      </p:pic>
      <p:sp>
        <p:nvSpPr>
          <p:cNvPr id="42" name="Text 35"/>
          <p:cNvSpPr/>
          <p:nvPr/>
        </p:nvSpPr>
        <p:spPr>
          <a:xfrm>
            <a:off x="14424660" y="4098727"/>
            <a:ext cx="2484120" cy="632460"/>
          </a:xfrm>
          <a:prstGeom prst="rect">
            <a:avLst/>
          </a:prstGeom>
          <a:noFill/>
          <a:ln/>
        </p:spPr>
        <p:txBody>
          <a:bodyPr wrap="square" lIns="25400" tIns="25400" rIns="25400" bIns="25400" rtlCol="0" anchor="t">
            <a:normAutofit/>
          </a:bodyPr>
          <a:lstStyle/>
          <a:p>
            <a:pPr algn="l" indent="0" marL="0">
              <a:lnSpc>
                <a:spcPct val="120000"/>
              </a:lnSpc>
              <a:buNone/>
            </a:pPr>
            <a:r>
              <a:rPr lang="en-US" sz="1950" b="1" dirty="0">
                <a:solidFill>
                  <a:srgbClr val="E7EEF7"/>
                </a:solidFill>
                <a:latin typeface="Arial" pitchFamily="34" charset="0"/>
                <a:ea typeface="Arial" pitchFamily="34" charset="-122"/>
                <a:cs typeface="Arial" pitchFamily="34" charset="-120"/>
              </a:rPr>
              <a:t>Dashboard monitoring</a:t>
            </a:r>
            <a:endParaRPr lang="en-US" sz="1950" dirty="0"/>
          </a:p>
        </p:txBody>
      </p:sp>
      <p:sp>
        <p:nvSpPr>
          <p:cNvPr id="43" name="Text 36"/>
          <p:cNvSpPr/>
          <p:nvPr/>
        </p:nvSpPr>
        <p:spPr>
          <a:xfrm>
            <a:off x="14424660" y="4902637"/>
            <a:ext cx="2484120"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Live attacks, decisions, top threats.</a:t>
            </a:r>
            <a:endParaRPr lang="en-US" sz="1350" dirty="0"/>
          </a:p>
        </p:txBody>
      </p:sp>
      <p:sp>
        <p:nvSpPr>
          <p:cNvPr id="44" name="Shape 37"/>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45" name="Text 38"/>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46" name="Text 39"/>
          <p:cNvSpPr/>
          <p:nvPr/>
        </p:nvSpPr>
        <p:spPr>
          <a:xfrm>
            <a:off x="16540639" y="9768840"/>
            <a:ext cx="680561"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11/17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10/</a:t>
            </a:r>
            <a:endParaRPr lang="en-US" sz="1800" dirty="0"/>
          </a:p>
        </p:txBody>
      </p:sp>
      <p:sp>
        <p:nvSpPr>
          <p:cNvPr id="7" name="Text 5"/>
          <p:cNvSpPr/>
          <p:nvPr/>
        </p:nvSpPr>
        <p:spPr>
          <a:xfrm>
            <a:off x="1935480" y="967740"/>
            <a:ext cx="4074527"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DEMO · LIVE SIMULATION</a:t>
            </a:r>
            <a:endParaRPr lang="en-US" sz="1800" dirty="0"/>
          </a:p>
        </p:txBody>
      </p:sp>
      <p:sp>
        <p:nvSpPr>
          <p:cNvPr id="8" name="Text 6"/>
          <p:cNvSpPr/>
          <p:nvPr/>
        </p:nvSpPr>
        <p:spPr>
          <a:xfrm>
            <a:off x="1143000" y="1428750"/>
            <a:ext cx="14504213"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The dashboard shows attacks as they happen — and exactly how SmartShield reacts</a:t>
            </a:r>
            <a:endParaRPr lang="en-US" sz="4800" dirty="0"/>
          </a:p>
        </p:txBody>
      </p:sp>
      <p:sp>
        <p:nvSpPr>
          <p:cNvPr id="9" name="Shape 7"/>
          <p:cNvSpPr/>
          <p:nvPr/>
        </p:nvSpPr>
        <p:spPr>
          <a:xfrm>
            <a:off x="1143000" y="3240643"/>
            <a:ext cx="11107222" cy="6708457"/>
          </a:xfrm>
          <a:prstGeom prst="roundRect">
            <a:avLst>
              <a:gd name="adj" fmla="val 2272"/>
            </a:avLst>
          </a:prstGeom>
          <a:solidFill>
            <a:srgbClr val="141E32">
              <a:alpha val="55000"/>
            </a:srgbClr>
          </a:solidFill>
          <a:ln w="7620">
            <a:solidFill>
              <a:srgbClr val="78A0D2">
                <a:alpha val="14000"/>
              </a:srgbClr>
            </a:solidFill>
            <a:prstDash val="solid"/>
          </a:ln>
        </p:spPr>
      </p:sp>
      <p:sp>
        <p:nvSpPr>
          <p:cNvPr id="10" name="Text 8"/>
          <p:cNvSpPr/>
          <p:nvPr/>
        </p:nvSpPr>
        <p:spPr>
          <a:xfrm>
            <a:off x="1341120" y="3400663"/>
            <a:ext cx="3834041" cy="213360"/>
          </a:xfrm>
          <a:prstGeom prst="rect">
            <a:avLst/>
          </a:prstGeom>
          <a:noFill/>
          <a:ln/>
        </p:spPr>
        <p:txBody>
          <a:bodyPr wrap="square" lIns="25400" tIns="25400" rIns="25400" bIns="25400" rtlCol="0" anchor="t">
            <a:normAutofit/>
          </a:bodyPr>
          <a:lstStyle/>
          <a:p>
            <a:pPr algn="l" indent="0" marL="0">
              <a:buNone/>
            </a:pPr>
            <a:r>
              <a:rPr lang="en-US" sz="1200" spc="192" kern="0" dirty="0">
                <a:solidFill>
                  <a:srgbClr val="5C6A82"/>
                </a:solidFill>
                <a:latin typeface="Arial" pitchFamily="34" charset="0"/>
                <a:ea typeface="Arial" pitchFamily="34" charset="-122"/>
                <a:cs typeface="Arial" pitchFamily="34" charset="-120"/>
              </a:rPr>
              <a:t>LIVE TRAFFIC FEED · /API/DASHBOARD</a:t>
            </a:r>
            <a:endParaRPr lang="en-US" sz="1200" dirty="0"/>
          </a:p>
        </p:txBody>
      </p:sp>
      <p:sp>
        <p:nvSpPr>
          <p:cNvPr id="11" name="Shape 9"/>
          <p:cNvSpPr/>
          <p:nvPr/>
        </p:nvSpPr>
        <p:spPr>
          <a:xfrm>
            <a:off x="11019234" y="3442573"/>
            <a:ext cx="76200" cy="76200"/>
          </a:xfrm>
          <a:prstGeom prst="ellipse">
            <a:avLst/>
          </a:prstGeom>
          <a:solidFill>
            <a:srgbClr val="39FF88">
              <a:alpha val="96000"/>
            </a:srgbClr>
          </a:solidFill>
          <a:ln/>
          <a:effectLst>
            <a:outerShdw sx="100000" sy="100000" kx="0" ky="0" algn="bl" rotWithShape="0" blurRad="76200" dist="50800" dir="16200000">
              <a:srgbClr val="39FF88">
                <a:alpha val="96238"/>
              </a:srgbClr>
            </a:outerShdw>
          </a:effectLst>
        </p:spPr>
      </p:sp>
      <p:sp>
        <p:nvSpPr>
          <p:cNvPr id="12" name="Text 10"/>
          <p:cNvSpPr/>
          <p:nvPr/>
        </p:nvSpPr>
        <p:spPr>
          <a:xfrm>
            <a:off x="11171634" y="3400663"/>
            <a:ext cx="956667" cy="198120"/>
          </a:xfrm>
          <a:prstGeom prst="rect">
            <a:avLst/>
          </a:prstGeom>
          <a:noFill/>
          <a:ln/>
        </p:spPr>
        <p:txBody>
          <a:bodyPr wrap="square" lIns="25400" tIns="25400" rIns="25400" bIns="25400" rtlCol="0" anchor="t">
            <a:normAutofit/>
          </a:bodyPr>
          <a:lstStyle/>
          <a:p>
            <a:pPr algn="l" indent="0" marL="0">
              <a:buNone/>
            </a:pPr>
            <a:r>
              <a:rPr lang="en-US" sz="1050" spc="105" kern="0" dirty="0">
                <a:solidFill>
                  <a:srgbClr val="39FF88"/>
                </a:solidFill>
                <a:latin typeface="Arial" pitchFamily="34" charset="0"/>
                <a:ea typeface="Arial" pitchFamily="34" charset="-122"/>
                <a:cs typeface="Arial" pitchFamily="34" charset="-120"/>
              </a:rPr>
              <a:t>REC · 00:42</a:t>
            </a:r>
            <a:endParaRPr lang="en-US" sz="1050" dirty="0"/>
          </a:p>
        </p:txBody>
      </p:sp>
      <p:pic>
        <p:nvPicPr>
          <p:cNvPr id="13" name="Image 0" descr="preencoded.png">    </p:cNvPr>
          <p:cNvPicPr>
            <a:picLocks noChangeAspect="1"/>
          </p:cNvPicPr>
          <p:nvPr/>
        </p:nvPicPr>
        <p:blipFill>
          <a:blip r:embed="rId1"/>
          <a:stretch>
            <a:fillRect/>
          </a:stretch>
        </p:blipFill>
        <p:spPr>
          <a:xfrm>
            <a:off x="1150620" y="3248263"/>
            <a:ext cx="11091982" cy="6693218"/>
          </a:xfrm>
          <a:prstGeom prst="rect">
            <a:avLst/>
          </a:prstGeom>
        </p:spPr>
      </p:pic>
      <p:sp>
        <p:nvSpPr>
          <p:cNvPr id="14" name="Shape 11"/>
          <p:cNvSpPr/>
          <p:nvPr/>
        </p:nvSpPr>
        <p:spPr>
          <a:xfrm>
            <a:off x="12516922" y="3240643"/>
            <a:ext cx="4627959" cy="1489710"/>
          </a:xfrm>
          <a:prstGeom prst="roundRect">
            <a:avLst>
              <a:gd name="adj" fmla="val 10230"/>
            </a:avLst>
          </a:prstGeom>
          <a:solidFill>
            <a:srgbClr val="141E32">
              <a:alpha val="55000"/>
            </a:srgbClr>
          </a:solidFill>
          <a:ln w="7620">
            <a:solidFill>
              <a:srgbClr val="78A0D2">
                <a:alpha val="14000"/>
              </a:srgbClr>
            </a:solidFill>
            <a:prstDash val="solid"/>
          </a:ln>
        </p:spPr>
      </p:sp>
      <p:sp>
        <p:nvSpPr>
          <p:cNvPr id="15" name="Text 12"/>
          <p:cNvSpPr/>
          <p:nvPr/>
        </p:nvSpPr>
        <p:spPr>
          <a:xfrm>
            <a:off x="12734091" y="3457813"/>
            <a:ext cx="4319428" cy="19812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5C6A82"/>
                </a:solidFill>
                <a:latin typeface="Arial" pitchFamily="34" charset="0"/>
                <a:ea typeface="Arial" pitchFamily="34" charset="-122"/>
                <a:cs typeface="Arial" pitchFamily="34" charset="-120"/>
              </a:rPr>
              <a:t>ACTIVE SESSIONS</a:t>
            </a:r>
            <a:endParaRPr lang="en-US" sz="1050" dirty="0"/>
          </a:p>
        </p:txBody>
      </p:sp>
      <p:sp>
        <p:nvSpPr>
          <p:cNvPr id="16" name="Text 13"/>
          <p:cNvSpPr/>
          <p:nvPr/>
        </p:nvSpPr>
        <p:spPr>
          <a:xfrm>
            <a:off x="12734091" y="3713083"/>
            <a:ext cx="1447800" cy="640080"/>
          </a:xfrm>
          <a:prstGeom prst="rect">
            <a:avLst/>
          </a:prstGeom>
          <a:noFill/>
          <a:ln/>
          <a:effectLst>
            <a:outerShdw sx="100000" sy="100000" kx="0" ky="0" algn="bl" rotWithShape="0" blurRad="171450" dist="50800" dir="16200000">
              <a:srgbClr val="00E5FF">
                <a:alpha val="40000"/>
              </a:srgbClr>
            </a:outerShdw>
          </a:effectLst>
        </p:spPr>
        <p:txBody>
          <a:bodyPr wrap="square" lIns="25400" tIns="25400" rIns="25400" bIns="25400" rtlCol="0" anchor="t">
            <a:normAutofit/>
          </a:bodyPr>
          <a:lstStyle/>
          <a:p>
            <a:pPr algn="l" indent="0" marL="0">
              <a:buNone/>
            </a:pPr>
            <a:r>
              <a:rPr lang="en-US" sz="3600" b="1" dirty="0">
                <a:solidFill>
                  <a:srgbClr val="00E5FF"/>
                </a:solidFill>
                <a:latin typeface="Arial" pitchFamily="34" charset="0"/>
                <a:ea typeface="Arial" pitchFamily="34" charset="-122"/>
                <a:cs typeface="Arial" pitchFamily="34" charset="-120"/>
              </a:rPr>
              <a:t>4,730</a:t>
            </a:r>
            <a:endParaRPr lang="en-US" sz="3600" dirty="0"/>
          </a:p>
        </p:txBody>
      </p:sp>
      <p:sp>
        <p:nvSpPr>
          <p:cNvPr id="17" name="Text 14"/>
          <p:cNvSpPr/>
          <p:nvPr/>
        </p:nvSpPr>
        <p:spPr>
          <a:xfrm>
            <a:off x="12734091" y="4353163"/>
            <a:ext cx="4319428" cy="198120"/>
          </a:xfrm>
          <a:prstGeom prst="rect">
            <a:avLst/>
          </a:prstGeom>
          <a:noFill/>
          <a:ln/>
        </p:spPr>
        <p:txBody>
          <a:bodyPr wrap="square" lIns="25400" tIns="25400" rIns="25400" bIns="25400" rtlCol="0" anchor="t">
            <a:normAutofit/>
          </a:bodyPr>
          <a:lstStyle/>
          <a:p>
            <a:pPr algn="l" indent="0" marL="0">
              <a:buNone/>
            </a:pPr>
            <a:r>
              <a:rPr lang="en-US" sz="1050" dirty="0">
                <a:solidFill>
                  <a:srgbClr val="39FF88"/>
                </a:solidFill>
                <a:latin typeface="Arial" pitchFamily="34" charset="0"/>
                <a:ea typeface="Arial" pitchFamily="34" charset="-122"/>
                <a:cs typeface="Arial" pitchFamily="34" charset="-120"/>
              </a:rPr>
              <a:t>▲ 12% vs avg</a:t>
            </a:r>
            <a:endParaRPr lang="en-US" sz="1050" dirty="0"/>
          </a:p>
        </p:txBody>
      </p:sp>
      <p:sp>
        <p:nvSpPr>
          <p:cNvPr id="18" name="Shape 15"/>
          <p:cNvSpPr/>
          <p:nvPr/>
        </p:nvSpPr>
        <p:spPr>
          <a:xfrm>
            <a:off x="12516922" y="4901803"/>
            <a:ext cx="4627959" cy="1809750"/>
          </a:xfrm>
          <a:prstGeom prst="roundRect">
            <a:avLst>
              <a:gd name="adj" fmla="val 8421"/>
            </a:avLst>
          </a:prstGeom>
          <a:solidFill>
            <a:srgbClr val="141E32">
              <a:alpha val="55000"/>
            </a:srgbClr>
          </a:solidFill>
          <a:ln w="7620">
            <a:solidFill>
              <a:srgbClr val="78A0D2">
                <a:alpha val="14000"/>
              </a:srgbClr>
            </a:solidFill>
            <a:prstDash val="solid"/>
          </a:ln>
        </p:spPr>
      </p:sp>
      <p:sp>
        <p:nvSpPr>
          <p:cNvPr id="19" name="Text 16"/>
          <p:cNvSpPr/>
          <p:nvPr/>
        </p:nvSpPr>
        <p:spPr>
          <a:xfrm>
            <a:off x="12734091" y="5118973"/>
            <a:ext cx="4319428" cy="19812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5C6A82"/>
                </a:solidFill>
                <a:latin typeface="Arial" pitchFamily="34" charset="0"/>
                <a:ea typeface="Arial" pitchFamily="34" charset="-122"/>
                <a:cs typeface="Arial" pitchFamily="34" charset="-120"/>
              </a:rPr>
              <a:t>TOP THREAT ORIGINS</a:t>
            </a:r>
            <a:endParaRPr lang="en-US" sz="1050" dirty="0"/>
          </a:p>
        </p:txBody>
      </p:sp>
      <p:sp>
        <p:nvSpPr>
          <p:cNvPr id="20" name="Text 17"/>
          <p:cNvSpPr/>
          <p:nvPr/>
        </p:nvSpPr>
        <p:spPr>
          <a:xfrm>
            <a:off x="12734091" y="5412343"/>
            <a:ext cx="3810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E7EEF7"/>
                </a:solidFill>
                <a:latin typeface="Arial" pitchFamily="34" charset="0"/>
                <a:ea typeface="Arial" pitchFamily="34" charset="-122"/>
                <a:cs typeface="Arial" pitchFamily="34" charset="-120"/>
              </a:rPr>
              <a:t>CN</a:t>
            </a:r>
            <a:endParaRPr lang="en-US" sz="1200" dirty="0"/>
          </a:p>
        </p:txBody>
      </p:sp>
      <p:sp>
        <p:nvSpPr>
          <p:cNvPr id="21" name="Shape 18"/>
          <p:cNvSpPr/>
          <p:nvPr/>
        </p:nvSpPr>
        <p:spPr>
          <a:xfrm>
            <a:off x="13153191" y="5461873"/>
            <a:ext cx="3183969" cy="76200"/>
          </a:xfrm>
          <a:prstGeom prst="roundRect">
            <a:avLst>
              <a:gd name="adj" fmla="val 50000"/>
            </a:avLst>
          </a:prstGeom>
          <a:solidFill>
            <a:srgbClr val="78A0D2">
              <a:alpha val="14000"/>
            </a:srgbClr>
          </a:solidFill>
          <a:ln/>
        </p:spPr>
      </p:sp>
      <p:sp>
        <p:nvSpPr>
          <p:cNvPr id="22" name="Shape 19"/>
          <p:cNvSpPr/>
          <p:nvPr/>
        </p:nvSpPr>
        <p:spPr>
          <a:xfrm>
            <a:off x="13153191" y="5461873"/>
            <a:ext cx="2547104" cy="76200"/>
          </a:xfrm>
          <a:prstGeom prst="roundRect">
            <a:avLst>
              <a:gd name="adj" fmla="val 50000"/>
            </a:avLst>
          </a:prstGeom>
          <a:solidFill>
            <a:srgbClr val="00E5FF"/>
          </a:solidFill>
          <a:ln/>
        </p:spPr>
      </p:sp>
      <p:sp>
        <p:nvSpPr>
          <p:cNvPr id="23" name="Text 20"/>
          <p:cNvSpPr/>
          <p:nvPr/>
        </p:nvSpPr>
        <p:spPr>
          <a:xfrm>
            <a:off x="16375261" y="5419963"/>
            <a:ext cx="552450" cy="198120"/>
          </a:xfrm>
          <a:prstGeom prst="rect">
            <a:avLst/>
          </a:prstGeom>
          <a:noFill/>
          <a:ln/>
        </p:spPr>
        <p:txBody>
          <a:bodyPr wrap="square" lIns="25400" tIns="25400" rIns="25400" bIns="25400" rtlCol="0" anchor="t">
            <a:normAutofit/>
          </a:bodyPr>
          <a:lstStyle/>
          <a:p>
            <a:pPr algn="r" indent="0" marL="0">
              <a:buNone/>
            </a:pPr>
            <a:r>
              <a:rPr lang="en-US" sz="1050" dirty="0">
                <a:solidFill>
                  <a:srgbClr val="5C6A82"/>
                </a:solidFill>
                <a:latin typeface="Arial" pitchFamily="34" charset="0"/>
                <a:ea typeface="Arial" pitchFamily="34" charset="-122"/>
                <a:cs typeface="Arial" pitchFamily="34" charset="-120"/>
              </a:rPr>
              <a:t>982</a:t>
            </a:r>
            <a:endParaRPr lang="en-US" sz="1050" dirty="0"/>
          </a:p>
        </p:txBody>
      </p:sp>
      <p:sp>
        <p:nvSpPr>
          <p:cNvPr id="24" name="Text 21"/>
          <p:cNvSpPr/>
          <p:nvPr/>
        </p:nvSpPr>
        <p:spPr>
          <a:xfrm>
            <a:off x="12734091" y="5682853"/>
            <a:ext cx="3810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E7EEF7"/>
                </a:solidFill>
                <a:latin typeface="Arial" pitchFamily="34" charset="0"/>
                <a:ea typeface="Arial" pitchFamily="34" charset="-122"/>
                <a:cs typeface="Arial" pitchFamily="34" charset="-120"/>
              </a:rPr>
              <a:t>RU</a:t>
            </a:r>
            <a:endParaRPr lang="en-US" sz="1200" dirty="0"/>
          </a:p>
        </p:txBody>
      </p:sp>
      <p:sp>
        <p:nvSpPr>
          <p:cNvPr id="25" name="Shape 22"/>
          <p:cNvSpPr/>
          <p:nvPr/>
        </p:nvSpPr>
        <p:spPr>
          <a:xfrm>
            <a:off x="13153191" y="5732383"/>
            <a:ext cx="3183969" cy="76200"/>
          </a:xfrm>
          <a:prstGeom prst="roundRect">
            <a:avLst>
              <a:gd name="adj" fmla="val 50000"/>
            </a:avLst>
          </a:prstGeom>
          <a:solidFill>
            <a:srgbClr val="78A0D2">
              <a:alpha val="14000"/>
            </a:srgbClr>
          </a:solidFill>
          <a:ln/>
        </p:spPr>
      </p:sp>
      <p:sp>
        <p:nvSpPr>
          <p:cNvPr id="26" name="Shape 23"/>
          <p:cNvSpPr/>
          <p:nvPr/>
        </p:nvSpPr>
        <p:spPr>
          <a:xfrm>
            <a:off x="13153191" y="5732383"/>
            <a:ext cx="1591985" cy="76200"/>
          </a:xfrm>
          <a:prstGeom prst="roundRect">
            <a:avLst>
              <a:gd name="adj" fmla="val 50000"/>
            </a:avLst>
          </a:prstGeom>
          <a:solidFill>
            <a:srgbClr val="00E5FF"/>
          </a:solidFill>
          <a:ln/>
        </p:spPr>
      </p:sp>
      <p:sp>
        <p:nvSpPr>
          <p:cNvPr id="27" name="Text 24"/>
          <p:cNvSpPr/>
          <p:nvPr/>
        </p:nvSpPr>
        <p:spPr>
          <a:xfrm>
            <a:off x="16375261" y="5690473"/>
            <a:ext cx="552450" cy="198120"/>
          </a:xfrm>
          <a:prstGeom prst="rect">
            <a:avLst/>
          </a:prstGeom>
          <a:noFill/>
          <a:ln/>
        </p:spPr>
        <p:txBody>
          <a:bodyPr wrap="square" lIns="25400" tIns="25400" rIns="25400" bIns="25400" rtlCol="0" anchor="t">
            <a:normAutofit/>
          </a:bodyPr>
          <a:lstStyle/>
          <a:p>
            <a:pPr algn="r" indent="0" marL="0">
              <a:buNone/>
            </a:pPr>
            <a:r>
              <a:rPr lang="en-US" sz="1050" dirty="0">
                <a:solidFill>
                  <a:srgbClr val="5C6A82"/>
                </a:solidFill>
                <a:latin typeface="Arial" pitchFamily="34" charset="0"/>
                <a:ea typeface="Arial" pitchFamily="34" charset="-122"/>
                <a:cs typeface="Arial" pitchFamily="34" charset="-120"/>
              </a:rPr>
              <a:t>614</a:t>
            </a:r>
            <a:endParaRPr lang="en-US" sz="1050" dirty="0"/>
          </a:p>
        </p:txBody>
      </p:sp>
      <p:sp>
        <p:nvSpPr>
          <p:cNvPr id="28" name="Text 25"/>
          <p:cNvSpPr/>
          <p:nvPr/>
        </p:nvSpPr>
        <p:spPr>
          <a:xfrm>
            <a:off x="12734091" y="5953363"/>
            <a:ext cx="3810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E7EEF7"/>
                </a:solidFill>
                <a:latin typeface="Arial" pitchFamily="34" charset="0"/>
                <a:ea typeface="Arial" pitchFamily="34" charset="-122"/>
                <a:cs typeface="Arial" pitchFamily="34" charset="-120"/>
              </a:rPr>
              <a:t>KP</a:t>
            </a:r>
            <a:endParaRPr lang="en-US" sz="1200" dirty="0"/>
          </a:p>
        </p:txBody>
      </p:sp>
      <p:sp>
        <p:nvSpPr>
          <p:cNvPr id="29" name="Shape 26"/>
          <p:cNvSpPr/>
          <p:nvPr/>
        </p:nvSpPr>
        <p:spPr>
          <a:xfrm>
            <a:off x="13153191" y="6002893"/>
            <a:ext cx="3183969" cy="76200"/>
          </a:xfrm>
          <a:prstGeom prst="roundRect">
            <a:avLst>
              <a:gd name="adj" fmla="val 50000"/>
            </a:avLst>
          </a:prstGeom>
          <a:solidFill>
            <a:srgbClr val="78A0D2">
              <a:alpha val="14000"/>
            </a:srgbClr>
          </a:solidFill>
          <a:ln/>
        </p:spPr>
      </p:sp>
      <p:sp>
        <p:nvSpPr>
          <p:cNvPr id="30" name="Shape 27"/>
          <p:cNvSpPr/>
          <p:nvPr/>
        </p:nvSpPr>
        <p:spPr>
          <a:xfrm>
            <a:off x="13153191" y="6002893"/>
            <a:ext cx="573048" cy="76200"/>
          </a:xfrm>
          <a:prstGeom prst="roundRect">
            <a:avLst>
              <a:gd name="adj" fmla="val 50000"/>
            </a:avLst>
          </a:prstGeom>
          <a:solidFill>
            <a:srgbClr val="00E5FF"/>
          </a:solidFill>
          <a:ln/>
        </p:spPr>
      </p:sp>
      <p:sp>
        <p:nvSpPr>
          <p:cNvPr id="31" name="Text 28"/>
          <p:cNvSpPr/>
          <p:nvPr/>
        </p:nvSpPr>
        <p:spPr>
          <a:xfrm>
            <a:off x="16375261" y="5960983"/>
            <a:ext cx="552450" cy="198120"/>
          </a:xfrm>
          <a:prstGeom prst="rect">
            <a:avLst/>
          </a:prstGeom>
          <a:noFill/>
          <a:ln/>
        </p:spPr>
        <p:txBody>
          <a:bodyPr wrap="square" lIns="25400" tIns="25400" rIns="25400" bIns="25400" rtlCol="0" anchor="t">
            <a:normAutofit/>
          </a:bodyPr>
          <a:lstStyle/>
          <a:p>
            <a:pPr algn="r" indent="0" marL="0">
              <a:buNone/>
            </a:pPr>
            <a:r>
              <a:rPr lang="en-US" sz="1050" dirty="0">
                <a:solidFill>
                  <a:srgbClr val="5C6A82"/>
                </a:solidFill>
                <a:latin typeface="Arial" pitchFamily="34" charset="0"/>
                <a:ea typeface="Arial" pitchFamily="34" charset="-122"/>
                <a:cs typeface="Arial" pitchFamily="34" charset="-120"/>
              </a:rPr>
              <a:t>221</a:t>
            </a:r>
            <a:endParaRPr lang="en-US" sz="1050" dirty="0"/>
          </a:p>
        </p:txBody>
      </p:sp>
      <p:sp>
        <p:nvSpPr>
          <p:cNvPr id="32" name="Text 29"/>
          <p:cNvSpPr/>
          <p:nvPr/>
        </p:nvSpPr>
        <p:spPr>
          <a:xfrm>
            <a:off x="12734091" y="6223873"/>
            <a:ext cx="3810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E7EEF7"/>
                </a:solidFill>
                <a:latin typeface="Arial" pitchFamily="34" charset="0"/>
                <a:ea typeface="Arial" pitchFamily="34" charset="-122"/>
                <a:cs typeface="Arial" pitchFamily="34" charset="-120"/>
              </a:rPr>
              <a:t>IR</a:t>
            </a:r>
            <a:endParaRPr lang="en-US" sz="1200" dirty="0"/>
          </a:p>
        </p:txBody>
      </p:sp>
      <p:sp>
        <p:nvSpPr>
          <p:cNvPr id="33" name="Shape 30"/>
          <p:cNvSpPr/>
          <p:nvPr/>
        </p:nvSpPr>
        <p:spPr>
          <a:xfrm>
            <a:off x="13153191" y="6273403"/>
            <a:ext cx="3183969" cy="76200"/>
          </a:xfrm>
          <a:prstGeom prst="roundRect">
            <a:avLst>
              <a:gd name="adj" fmla="val 50000"/>
            </a:avLst>
          </a:prstGeom>
          <a:solidFill>
            <a:srgbClr val="78A0D2">
              <a:alpha val="14000"/>
            </a:srgbClr>
          </a:solidFill>
          <a:ln/>
        </p:spPr>
      </p:sp>
      <p:sp>
        <p:nvSpPr>
          <p:cNvPr id="34" name="Shape 31"/>
          <p:cNvSpPr/>
          <p:nvPr/>
        </p:nvSpPr>
        <p:spPr>
          <a:xfrm>
            <a:off x="13153191" y="6273403"/>
            <a:ext cx="286464" cy="76200"/>
          </a:xfrm>
          <a:prstGeom prst="roundRect">
            <a:avLst>
              <a:gd name="adj" fmla="val 50000"/>
            </a:avLst>
          </a:prstGeom>
          <a:solidFill>
            <a:srgbClr val="00E5FF"/>
          </a:solidFill>
          <a:ln/>
        </p:spPr>
      </p:sp>
      <p:sp>
        <p:nvSpPr>
          <p:cNvPr id="35" name="Text 32"/>
          <p:cNvSpPr/>
          <p:nvPr/>
        </p:nvSpPr>
        <p:spPr>
          <a:xfrm>
            <a:off x="16375261" y="6231493"/>
            <a:ext cx="552450" cy="198120"/>
          </a:xfrm>
          <a:prstGeom prst="rect">
            <a:avLst/>
          </a:prstGeom>
          <a:noFill/>
          <a:ln/>
        </p:spPr>
        <p:txBody>
          <a:bodyPr wrap="square" lIns="25400" tIns="25400" rIns="25400" bIns="25400" rtlCol="0" anchor="t">
            <a:normAutofit/>
          </a:bodyPr>
          <a:lstStyle/>
          <a:p>
            <a:pPr algn="r" indent="0" marL="0">
              <a:buNone/>
            </a:pPr>
            <a:r>
              <a:rPr lang="en-US" sz="1050" dirty="0">
                <a:solidFill>
                  <a:srgbClr val="5C6A82"/>
                </a:solidFill>
                <a:latin typeface="Arial" pitchFamily="34" charset="0"/>
                <a:ea typeface="Arial" pitchFamily="34" charset="-122"/>
                <a:cs typeface="Arial" pitchFamily="34" charset="-120"/>
              </a:rPr>
              <a:t>106</a:t>
            </a:r>
            <a:endParaRPr lang="en-US" sz="1050" dirty="0"/>
          </a:p>
        </p:txBody>
      </p:sp>
      <p:sp>
        <p:nvSpPr>
          <p:cNvPr id="36" name="Shape 33"/>
          <p:cNvSpPr/>
          <p:nvPr/>
        </p:nvSpPr>
        <p:spPr>
          <a:xfrm>
            <a:off x="12516922" y="6883003"/>
            <a:ext cx="4627959" cy="1162050"/>
          </a:xfrm>
          <a:prstGeom prst="roundRect">
            <a:avLst>
              <a:gd name="adj" fmla="val 13115"/>
            </a:avLst>
          </a:prstGeom>
          <a:solidFill>
            <a:srgbClr val="141E32">
              <a:alpha val="55000"/>
            </a:srgbClr>
          </a:solidFill>
          <a:ln w="7620">
            <a:solidFill>
              <a:srgbClr val="78A0D2">
                <a:alpha val="14000"/>
              </a:srgbClr>
            </a:solidFill>
            <a:prstDash val="solid"/>
          </a:ln>
        </p:spPr>
      </p:sp>
      <p:sp>
        <p:nvSpPr>
          <p:cNvPr id="37" name="Text 34"/>
          <p:cNvSpPr/>
          <p:nvPr/>
        </p:nvSpPr>
        <p:spPr>
          <a:xfrm>
            <a:off x="12734091" y="7100173"/>
            <a:ext cx="4319428" cy="19812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5C6A82"/>
                </a:solidFill>
                <a:latin typeface="Arial" pitchFamily="34" charset="0"/>
                <a:ea typeface="Arial" pitchFamily="34" charset="-122"/>
                <a:cs typeface="Arial" pitchFamily="34" charset="-120"/>
              </a:rPr>
              <a:t>LAST DECISION</a:t>
            </a:r>
            <a:endParaRPr lang="en-US" sz="1050" dirty="0"/>
          </a:p>
        </p:txBody>
      </p:sp>
      <p:sp>
        <p:nvSpPr>
          <p:cNvPr id="38" name="Text 35"/>
          <p:cNvSpPr/>
          <p:nvPr/>
        </p:nvSpPr>
        <p:spPr>
          <a:xfrm>
            <a:off x="12734091" y="7355443"/>
            <a:ext cx="4319428" cy="236220"/>
          </a:xfrm>
          <a:prstGeom prst="rect">
            <a:avLst/>
          </a:prstGeom>
          <a:noFill/>
          <a:ln/>
        </p:spPr>
        <p:txBody>
          <a:bodyPr wrap="square" lIns="25400" tIns="25400" rIns="25400" bIns="25400" rtlCol="0" anchor="t">
            <a:normAutofit/>
          </a:bodyPr>
          <a:lstStyle/>
          <a:p>
            <a:pPr algn="l" indent="0" marL="0">
              <a:buNone/>
            </a:pPr>
            <a:r>
              <a:rPr lang="en-US" sz="1350" dirty="0">
                <a:solidFill>
                  <a:srgbClr val="E7EEF7"/>
                </a:solidFill>
                <a:latin typeface="Arial" pitchFamily="34" charset="0"/>
                <a:ea typeface="Arial" pitchFamily="34" charset="-122"/>
                <a:cs typeface="Arial" pitchFamily="34" charset="-120"/>
              </a:rPr>
              <a:t>185.220.101.4</a:t>
            </a:r>
            <a:endParaRPr lang="en-US" sz="1350" dirty="0"/>
          </a:p>
        </p:txBody>
      </p:sp>
      <p:sp>
        <p:nvSpPr>
          <p:cNvPr id="39" name="Text 36"/>
          <p:cNvSpPr/>
          <p:nvPr/>
        </p:nvSpPr>
        <p:spPr>
          <a:xfrm>
            <a:off x="12734091" y="7629763"/>
            <a:ext cx="646748" cy="236220"/>
          </a:xfrm>
          <a:prstGeom prst="rect">
            <a:avLst/>
          </a:prstGeom>
          <a:noFill/>
          <a:ln/>
        </p:spPr>
        <p:txBody>
          <a:bodyPr wrap="square" lIns="25400" tIns="25400" rIns="25400" bIns="25400" rtlCol="0" anchor="t">
            <a:normAutofit/>
          </a:bodyPr>
          <a:lstStyle/>
          <a:p>
            <a:pPr algn="l" indent="0" marL="0">
              <a:buNone/>
            </a:pPr>
            <a:r>
              <a:rPr lang="en-US" sz="1050" dirty="0">
                <a:solidFill>
                  <a:srgbClr val="5C6A82"/>
                </a:solidFill>
                <a:latin typeface="Arial" pitchFamily="34" charset="0"/>
                <a:ea typeface="Arial" pitchFamily="34" charset="-122"/>
                <a:cs typeface="Arial" pitchFamily="34" charset="-120"/>
              </a:rPr>
              <a:t>risk score</a:t>
            </a:r>
            <a:endParaRPr lang="en-US" sz="1050" dirty="0"/>
          </a:p>
        </p:txBody>
      </p:sp>
      <p:sp>
        <p:nvSpPr>
          <p:cNvPr id="40" name="Text 37"/>
          <p:cNvSpPr/>
          <p:nvPr/>
        </p:nvSpPr>
        <p:spPr>
          <a:xfrm>
            <a:off x="16003310" y="7629763"/>
            <a:ext cx="1000601" cy="236220"/>
          </a:xfrm>
          <a:prstGeom prst="rect">
            <a:avLst/>
          </a:prstGeom>
          <a:noFill/>
          <a:ln/>
        </p:spPr>
        <p:txBody>
          <a:bodyPr wrap="square" lIns="25400" tIns="25400" rIns="25400" bIns="25400" rtlCol="0" anchor="t">
            <a:normAutofit/>
          </a:bodyPr>
          <a:lstStyle/>
          <a:p>
            <a:pPr algn="l" indent="0" marL="0">
              <a:buNone/>
            </a:pPr>
            <a:r>
              <a:rPr lang="en-US" sz="1350" dirty="0">
                <a:solidFill>
                  <a:srgbClr val="FF4D6D"/>
                </a:solidFill>
                <a:latin typeface="Arial" pitchFamily="34" charset="0"/>
                <a:ea typeface="Arial" pitchFamily="34" charset="-122"/>
                <a:cs typeface="Arial" pitchFamily="34" charset="-120"/>
              </a:rPr>
              <a:t>92 · BLOCK</a:t>
            </a:r>
            <a:endParaRPr lang="en-US" sz="1350" dirty="0"/>
          </a:p>
        </p:txBody>
      </p:sp>
      <p:sp>
        <p:nvSpPr>
          <p:cNvPr id="41" name="Shape 38"/>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42" name="Text 39"/>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43" name="Text 40"/>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12/17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11/</a:t>
            </a:r>
            <a:endParaRPr lang="en-US" sz="1800" dirty="0"/>
          </a:p>
        </p:txBody>
      </p:sp>
      <p:sp>
        <p:nvSpPr>
          <p:cNvPr id="7" name="Text 5"/>
          <p:cNvSpPr/>
          <p:nvPr/>
        </p:nvSpPr>
        <p:spPr>
          <a:xfrm>
            <a:off x="1935480" y="967740"/>
            <a:ext cx="3812825"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RESULTS &amp; DISCUSSION</a:t>
            </a:r>
            <a:endParaRPr lang="en-US" sz="1800" dirty="0"/>
          </a:p>
        </p:txBody>
      </p:sp>
      <p:sp>
        <p:nvSpPr>
          <p:cNvPr id="8" name="Text 6"/>
          <p:cNvSpPr/>
          <p:nvPr/>
        </p:nvSpPr>
        <p:spPr>
          <a:xfrm>
            <a:off x="1143000" y="1428750"/>
            <a:ext cx="14504213"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CPU dropped 70%, detection improved 4× — and zero region-wide blocks</a:t>
            </a:r>
            <a:endParaRPr lang="en-US" sz="4800" dirty="0"/>
          </a:p>
        </p:txBody>
      </p:sp>
      <p:sp>
        <p:nvSpPr>
          <p:cNvPr id="9" name="Shape 7"/>
          <p:cNvSpPr/>
          <p:nvPr/>
        </p:nvSpPr>
        <p:spPr>
          <a:xfrm>
            <a:off x="1143000" y="3240643"/>
            <a:ext cx="8541306" cy="6284357"/>
          </a:xfrm>
          <a:prstGeom prst="roundRect">
            <a:avLst>
              <a:gd name="adj" fmla="val 2425"/>
            </a:avLst>
          </a:prstGeom>
          <a:solidFill>
            <a:srgbClr val="141E32">
              <a:alpha val="55000"/>
            </a:srgbClr>
          </a:solidFill>
          <a:ln w="7620">
            <a:solidFill>
              <a:srgbClr val="78A0D2">
                <a:alpha val="14000"/>
              </a:srgbClr>
            </a:solidFill>
            <a:prstDash val="solid"/>
          </a:ln>
        </p:spPr>
      </p:sp>
      <p:sp>
        <p:nvSpPr>
          <p:cNvPr id="10" name="Text 8"/>
          <p:cNvSpPr/>
          <p:nvPr/>
        </p:nvSpPr>
        <p:spPr>
          <a:xfrm>
            <a:off x="1417320" y="3514963"/>
            <a:ext cx="8232446" cy="236220"/>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5C6A82"/>
                </a:solidFill>
                <a:latin typeface="Arial" pitchFamily="34" charset="0"/>
                <a:ea typeface="Arial" pitchFamily="34" charset="-122"/>
                <a:cs typeface="Arial" pitchFamily="34" charset="-120"/>
              </a:rPr>
              <a:t>SERVER CPU DURING ATTACK · 60 MIN</a:t>
            </a:r>
            <a:endParaRPr lang="en-US" sz="1350" dirty="0"/>
          </a:p>
        </p:txBody>
      </p:sp>
      <p:sp>
        <p:nvSpPr>
          <p:cNvPr id="11" name="Shape 9"/>
          <p:cNvSpPr/>
          <p:nvPr/>
        </p:nvSpPr>
        <p:spPr>
          <a:xfrm>
            <a:off x="1417320" y="3843576"/>
            <a:ext cx="228600" cy="28575"/>
          </a:xfrm>
          <a:prstGeom prst="roundRect">
            <a:avLst>
              <a:gd name="adj" fmla="val 50000"/>
            </a:avLst>
          </a:prstGeom>
          <a:solidFill>
            <a:srgbClr val="FF4D6D"/>
          </a:solidFill>
          <a:ln/>
        </p:spPr>
      </p:sp>
      <p:sp>
        <p:nvSpPr>
          <p:cNvPr id="12" name="Text 10"/>
          <p:cNvSpPr/>
          <p:nvPr/>
        </p:nvSpPr>
        <p:spPr>
          <a:xfrm>
            <a:off x="1722120" y="3770233"/>
            <a:ext cx="1465302" cy="213360"/>
          </a:xfrm>
          <a:prstGeom prst="rect">
            <a:avLst/>
          </a:prstGeom>
          <a:noFill/>
          <a:ln/>
        </p:spPr>
        <p:txBody>
          <a:bodyPr wrap="square" lIns="25400" tIns="25400" rIns="25400" bIns="25400" rtlCol="0" anchor="t">
            <a:normAutofit/>
          </a:bodyPr>
          <a:lstStyle/>
          <a:p>
            <a:pPr algn="l" indent="0" marL="0">
              <a:buNone/>
            </a:pPr>
            <a:r>
              <a:rPr lang="en-US" sz="1200" dirty="0">
                <a:solidFill>
                  <a:srgbClr val="8C9AB0"/>
                </a:solidFill>
                <a:latin typeface="Arial" pitchFamily="34" charset="0"/>
                <a:ea typeface="Arial" pitchFamily="34" charset="-122"/>
                <a:cs typeface="Arial" pitchFamily="34" charset="-120"/>
              </a:rPr>
              <a:t>Without SmartShield</a:t>
            </a:r>
            <a:endParaRPr lang="en-US" sz="1200" dirty="0"/>
          </a:p>
        </p:txBody>
      </p:sp>
      <p:sp>
        <p:nvSpPr>
          <p:cNvPr id="13" name="Shape 11"/>
          <p:cNvSpPr/>
          <p:nvPr/>
        </p:nvSpPr>
        <p:spPr>
          <a:xfrm>
            <a:off x="3339822" y="3843576"/>
            <a:ext cx="228600" cy="28575"/>
          </a:xfrm>
          <a:prstGeom prst="roundRect">
            <a:avLst>
              <a:gd name="adj" fmla="val 50000"/>
            </a:avLst>
          </a:prstGeom>
          <a:solidFill>
            <a:srgbClr val="00E5FF"/>
          </a:solidFill>
          <a:ln/>
        </p:spPr>
      </p:sp>
      <p:sp>
        <p:nvSpPr>
          <p:cNvPr id="14" name="Text 12"/>
          <p:cNvSpPr/>
          <p:nvPr/>
        </p:nvSpPr>
        <p:spPr>
          <a:xfrm>
            <a:off x="3644622" y="3770233"/>
            <a:ext cx="125349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8C9AB0"/>
                </a:solidFill>
                <a:latin typeface="Arial" pitchFamily="34" charset="0"/>
                <a:ea typeface="Arial" pitchFamily="34" charset="-122"/>
                <a:cs typeface="Arial" pitchFamily="34" charset="-120"/>
              </a:rPr>
              <a:t>With SmartShield</a:t>
            </a:r>
            <a:endParaRPr lang="en-US" sz="1200" dirty="0"/>
          </a:p>
        </p:txBody>
      </p:sp>
      <p:pic>
        <p:nvPicPr>
          <p:cNvPr id="15" name="Image 0" descr="preencoded.png">    </p:cNvPr>
          <p:cNvPicPr>
            <a:picLocks noChangeAspect="1"/>
          </p:cNvPicPr>
          <p:nvPr/>
        </p:nvPicPr>
        <p:blipFill>
          <a:blip r:embed="rId1"/>
          <a:stretch>
            <a:fillRect/>
          </a:stretch>
        </p:blipFill>
        <p:spPr>
          <a:xfrm>
            <a:off x="1417320" y="4059793"/>
            <a:ext cx="7992666" cy="4000500"/>
          </a:xfrm>
          <a:prstGeom prst="rect">
            <a:avLst/>
          </a:prstGeom>
        </p:spPr>
      </p:pic>
      <p:sp>
        <p:nvSpPr>
          <p:cNvPr id="16" name="Shape 13"/>
          <p:cNvSpPr/>
          <p:nvPr/>
        </p:nvSpPr>
        <p:spPr>
          <a:xfrm>
            <a:off x="10027205" y="3240643"/>
            <a:ext cx="7117675" cy="1120140"/>
          </a:xfrm>
          <a:prstGeom prst="roundRect">
            <a:avLst>
              <a:gd name="adj" fmla="val 13605"/>
            </a:avLst>
          </a:prstGeom>
          <a:solidFill>
            <a:srgbClr val="141E32">
              <a:alpha val="55000"/>
            </a:srgbClr>
          </a:solidFill>
          <a:ln w="7620">
            <a:solidFill>
              <a:srgbClr val="78A0D2">
                <a:alpha val="14000"/>
              </a:srgbClr>
            </a:solidFill>
            <a:prstDash val="solid"/>
          </a:ln>
        </p:spPr>
      </p:sp>
      <p:sp>
        <p:nvSpPr>
          <p:cNvPr id="17" name="Text 14"/>
          <p:cNvSpPr/>
          <p:nvPr/>
        </p:nvSpPr>
        <p:spPr>
          <a:xfrm>
            <a:off x="10282476" y="3495913"/>
            <a:ext cx="1600200" cy="647700"/>
          </a:xfrm>
          <a:prstGeom prst="rect">
            <a:avLst/>
          </a:prstGeom>
          <a:noFill/>
          <a:ln/>
          <a:effectLst>
            <a:outerShdw sx="100000" sy="100000" kx="0" ky="0" algn="bl" rotWithShape="0" blurRad="171450" dist="50800" dir="16200000">
              <a:srgbClr val="00E5FF">
                <a:alpha val="33300"/>
              </a:srgbClr>
            </a:outerShdw>
          </a:effectLst>
        </p:spPr>
        <p:txBody>
          <a:bodyPr wrap="square" lIns="25400" tIns="25400" rIns="25400" bIns="25400" rtlCol="0" anchor="t">
            <a:normAutofit/>
          </a:bodyPr>
          <a:lstStyle/>
          <a:p>
            <a:pPr algn="l" indent="0" marL="0">
              <a:lnSpc>
                <a:spcPct val="100000"/>
              </a:lnSpc>
              <a:buNone/>
            </a:pPr>
            <a:r>
              <a:rPr lang="en-US" sz="4800" b="1" spc="-96" kern="0" dirty="0">
                <a:solidFill>
                  <a:srgbClr val="00E5FF"/>
                </a:solidFill>
                <a:latin typeface="Arial" pitchFamily="34" charset="0"/>
                <a:ea typeface="Arial" pitchFamily="34" charset="-122"/>
                <a:cs typeface="Arial" pitchFamily="34" charset="-120"/>
              </a:rPr>
              <a:t>70%</a:t>
            </a:r>
            <a:endParaRPr lang="en-US" sz="4800" dirty="0"/>
          </a:p>
        </p:txBody>
      </p:sp>
      <p:sp>
        <p:nvSpPr>
          <p:cNvPr id="18" name="Text 15"/>
          <p:cNvSpPr/>
          <p:nvPr/>
        </p:nvSpPr>
        <p:spPr>
          <a:xfrm>
            <a:off x="12035076" y="3563064"/>
            <a:ext cx="2813110"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dirty="0">
                <a:solidFill>
                  <a:srgbClr val="E7EEF7"/>
                </a:solidFill>
                <a:latin typeface="Arial" pitchFamily="34" charset="0"/>
                <a:ea typeface="Arial" pitchFamily="34" charset="-122"/>
                <a:cs typeface="Arial" pitchFamily="34" charset="-120"/>
              </a:rPr>
              <a:t>CPU load reduction at peak</a:t>
            </a:r>
            <a:endParaRPr lang="en-US" sz="1650" dirty="0"/>
          </a:p>
        </p:txBody>
      </p:sp>
      <p:sp>
        <p:nvSpPr>
          <p:cNvPr id="19" name="Text 16"/>
          <p:cNvSpPr/>
          <p:nvPr/>
        </p:nvSpPr>
        <p:spPr>
          <a:xfrm>
            <a:off x="12035076" y="3863102"/>
            <a:ext cx="281311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from 100% saturated → ~30% steady</a:t>
            </a:r>
            <a:endParaRPr lang="en-US" sz="1200" dirty="0"/>
          </a:p>
        </p:txBody>
      </p:sp>
      <p:sp>
        <p:nvSpPr>
          <p:cNvPr id="20" name="Shape 17"/>
          <p:cNvSpPr/>
          <p:nvPr/>
        </p:nvSpPr>
        <p:spPr>
          <a:xfrm>
            <a:off x="10027205" y="4570333"/>
            <a:ext cx="7117675" cy="1120140"/>
          </a:xfrm>
          <a:prstGeom prst="roundRect">
            <a:avLst>
              <a:gd name="adj" fmla="val 13605"/>
            </a:avLst>
          </a:prstGeom>
          <a:solidFill>
            <a:srgbClr val="141E32">
              <a:alpha val="55000"/>
            </a:srgbClr>
          </a:solidFill>
          <a:ln w="7620">
            <a:solidFill>
              <a:srgbClr val="78A0D2">
                <a:alpha val="14000"/>
              </a:srgbClr>
            </a:solidFill>
            <a:prstDash val="solid"/>
          </a:ln>
        </p:spPr>
      </p:sp>
      <p:sp>
        <p:nvSpPr>
          <p:cNvPr id="21" name="Text 18"/>
          <p:cNvSpPr/>
          <p:nvPr/>
        </p:nvSpPr>
        <p:spPr>
          <a:xfrm>
            <a:off x="10282476" y="4825603"/>
            <a:ext cx="1600200" cy="647700"/>
          </a:xfrm>
          <a:prstGeom prst="rect">
            <a:avLst/>
          </a:prstGeom>
          <a:noFill/>
          <a:ln/>
          <a:effectLst>
            <a:outerShdw sx="100000" sy="100000" kx="0" ky="0" algn="bl" rotWithShape="0" blurRad="171450" dist="50800" dir="16200000">
              <a:srgbClr val="00E5FF">
                <a:alpha val="33300"/>
              </a:srgbClr>
            </a:outerShdw>
          </a:effectLst>
        </p:spPr>
        <p:txBody>
          <a:bodyPr wrap="square" lIns="25400" tIns="25400" rIns="25400" bIns="25400" rtlCol="0" anchor="t">
            <a:normAutofit/>
          </a:bodyPr>
          <a:lstStyle/>
          <a:p>
            <a:pPr algn="l" indent="0" marL="0">
              <a:lnSpc>
                <a:spcPct val="100000"/>
              </a:lnSpc>
              <a:buNone/>
            </a:pPr>
            <a:r>
              <a:rPr lang="en-US" sz="4800" b="1" spc="-96" kern="0" dirty="0">
                <a:solidFill>
                  <a:srgbClr val="00E5FF"/>
                </a:solidFill>
                <a:latin typeface="Arial" pitchFamily="34" charset="0"/>
                <a:ea typeface="Arial" pitchFamily="34" charset="-122"/>
                <a:cs typeface="Arial" pitchFamily="34" charset="-120"/>
              </a:rPr>
              <a:t>4.2×</a:t>
            </a:r>
            <a:endParaRPr lang="en-US" sz="4800" dirty="0"/>
          </a:p>
        </p:txBody>
      </p:sp>
      <p:sp>
        <p:nvSpPr>
          <p:cNvPr id="22" name="Text 19"/>
          <p:cNvSpPr/>
          <p:nvPr/>
        </p:nvSpPr>
        <p:spPr>
          <a:xfrm>
            <a:off x="12035076" y="4892754"/>
            <a:ext cx="3197201"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dirty="0">
                <a:solidFill>
                  <a:srgbClr val="E7EEF7"/>
                </a:solidFill>
                <a:latin typeface="Arial" pitchFamily="34" charset="0"/>
                <a:ea typeface="Arial" pitchFamily="34" charset="-122"/>
                <a:cs typeface="Arial" pitchFamily="34" charset="-120"/>
              </a:rPr>
              <a:t>Faster detection vs IP-blocking</a:t>
            </a:r>
            <a:endParaRPr lang="en-US" sz="1650" dirty="0"/>
          </a:p>
        </p:txBody>
      </p:sp>
      <p:sp>
        <p:nvSpPr>
          <p:cNvPr id="23" name="Text 20"/>
          <p:cNvSpPr/>
          <p:nvPr/>
        </p:nvSpPr>
        <p:spPr>
          <a:xfrm>
            <a:off x="12035076" y="5192792"/>
            <a:ext cx="3197201"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under 100ms per decision</a:t>
            </a:r>
            <a:endParaRPr lang="en-US" sz="1200" dirty="0"/>
          </a:p>
        </p:txBody>
      </p:sp>
      <p:sp>
        <p:nvSpPr>
          <p:cNvPr id="24" name="Shape 21"/>
          <p:cNvSpPr/>
          <p:nvPr/>
        </p:nvSpPr>
        <p:spPr>
          <a:xfrm>
            <a:off x="10027205" y="5900023"/>
            <a:ext cx="7117675" cy="1120140"/>
          </a:xfrm>
          <a:prstGeom prst="roundRect">
            <a:avLst>
              <a:gd name="adj" fmla="val 13605"/>
            </a:avLst>
          </a:prstGeom>
          <a:solidFill>
            <a:srgbClr val="141E32">
              <a:alpha val="55000"/>
            </a:srgbClr>
          </a:solidFill>
          <a:ln w="7620">
            <a:solidFill>
              <a:srgbClr val="78A0D2">
                <a:alpha val="14000"/>
              </a:srgbClr>
            </a:solidFill>
            <a:prstDash val="solid"/>
          </a:ln>
        </p:spPr>
      </p:sp>
      <p:sp>
        <p:nvSpPr>
          <p:cNvPr id="25" name="Text 22"/>
          <p:cNvSpPr/>
          <p:nvPr/>
        </p:nvSpPr>
        <p:spPr>
          <a:xfrm>
            <a:off x="10282476" y="6155293"/>
            <a:ext cx="1844159" cy="647700"/>
          </a:xfrm>
          <a:prstGeom prst="rect">
            <a:avLst/>
          </a:prstGeom>
          <a:noFill/>
          <a:ln/>
          <a:effectLst>
            <a:outerShdw sx="100000" sy="100000" kx="0" ky="0" algn="bl" rotWithShape="0" blurRad="171450" dist="50800" dir="16200000">
              <a:srgbClr val="00E5FF">
                <a:alpha val="33300"/>
              </a:srgbClr>
            </a:outerShdw>
          </a:effectLst>
        </p:spPr>
        <p:txBody>
          <a:bodyPr wrap="square" lIns="25400" tIns="25400" rIns="25400" bIns="25400" rtlCol="0" anchor="t">
            <a:normAutofit/>
          </a:bodyPr>
          <a:lstStyle/>
          <a:p>
            <a:pPr algn="l" indent="0" marL="0">
              <a:lnSpc>
                <a:spcPct val="100000"/>
              </a:lnSpc>
              <a:buNone/>
            </a:pPr>
            <a:r>
              <a:rPr lang="en-US" sz="4800" b="1" spc="-96" kern="0" dirty="0">
                <a:solidFill>
                  <a:srgbClr val="00E5FF"/>
                </a:solidFill>
                <a:latin typeface="Arial" pitchFamily="34" charset="0"/>
                <a:ea typeface="Arial" pitchFamily="34" charset="-122"/>
                <a:cs typeface="Arial" pitchFamily="34" charset="-120"/>
              </a:rPr>
              <a:t>98.6%</a:t>
            </a:r>
            <a:endParaRPr lang="en-US" sz="4800" dirty="0"/>
          </a:p>
        </p:txBody>
      </p:sp>
      <p:sp>
        <p:nvSpPr>
          <p:cNvPr id="26" name="Text 23"/>
          <p:cNvSpPr/>
          <p:nvPr/>
        </p:nvSpPr>
        <p:spPr>
          <a:xfrm>
            <a:off x="12279035" y="6222445"/>
            <a:ext cx="2435423"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dirty="0">
                <a:solidFill>
                  <a:srgbClr val="E7EEF7"/>
                </a:solidFill>
                <a:latin typeface="Arial" pitchFamily="34" charset="0"/>
                <a:ea typeface="Arial" pitchFamily="34" charset="-122"/>
                <a:cs typeface="Arial" pitchFamily="34" charset="-120"/>
              </a:rPr>
              <a:t>Filtering accuracy</a:t>
            </a:r>
            <a:endParaRPr lang="en-US" sz="1650" dirty="0"/>
          </a:p>
        </p:txBody>
      </p:sp>
      <p:sp>
        <p:nvSpPr>
          <p:cNvPr id="27" name="Text 24"/>
          <p:cNvSpPr/>
          <p:nvPr/>
        </p:nvSpPr>
        <p:spPr>
          <a:xfrm>
            <a:off x="12279035" y="6522482"/>
            <a:ext cx="2435423"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&lt;0.4% false positives on real users</a:t>
            </a:r>
            <a:endParaRPr lang="en-US" sz="1200" dirty="0"/>
          </a:p>
        </p:txBody>
      </p:sp>
      <p:sp>
        <p:nvSpPr>
          <p:cNvPr id="28" name="Shape 25"/>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29" name="Text 26"/>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30" name="Text 27"/>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13/17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12/</a:t>
            </a:r>
            <a:endParaRPr lang="en-US" sz="1800" dirty="0"/>
          </a:p>
        </p:txBody>
      </p:sp>
      <p:sp>
        <p:nvSpPr>
          <p:cNvPr id="7" name="Text 5"/>
          <p:cNvSpPr/>
          <p:nvPr/>
        </p:nvSpPr>
        <p:spPr>
          <a:xfrm>
            <a:off x="1935480" y="967740"/>
            <a:ext cx="2118241"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ADVANTAGES</a:t>
            </a:r>
            <a:endParaRPr lang="en-US" sz="1800" dirty="0"/>
          </a:p>
        </p:txBody>
      </p:sp>
      <p:sp>
        <p:nvSpPr>
          <p:cNvPr id="8" name="Text 6"/>
          <p:cNvSpPr/>
          <p:nvPr/>
        </p:nvSpPr>
        <p:spPr>
          <a:xfrm>
            <a:off x="1143000" y="1428750"/>
            <a:ext cx="14504213"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Smarter filtering beats broader blocking</a:t>
            </a:r>
            <a:endParaRPr lang="en-US" sz="4800" dirty="0"/>
          </a:p>
        </p:txBody>
      </p:sp>
      <p:sp>
        <p:nvSpPr>
          <p:cNvPr id="9" name="Shape 7"/>
          <p:cNvSpPr/>
          <p:nvPr/>
        </p:nvSpPr>
        <p:spPr>
          <a:xfrm>
            <a:off x="1143000" y="2582347"/>
            <a:ext cx="3032760" cy="6942654"/>
          </a:xfrm>
          <a:prstGeom prst="roundRect">
            <a:avLst>
              <a:gd name="adj" fmla="val 5653"/>
            </a:avLst>
          </a:prstGeom>
          <a:solidFill>
            <a:srgbClr val="0A0E18"/>
          </a:solidFill>
          <a:ln w="7620">
            <a:solidFill>
              <a:srgbClr val="78A0D2">
                <a:alpha val="14000"/>
              </a:srgbClr>
            </a:solidFill>
            <a:prstDash val="solid"/>
          </a:ln>
        </p:spPr>
      </p:sp>
      <p:sp>
        <p:nvSpPr>
          <p:cNvPr id="10" name="Shape 8"/>
          <p:cNvSpPr/>
          <p:nvPr/>
        </p:nvSpPr>
        <p:spPr>
          <a:xfrm>
            <a:off x="3025140" y="2208967"/>
            <a:ext cx="1524000" cy="1524000"/>
          </a:xfrm>
          <a:prstGeom prst="ellipse">
            <a:avLst/>
          </a:prstGeom>
          <a:solidFill>
            <a:srgbClr val="00E5FF">
              <a:alpha val="19000"/>
            </a:srgbClr>
          </a:solidFill>
          <a:ln/>
        </p:spPr>
      </p:sp>
      <p:sp>
        <p:nvSpPr>
          <p:cNvPr id="11" name="Shape 9"/>
          <p:cNvSpPr/>
          <p:nvPr/>
        </p:nvSpPr>
        <p:spPr>
          <a:xfrm>
            <a:off x="1417320" y="2856667"/>
            <a:ext cx="685800" cy="685800"/>
          </a:xfrm>
          <a:prstGeom prst="roundRect">
            <a:avLst>
              <a:gd name="adj" fmla="val 25000"/>
            </a:avLst>
          </a:prstGeom>
          <a:solidFill>
            <a:srgbClr val="00E5FF"/>
          </a:solidFill>
          <a:ln/>
          <a:effectLst>
            <a:outerShdw sx="100000" sy="100000" kx="0" ky="0" algn="bl" rotWithShape="0" blurRad="228600" dist="76200" dir="5400000">
              <a:srgbClr val="00E5FF">
                <a:alpha val="26700"/>
              </a:srgbClr>
            </a:outerShdw>
          </a:effectLst>
        </p:spPr>
      </p:sp>
      <p:pic>
        <p:nvPicPr>
          <p:cNvPr id="12" name="Image 0" descr="preencoded.png">    </p:cNvPr>
          <p:cNvPicPr>
            <a:picLocks noChangeAspect="1"/>
          </p:cNvPicPr>
          <p:nvPr/>
        </p:nvPicPr>
        <p:blipFill>
          <a:blip r:embed="rId1"/>
          <a:stretch>
            <a:fillRect/>
          </a:stretch>
        </p:blipFill>
        <p:spPr>
          <a:xfrm>
            <a:off x="1588770" y="3028117"/>
            <a:ext cx="342900" cy="342900"/>
          </a:xfrm>
          <a:prstGeom prst="rect">
            <a:avLst/>
          </a:prstGeom>
        </p:spPr>
      </p:pic>
      <p:sp>
        <p:nvSpPr>
          <p:cNvPr id="13" name="Text 10"/>
          <p:cNvSpPr/>
          <p:nvPr/>
        </p:nvSpPr>
        <p:spPr>
          <a:xfrm>
            <a:off x="1417320" y="8056245"/>
            <a:ext cx="2560320" cy="19812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00E5FF"/>
                </a:solidFill>
                <a:latin typeface="Arial" pitchFamily="34" charset="0"/>
                <a:ea typeface="Arial" pitchFamily="34" charset="-122"/>
                <a:cs typeface="Arial" pitchFamily="34" charset="-120"/>
              </a:rPr>
              <a:t>01</a:t>
            </a:r>
            <a:endParaRPr lang="en-US" sz="1050" dirty="0"/>
          </a:p>
        </p:txBody>
      </p:sp>
      <p:sp>
        <p:nvSpPr>
          <p:cNvPr id="14" name="Text 11"/>
          <p:cNvSpPr/>
          <p:nvPr/>
        </p:nvSpPr>
        <p:spPr>
          <a:xfrm>
            <a:off x="1417320" y="8330565"/>
            <a:ext cx="2560320"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E7EEF7"/>
                </a:solidFill>
                <a:latin typeface="Arial" pitchFamily="34" charset="0"/>
                <a:ea typeface="Arial" pitchFamily="34" charset="-122"/>
                <a:cs typeface="Arial" pitchFamily="34" charset="-120"/>
              </a:rPr>
              <a:t>No region blocking</a:t>
            </a:r>
            <a:endParaRPr lang="en-US" sz="2100" dirty="0"/>
          </a:p>
        </p:txBody>
      </p:sp>
      <p:sp>
        <p:nvSpPr>
          <p:cNvPr id="15" name="Text 12"/>
          <p:cNvSpPr/>
          <p:nvPr/>
        </p:nvSpPr>
        <p:spPr>
          <a:xfrm>
            <a:off x="1417320" y="8770620"/>
            <a:ext cx="2560320"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Genuine users from any country still get through.</a:t>
            </a:r>
            <a:endParaRPr lang="en-US" sz="1350" dirty="0"/>
          </a:p>
        </p:txBody>
      </p:sp>
      <p:sp>
        <p:nvSpPr>
          <p:cNvPr id="16" name="Shape 13"/>
          <p:cNvSpPr/>
          <p:nvPr/>
        </p:nvSpPr>
        <p:spPr>
          <a:xfrm>
            <a:off x="4385310" y="2582347"/>
            <a:ext cx="3032760" cy="6942654"/>
          </a:xfrm>
          <a:prstGeom prst="roundRect">
            <a:avLst>
              <a:gd name="adj" fmla="val 5653"/>
            </a:avLst>
          </a:prstGeom>
          <a:solidFill>
            <a:srgbClr val="0A0E18"/>
          </a:solidFill>
          <a:ln w="7620">
            <a:solidFill>
              <a:srgbClr val="78A0D2">
                <a:alpha val="14000"/>
              </a:srgbClr>
            </a:solidFill>
            <a:prstDash val="solid"/>
          </a:ln>
        </p:spPr>
      </p:sp>
      <p:sp>
        <p:nvSpPr>
          <p:cNvPr id="17" name="Shape 14"/>
          <p:cNvSpPr/>
          <p:nvPr/>
        </p:nvSpPr>
        <p:spPr>
          <a:xfrm>
            <a:off x="6267450" y="2208967"/>
            <a:ext cx="1524000" cy="1524000"/>
          </a:xfrm>
          <a:prstGeom prst="ellipse">
            <a:avLst/>
          </a:prstGeom>
          <a:solidFill>
            <a:srgbClr val="00E5FF">
              <a:alpha val="19000"/>
            </a:srgbClr>
          </a:solidFill>
          <a:ln/>
        </p:spPr>
      </p:sp>
      <p:sp>
        <p:nvSpPr>
          <p:cNvPr id="18" name="Shape 15"/>
          <p:cNvSpPr/>
          <p:nvPr/>
        </p:nvSpPr>
        <p:spPr>
          <a:xfrm>
            <a:off x="4659630" y="2856667"/>
            <a:ext cx="685800" cy="685800"/>
          </a:xfrm>
          <a:prstGeom prst="roundRect">
            <a:avLst>
              <a:gd name="adj" fmla="val 25000"/>
            </a:avLst>
          </a:prstGeom>
          <a:solidFill>
            <a:srgbClr val="00E5FF"/>
          </a:solidFill>
          <a:ln/>
          <a:effectLst>
            <a:outerShdw sx="100000" sy="100000" kx="0" ky="0" algn="bl" rotWithShape="0" blurRad="228600" dist="76200" dir="5400000">
              <a:srgbClr val="00E5FF">
                <a:alpha val="26700"/>
              </a:srgbClr>
            </a:outerShdw>
          </a:effectLst>
        </p:spPr>
      </p:sp>
      <p:pic>
        <p:nvPicPr>
          <p:cNvPr id="19" name="Image 1" descr="preencoded.png">    </p:cNvPr>
          <p:cNvPicPr>
            <a:picLocks noChangeAspect="1"/>
          </p:cNvPicPr>
          <p:nvPr/>
        </p:nvPicPr>
        <p:blipFill>
          <a:blip r:embed="rId2"/>
          <a:stretch>
            <a:fillRect/>
          </a:stretch>
        </p:blipFill>
        <p:spPr>
          <a:xfrm>
            <a:off x="4831080" y="3028117"/>
            <a:ext cx="342900" cy="342900"/>
          </a:xfrm>
          <a:prstGeom prst="rect">
            <a:avLst/>
          </a:prstGeom>
        </p:spPr>
      </p:pic>
      <p:sp>
        <p:nvSpPr>
          <p:cNvPr id="20" name="Text 16"/>
          <p:cNvSpPr/>
          <p:nvPr/>
        </p:nvSpPr>
        <p:spPr>
          <a:xfrm>
            <a:off x="4659630" y="8056245"/>
            <a:ext cx="2560320" cy="19812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00E5FF"/>
                </a:solidFill>
                <a:latin typeface="Arial" pitchFamily="34" charset="0"/>
                <a:ea typeface="Arial" pitchFamily="34" charset="-122"/>
                <a:cs typeface="Arial" pitchFamily="34" charset="-120"/>
              </a:rPr>
              <a:t>02</a:t>
            </a:r>
            <a:endParaRPr lang="en-US" sz="1050" dirty="0"/>
          </a:p>
        </p:txBody>
      </p:sp>
      <p:sp>
        <p:nvSpPr>
          <p:cNvPr id="21" name="Text 17"/>
          <p:cNvSpPr/>
          <p:nvPr/>
        </p:nvSpPr>
        <p:spPr>
          <a:xfrm>
            <a:off x="4659630" y="8330565"/>
            <a:ext cx="2560320"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E7EEF7"/>
                </a:solidFill>
                <a:latin typeface="Arial" pitchFamily="34" charset="0"/>
                <a:ea typeface="Arial" pitchFamily="34" charset="-122"/>
                <a:cs typeface="Arial" pitchFamily="34" charset="-120"/>
              </a:rPr>
              <a:t>Cost-effective</a:t>
            </a:r>
            <a:endParaRPr lang="en-US" sz="2100" dirty="0"/>
          </a:p>
        </p:txBody>
      </p:sp>
      <p:sp>
        <p:nvSpPr>
          <p:cNvPr id="22" name="Text 18"/>
          <p:cNvSpPr/>
          <p:nvPr/>
        </p:nvSpPr>
        <p:spPr>
          <a:xfrm>
            <a:off x="4659630" y="8770620"/>
            <a:ext cx="2560320"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Self-hosted middleware — no enterprise license fees.</a:t>
            </a:r>
            <a:endParaRPr lang="en-US" sz="1350" dirty="0"/>
          </a:p>
        </p:txBody>
      </p:sp>
      <p:sp>
        <p:nvSpPr>
          <p:cNvPr id="23" name="Shape 19"/>
          <p:cNvSpPr/>
          <p:nvPr/>
        </p:nvSpPr>
        <p:spPr>
          <a:xfrm>
            <a:off x="7627620" y="2582347"/>
            <a:ext cx="3032760" cy="6942654"/>
          </a:xfrm>
          <a:prstGeom prst="roundRect">
            <a:avLst>
              <a:gd name="adj" fmla="val 5653"/>
            </a:avLst>
          </a:prstGeom>
          <a:solidFill>
            <a:srgbClr val="0A0E18"/>
          </a:solidFill>
          <a:ln w="7620">
            <a:solidFill>
              <a:srgbClr val="78A0D2">
                <a:alpha val="14000"/>
              </a:srgbClr>
            </a:solidFill>
            <a:prstDash val="solid"/>
          </a:ln>
        </p:spPr>
      </p:sp>
      <p:sp>
        <p:nvSpPr>
          <p:cNvPr id="24" name="Shape 20"/>
          <p:cNvSpPr/>
          <p:nvPr/>
        </p:nvSpPr>
        <p:spPr>
          <a:xfrm>
            <a:off x="9509760" y="2208967"/>
            <a:ext cx="1524000" cy="1524000"/>
          </a:xfrm>
          <a:prstGeom prst="ellipse">
            <a:avLst/>
          </a:prstGeom>
          <a:solidFill>
            <a:srgbClr val="00E5FF">
              <a:alpha val="19000"/>
            </a:srgbClr>
          </a:solidFill>
          <a:ln/>
        </p:spPr>
      </p:sp>
      <p:sp>
        <p:nvSpPr>
          <p:cNvPr id="25" name="Shape 21"/>
          <p:cNvSpPr/>
          <p:nvPr/>
        </p:nvSpPr>
        <p:spPr>
          <a:xfrm>
            <a:off x="7901940" y="2856667"/>
            <a:ext cx="685800" cy="685800"/>
          </a:xfrm>
          <a:prstGeom prst="roundRect">
            <a:avLst>
              <a:gd name="adj" fmla="val 25000"/>
            </a:avLst>
          </a:prstGeom>
          <a:solidFill>
            <a:srgbClr val="00E5FF"/>
          </a:solidFill>
          <a:ln/>
          <a:effectLst>
            <a:outerShdw sx="100000" sy="100000" kx="0" ky="0" algn="bl" rotWithShape="0" blurRad="228600" dist="76200" dir="5400000">
              <a:srgbClr val="00E5FF">
                <a:alpha val="26700"/>
              </a:srgbClr>
            </a:outerShdw>
          </a:effectLst>
        </p:spPr>
      </p:sp>
      <p:pic>
        <p:nvPicPr>
          <p:cNvPr id="26" name="Image 2" descr="preencoded.png">    </p:cNvPr>
          <p:cNvPicPr>
            <a:picLocks noChangeAspect="1"/>
          </p:cNvPicPr>
          <p:nvPr/>
        </p:nvPicPr>
        <p:blipFill>
          <a:blip r:embed="rId3"/>
          <a:stretch>
            <a:fillRect/>
          </a:stretch>
        </p:blipFill>
        <p:spPr>
          <a:xfrm>
            <a:off x="8073390" y="3028117"/>
            <a:ext cx="342900" cy="342900"/>
          </a:xfrm>
          <a:prstGeom prst="rect">
            <a:avLst/>
          </a:prstGeom>
        </p:spPr>
      </p:pic>
      <p:sp>
        <p:nvSpPr>
          <p:cNvPr id="27" name="Text 22"/>
          <p:cNvSpPr/>
          <p:nvPr/>
        </p:nvSpPr>
        <p:spPr>
          <a:xfrm>
            <a:off x="7901940" y="7816215"/>
            <a:ext cx="2560320" cy="19812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00E5FF"/>
                </a:solidFill>
                <a:latin typeface="Arial" pitchFamily="34" charset="0"/>
                <a:ea typeface="Arial" pitchFamily="34" charset="-122"/>
                <a:cs typeface="Arial" pitchFamily="34" charset="-120"/>
              </a:rPr>
              <a:t>03</a:t>
            </a:r>
            <a:endParaRPr lang="en-US" sz="1050" dirty="0"/>
          </a:p>
        </p:txBody>
      </p:sp>
      <p:sp>
        <p:nvSpPr>
          <p:cNvPr id="28" name="Text 23"/>
          <p:cNvSpPr/>
          <p:nvPr/>
        </p:nvSpPr>
        <p:spPr>
          <a:xfrm>
            <a:off x="7901940" y="8090535"/>
            <a:ext cx="2560320"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E7EEF7"/>
                </a:solidFill>
                <a:latin typeface="Arial" pitchFamily="34" charset="0"/>
                <a:ea typeface="Arial" pitchFamily="34" charset="-122"/>
                <a:cs typeface="Arial" pitchFamily="34" charset="-120"/>
              </a:rPr>
              <a:t>Lightweight</a:t>
            </a:r>
            <a:endParaRPr lang="en-US" sz="2100" dirty="0"/>
          </a:p>
        </p:txBody>
      </p:sp>
      <p:sp>
        <p:nvSpPr>
          <p:cNvPr id="29" name="Text 24"/>
          <p:cNvSpPr/>
          <p:nvPr/>
        </p:nvSpPr>
        <p:spPr>
          <a:xfrm>
            <a:off x="7901940" y="8530590"/>
            <a:ext cx="2560320" cy="75819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Negligible per-request overhead, runs on commodity servers.</a:t>
            </a:r>
            <a:endParaRPr lang="en-US" sz="1350" dirty="0"/>
          </a:p>
        </p:txBody>
      </p:sp>
      <p:sp>
        <p:nvSpPr>
          <p:cNvPr id="30" name="Shape 25"/>
          <p:cNvSpPr/>
          <p:nvPr/>
        </p:nvSpPr>
        <p:spPr>
          <a:xfrm>
            <a:off x="10869931" y="2582347"/>
            <a:ext cx="3032760" cy="6942654"/>
          </a:xfrm>
          <a:prstGeom prst="roundRect">
            <a:avLst>
              <a:gd name="adj" fmla="val 5653"/>
            </a:avLst>
          </a:prstGeom>
          <a:solidFill>
            <a:srgbClr val="0A0E18"/>
          </a:solidFill>
          <a:ln w="7620">
            <a:solidFill>
              <a:srgbClr val="78A0D2">
                <a:alpha val="14000"/>
              </a:srgbClr>
            </a:solidFill>
            <a:prstDash val="solid"/>
          </a:ln>
        </p:spPr>
      </p:sp>
      <p:sp>
        <p:nvSpPr>
          <p:cNvPr id="31" name="Shape 26"/>
          <p:cNvSpPr/>
          <p:nvPr/>
        </p:nvSpPr>
        <p:spPr>
          <a:xfrm>
            <a:off x="12752070" y="2208967"/>
            <a:ext cx="1524000" cy="1524000"/>
          </a:xfrm>
          <a:prstGeom prst="ellipse">
            <a:avLst/>
          </a:prstGeom>
          <a:solidFill>
            <a:srgbClr val="00E5FF">
              <a:alpha val="19000"/>
            </a:srgbClr>
          </a:solidFill>
          <a:ln/>
        </p:spPr>
      </p:sp>
      <p:sp>
        <p:nvSpPr>
          <p:cNvPr id="32" name="Shape 27"/>
          <p:cNvSpPr/>
          <p:nvPr/>
        </p:nvSpPr>
        <p:spPr>
          <a:xfrm>
            <a:off x="11144250" y="2856667"/>
            <a:ext cx="685800" cy="685800"/>
          </a:xfrm>
          <a:prstGeom prst="roundRect">
            <a:avLst>
              <a:gd name="adj" fmla="val 25000"/>
            </a:avLst>
          </a:prstGeom>
          <a:solidFill>
            <a:srgbClr val="00E5FF"/>
          </a:solidFill>
          <a:ln/>
          <a:effectLst>
            <a:outerShdw sx="100000" sy="100000" kx="0" ky="0" algn="bl" rotWithShape="0" blurRad="228600" dist="76200" dir="5400000">
              <a:srgbClr val="00E5FF">
                <a:alpha val="26700"/>
              </a:srgbClr>
            </a:outerShdw>
          </a:effectLst>
        </p:spPr>
      </p:sp>
      <p:pic>
        <p:nvPicPr>
          <p:cNvPr id="33" name="Image 3" descr="preencoded.png">    </p:cNvPr>
          <p:cNvPicPr>
            <a:picLocks noChangeAspect="1"/>
          </p:cNvPicPr>
          <p:nvPr/>
        </p:nvPicPr>
        <p:blipFill>
          <a:blip r:embed="rId4"/>
          <a:stretch>
            <a:fillRect/>
          </a:stretch>
        </p:blipFill>
        <p:spPr>
          <a:xfrm>
            <a:off x="11315700" y="3028117"/>
            <a:ext cx="342900" cy="342900"/>
          </a:xfrm>
          <a:prstGeom prst="rect">
            <a:avLst/>
          </a:prstGeom>
        </p:spPr>
      </p:pic>
      <p:sp>
        <p:nvSpPr>
          <p:cNvPr id="34" name="Text 28"/>
          <p:cNvSpPr/>
          <p:nvPr/>
        </p:nvSpPr>
        <p:spPr>
          <a:xfrm>
            <a:off x="11144250" y="8056245"/>
            <a:ext cx="2560320" cy="19812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00E5FF"/>
                </a:solidFill>
                <a:latin typeface="Arial" pitchFamily="34" charset="0"/>
                <a:ea typeface="Arial" pitchFamily="34" charset="-122"/>
                <a:cs typeface="Arial" pitchFamily="34" charset="-120"/>
              </a:rPr>
              <a:t>04</a:t>
            </a:r>
            <a:endParaRPr lang="en-US" sz="1050" dirty="0"/>
          </a:p>
        </p:txBody>
      </p:sp>
      <p:sp>
        <p:nvSpPr>
          <p:cNvPr id="35" name="Text 29"/>
          <p:cNvSpPr/>
          <p:nvPr/>
        </p:nvSpPr>
        <p:spPr>
          <a:xfrm>
            <a:off x="11144250" y="8330565"/>
            <a:ext cx="2560320"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E7EEF7"/>
                </a:solidFill>
                <a:latin typeface="Arial" pitchFamily="34" charset="0"/>
                <a:ea typeface="Arial" pitchFamily="34" charset="-122"/>
                <a:cs typeface="Arial" pitchFamily="34" charset="-120"/>
              </a:rPr>
              <a:t>Scalable</a:t>
            </a:r>
            <a:endParaRPr lang="en-US" sz="2100" dirty="0"/>
          </a:p>
        </p:txBody>
      </p:sp>
      <p:sp>
        <p:nvSpPr>
          <p:cNvPr id="36" name="Text 30"/>
          <p:cNvSpPr/>
          <p:nvPr/>
        </p:nvSpPr>
        <p:spPr>
          <a:xfrm>
            <a:off x="11144250" y="8770620"/>
            <a:ext cx="2560320"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Horizontal scale-out behind any load balancer.</a:t>
            </a:r>
            <a:endParaRPr lang="en-US" sz="1350" dirty="0"/>
          </a:p>
        </p:txBody>
      </p:sp>
      <p:sp>
        <p:nvSpPr>
          <p:cNvPr id="37" name="Shape 31"/>
          <p:cNvSpPr/>
          <p:nvPr/>
        </p:nvSpPr>
        <p:spPr>
          <a:xfrm>
            <a:off x="14112240" y="2582347"/>
            <a:ext cx="3032760" cy="6942654"/>
          </a:xfrm>
          <a:prstGeom prst="roundRect">
            <a:avLst>
              <a:gd name="adj" fmla="val 5653"/>
            </a:avLst>
          </a:prstGeom>
          <a:solidFill>
            <a:srgbClr val="0A0E18"/>
          </a:solidFill>
          <a:ln w="7620">
            <a:solidFill>
              <a:srgbClr val="78A0D2">
                <a:alpha val="14000"/>
              </a:srgbClr>
            </a:solidFill>
            <a:prstDash val="solid"/>
          </a:ln>
        </p:spPr>
      </p:sp>
      <p:sp>
        <p:nvSpPr>
          <p:cNvPr id="38" name="Shape 32"/>
          <p:cNvSpPr/>
          <p:nvPr/>
        </p:nvSpPr>
        <p:spPr>
          <a:xfrm>
            <a:off x="15994381" y="2208967"/>
            <a:ext cx="1524000" cy="1524000"/>
          </a:xfrm>
          <a:prstGeom prst="ellipse">
            <a:avLst/>
          </a:prstGeom>
          <a:solidFill>
            <a:srgbClr val="00E5FF">
              <a:alpha val="19000"/>
            </a:srgbClr>
          </a:solidFill>
          <a:ln/>
        </p:spPr>
      </p:sp>
      <p:sp>
        <p:nvSpPr>
          <p:cNvPr id="39" name="Shape 33"/>
          <p:cNvSpPr/>
          <p:nvPr/>
        </p:nvSpPr>
        <p:spPr>
          <a:xfrm>
            <a:off x="14386560" y="2856667"/>
            <a:ext cx="685800" cy="685800"/>
          </a:xfrm>
          <a:prstGeom prst="roundRect">
            <a:avLst>
              <a:gd name="adj" fmla="val 25000"/>
            </a:avLst>
          </a:prstGeom>
          <a:solidFill>
            <a:srgbClr val="00E5FF"/>
          </a:solidFill>
          <a:ln/>
          <a:effectLst>
            <a:outerShdw sx="100000" sy="100000" kx="0" ky="0" algn="bl" rotWithShape="0" blurRad="228600" dist="76200" dir="5400000">
              <a:srgbClr val="00E5FF">
                <a:alpha val="26700"/>
              </a:srgbClr>
            </a:outerShdw>
          </a:effectLst>
        </p:spPr>
      </p:sp>
      <p:pic>
        <p:nvPicPr>
          <p:cNvPr id="40" name="Image 4" descr="preencoded.png">    </p:cNvPr>
          <p:cNvPicPr>
            <a:picLocks noChangeAspect="1"/>
          </p:cNvPicPr>
          <p:nvPr/>
        </p:nvPicPr>
        <p:blipFill>
          <a:blip r:embed="rId5"/>
          <a:stretch>
            <a:fillRect/>
          </a:stretch>
        </p:blipFill>
        <p:spPr>
          <a:xfrm>
            <a:off x="14558010" y="3028117"/>
            <a:ext cx="342900" cy="342900"/>
          </a:xfrm>
          <a:prstGeom prst="rect">
            <a:avLst/>
          </a:prstGeom>
        </p:spPr>
      </p:pic>
      <p:sp>
        <p:nvSpPr>
          <p:cNvPr id="41" name="Text 34"/>
          <p:cNvSpPr/>
          <p:nvPr/>
        </p:nvSpPr>
        <p:spPr>
          <a:xfrm>
            <a:off x="14386560" y="8056245"/>
            <a:ext cx="2560320" cy="19812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00E5FF"/>
                </a:solidFill>
                <a:latin typeface="Arial" pitchFamily="34" charset="0"/>
                <a:ea typeface="Arial" pitchFamily="34" charset="-122"/>
                <a:cs typeface="Arial" pitchFamily="34" charset="-120"/>
              </a:rPr>
              <a:t>05</a:t>
            </a:r>
            <a:endParaRPr lang="en-US" sz="1050" dirty="0"/>
          </a:p>
        </p:txBody>
      </p:sp>
      <p:sp>
        <p:nvSpPr>
          <p:cNvPr id="42" name="Text 35"/>
          <p:cNvSpPr/>
          <p:nvPr/>
        </p:nvSpPr>
        <p:spPr>
          <a:xfrm>
            <a:off x="14386560" y="8330565"/>
            <a:ext cx="2560320"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dirty="0">
                <a:solidFill>
                  <a:srgbClr val="E7EEF7"/>
                </a:solidFill>
                <a:latin typeface="Arial" pitchFamily="34" charset="0"/>
                <a:ea typeface="Arial" pitchFamily="34" charset="-122"/>
                <a:cs typeface="Arial" pitchFamily="34" charset="-120"/>
              </a:rPr>
              <a:t>Intelligent</a:t>
            </a:r>
            <a:endParaRPr lang="en-US" sz="2100" dirty="0"/>
          </a:p>
        </p:txBody>
      </p:sp>
      <p:sp>
        <p:nvSpPr>
          <p:cNvPr id="43" name="Text 36"/>
          <p:cNvSpPr/>
          <p:nvPr/>
        </p:nvSpPr>
        <p:spPr>
          <a:xfrm>
            <a:off x="14386560" y="8770620"/>
            <a:ext cx="2560320" cy="51816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8C9AB0"/>
                </a:solidFill>
                <a:latin typeface="Arial" pitchFamily="34" charset="0"/>
                <a:ea typeface="Arial" pitchFamily="34" charset="-122"/>
                <a:cs typeface="Arial" pitchFamily="34" charset="-120"/>
              </a:rPr>
              <a:t>Behavioral scoring adapts to new attack patterns.</a:t>
            </a:r>
            <a:endParaRPr lang="en-US" sz="1350" dirty="0"/>
          </a:p>
        </p:txBody>
      </p:sp>
      <p:sp>
        <p:nvSpPr>
          <p:cNvPr id="44" name="Shape 37"/>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45" name="Text 38"/>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46" name="Text 39"/>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14/17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13/</a:t>
            </a:r>
            <a:endParaRPr lang="en-US" sz="1800" dirty="0"/>
          </a:p>
        </p:txBody>
      </p:sp>
      <p:sp>
        <p:nvSpPr>
          <p:cNvPr id="7" name="Text 5"/>
          <p:cNvSpPr/>
          <p:nvPr/>
        </p:nvSpPr>
        <p:spPr>
          <a:xfrm>
            <a:off x="1935480" y="967740"/>
            <a:ext cx="2424232"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FUTURE SCOPE</a:t>
            </a:r>
            <a:endParaRPr lang="en-US" sz="1800" dirty="0"/>
          </a:p>
        </p:txBody>
      </p:sp>
      <p:sp>
        <p:nvSpPr>
          <p:cNvPr id="8" name="Text 6"/>
          <p:cNvSpPr/>
          <p:nvPr/>
        </p:nvSpPr>
        <p:spPr>
          <a:xfrm>
            <a:off x="1143000" y="1428750"/>
            <a:ext cx="14504213"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The system learns and scales from here</a:t>
            </a:r>
            <a:endParaRPr lang="en-US" sz="4800" dirty="0"/>
          </a:p>
        </p:txBody>
      </p:sp>
      <p:sp>
        <p:nvSpPr>
          <p:cNvPr id="9" name="Shape 7"/>
          <p:cNvSpPr/>
          <p:nvPr/>
        </p:nvSpPr>
        <p:spPr>
          <a:xfrm>
            <a:off x="1714500" y="6039326"/>
            <a:ext cx="14859000" cy="28575"/>
          </a:xfrm>
          <a:prstGeom prst="rect">
            <a:avLst/>
          </a:prstGeom>
          <a:solidFill>
            <a:srgbClr val="00E5FF"/>
          </a:solidFill>
          <a:ln/>
          <a:effectLst>
            <a:outerShdw sx="100000" sy="100000" kx="0" ky="0" algn="bl" rotWithShape="0" blurRad="133350" dist="50800" dir="16200000">
              <a:srgbClr val="00E5FF">
                <a:alpha val="40000"/>
              </a:srgbClr>
            </a:outerShdw>
          </a:effectLst>
        </p:spPr>
      </p:sp>
      <p:sp>
        <p:nvSpPr>
          <p:cNvPr id="10" name="Shape 8"/>
          <p:cNvSpPr/>
          <p:nvPr/>
        </p:nvSpPr>
        <p:spPr>
          <a:xfrm>
            <a:off x="1143000" y="4506754"/>
            <a:ext cx="3829050" cy="1905000"/>
          </a:xfrm>
          <a:prstGeom prst="roundRect">
            <a:avLst>
              <a:gd name="adj" fmla="val 7000"/>
            </a:avLst>
          </a:prstGeom>
          <a:solidFill>
            <a:srgbClr val="0A0E18"/>
          </a:solidFill>
          <a:ln w="7620">
            <a:solidFill>
              <a:srgbClr val="00E5FF">
                <a:alpha val="33000"/>
              </a:srgbClr>
            </a:solidFill>
            <a:prstDash val="solid"/>
          </a:ln>
          <a:effectLst>
            <a:outerShdw sx="100000" sy="100000" kx="0" ky="0" algn="bl" rotWithShape="0" blurRad="228600" dist="50800" dir="16200000">
              <a:srgbClr val="00E5FF">
                <a:alpha val="10000"/>
              </a:srgbClr>
            </a:outerShdw>
          </a:effectLst>
        </p:spPr>
      </p:sp>
      <p:sp>
        <p:nvSpPr>
          <p:cNvPr id="11" name="Shape 9"/>
          <p:cNvSpPr/>
          <p:nvPr/>
        </p:nvSpPr>
        <p:spPr>
          <a:xfrm>
            <a:off x="1379220" y="4742974"/>
            <a:ext cx="457200" cy="457200"/>
          </a:xfrm>
          <a:prstGeom prst="roundRect">
            <a:avLst>
              <a:gd name="adj" fmla="val 25000"/>
            </a:avLst>
          </a:prstGeom>
          <a:solidFill>
            <a:srgbClr val="00E5FF">
              <a:alpha val="19000"/>
            </a:srgbClr>
          </a:solidFill>
          <a:ln w="7620">
            <a:solidFill>
              <a:srgbClr val="00E5FF">
                <a:alpha val="40000"/>
              </a:srgbClr>
            </a:solidFill>
            <a:prstDash val="solid"/>
          </a:ln>
        </p:spPr>
      </p:sp>
      <p:pic>
        <p:nvPicPr>
          <p:cNvPr id="12" name="Image 0" descr="preencoded.png">    </p:cNvPr>
          <p:cNvPicPr>
            <a:picLocks noChangeAspect="1"/>
          </p:cNvPicPr>
          <p:nvPr/>
        </p:nvPicPr>
        <p:blipFill>
          <a:blip r:embed="rId1"/>
          <a:stretch>
            <a:fillRect/>
          </a:stretch>
        </p:blipFill>
        <p:spPr>
          <a:xfrm>
            <a:off x="1483995" y="4847749"/>
            <a:ext cx="247650" cy="247650"/>
          </a:xfrm>
          <a:prstGeom prst="rect">
            <a:avLst/>
          </a:prstGeom>
        </p:spPr>
      </p:pic>
      <p:sp>
        <p:nvSpPr>
          <p:cNvPr id="13" name="Text 10"/>
          <p:cNvSpPr/>
          <p:nvPr/>
        </p:nvSpPr>
        <p:spPr>
          <a:xfrm>
            <a:off x="1379220" y="5333524"/>
            <a:ext cx="3457308" cy="31242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E7EEF7"/>
                </a:solidFill>
                <a:latin typeface="Arial" pitchFamily="34" charset="0"/>
                <a:ea typeface="Arial" pitchFamily="34" charset="-122"/>
                <a:cs typeface="Arial" pitchFamily="34" charset="-120"/>
              </a:rPr>
              <a:t>Self-learning AI</a:t>
            </a:r>
            <a:endParaRPr lang="en-US" sz="1800" dirty="0"/>
          </a:p>
        </p:txBody>
      </p:sp>
      <p:sp>
        <p:nvSpPr>
          <p:cNvPr id="14" name="Text 11"/>
          <p:cNvSpPr/>
          <p:nvPr/>
        </p:nvSpPr>
        <p:spPr>
          <a:xfrm>
            <a:off x="1379220" y="5684044"/>
            <a:ext cx="3457308" cy="491490"/>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8C9AB0"/>
                </a:solidFill>
                <a:latin typeface="Arial" pitchFamily="34" charset="0"/>
                <a:ea typeface="Arial" pitchFamily="34" charset="-122"/>
                <a:cs typeface="Arial" pitchFamily="34" charset="-120"/>
              </a:rPr>
              <a:t>Online learning from labeled traffic — model improves without retraining cycles.</a:t>
            </a:r>
            <a:endParaRPr lang="en-US" sz="1275" dirty="0"/>
          </a:p>
        </p:txBody>
      </p:sp>
      <p:sp>
        <p:nvSpPr>
          <p:cNvPr id="15" name="Shape 12"/>
          <p:cNvSpPr/>
          <p:nvPr/>
        </p:nvSpPr>
        <p:spPr>
          <a:xfrm>
            <a:off x="2943225" y="6754654"/>
            <a:ext cx="228600" cy="228600"/>
          </a:xfrm>
          <a:prstGeom prst="ellipse">
            <a:avLst/>
          </a:prstGeom>
          <a:solidFill>
            <a:srgbClr val="00E5FF"/>
          </a:solidFill>
          <a:ln w="38100">
            <a:solidFill>
              <a:srgbClr val="05070D"/>
            </a:solidFill>
            <a:prstDash val="solid"/>
          </a:ln>
          <a:effectLst>
            <a:outerShdw sx="100000" sy="100000" kx="0" ky="0" algn="bl" rotWithShape="0" blurRad="152400" dist="50800" dir="16200000">
              <a:srgbClr val="00E5FF">
                <a:alpha val="100000"/>
              </a:srgbClr>
            </a:outerShdw>
          </a:effectLst>
        </p:spPr>
      </p:sp>
      <p:sp>
        <p:nvSpPr>
          <p:cNvPr id="16" name="Text 13"/>
          <p:cNvSpPr/>
          <p:nvPr/>
        </p:nvSpPr>
        <p:spPr>
          <a:xfrm>
            <a:off x="2738914" y="7326154"/>
            <a:ext cx="713303" cy="312420"/>
          </a:xfrm>
          <a:prstGeom prst="rect">
            <a:avLst/>
          </a:prstGeom>
          <a:noFill/>
          <a:ln/>
        </p:spPr>
        <p:txBody>
          <a:bodyPr wrap="square" lIns="25400" tIns="25400" rIns="25400" bIns="25400" rtlCol="0" anchor="t">
            <a:normAutofit/>
          </a:bodyPr>
          <a:lstStyle/>
          <a:p>
            <a:pPr algn="l" indent="0" marL="0">
              <a:buNone/>
            </a:pPr>
            <a:r>
              <a:rPr lang="en-US" sz="1650" b="1" spc="264" kern="0" dirty="0">
                <a:solidFill>
                  <a:srgbClr val="00E5FF"/>
                </a:solidFill>
                <a:latin typeface="Arial" pitchFamily="34" charset="0"/>
                <a:ea typeface="Arial" pitchFamily="34" charset="-122"/>
                <a:cs typeface="Arial" pitchFamily="34" charset="-120"/>
              </a:rPr>
              <a:t>NEXT</a:t>
            </a:r>
            <a:endParaRPr lang="en-US" sz="1650" dirty="0"/>
          </a:p>
        </p:txBody>
      </p:sp>
      <p:sp>
        <p:nvSpPr>
          <p:cNvPr id="17" name="Shape 14"/>
          <p:cNvSpPr/>
          <p:nvPr/>
        </p:nvSpPr>
        <p:spPr>
          <a:xfrm>
            <a:off x="5200650" y="5695474"/>
            <a:ext cx="3829050" cy="1905000"/>
          </a:xfrm>
          <a:prstGeom prst="roundRect">
            <a:avLst>
              <a:gd name="adj" fmla="val 7000"/>
            </a:avLst>
          </a:prstGeom>
          <a:solidFill>
            <a:srgbClr val="0A0E18"/>
          </a:solidFill>
          <a:ln w="7620">
            <a:solidFill>
              <a:srgbClr val="00E5FF">
                <a:alpha val="33000"/>
              </a:srgbClr>
            </a:solidFill>
            <a:prstDash val="solid"/>
          </a:ln>
          <a:effectLst>
            <a:outerShdw sx="100000" sy="100000" kx="0" ky="0" algn="bl" rotWithShape="0" blurRad="228600" dist="50800" dir="16200000">
              <a:srgbClr val="00E5FF">
                <a:alpha val="10000"/>
              </a:srgbClr>
            </a:outerShdw>
          </a:effectLst>
        </p:spPr>
      </p:sp>
      <p:sp>
        <p:nvSpPr>
          <p:cNvPr id="18" name="Shape 15"/>
          <p:cNvSpPr/>
          <p:nvPr/>
        </p:nvSpPr>
        <p:spPr>
          <a:xfrm>
            <a:off x="5436870" y="5931694"/>
            <a:ext cx="457200" cy="457200"/>
          </a:xfrm>
          <a:prstGeom prst="roundRect">
            <a:avLst>
              <a:gd name="adj" fmla="val 25000"/>
            </a:avLst>
          </a:prstGeom>
          <a:solidFill>
            <a:srgbClr val="00E5FF">
              <a:alpha val="19000"/>
            </a:srgbClr>
          </a:solidFill>
          <a:ln w="7620">
            <a:solidFill>
              <a:srgbClr val="00E5FF">
                <a:alpha val="40000"/>
              </a:srgbClr>
            </a:solidFill>
            <a:prstDash val="solid"/>
          </a:ln>
        </p:spPr>
      </p:sp>
      <p:pic>
        <p:nvPicPr>
          <p:cNvPr id="19" name="Image 1" descr="preencoded.png">    </p:cNvPr>
          <p:cNvPicPr>
            <a:picLocks noChangeAspect="1"/>
          </p:cNvPicPr>
          <p:nvPr/>
        </p:nvPicPr>
        <p:blipFill>
          <a:blip r:embed="rId2"/>
          <a:stretch>
            <a:fillRect/>
          </a:stretch>
        </p:blipFill>
        <p:spPr>
          <a:xfrm>
            <a:off x="5541645" y="6036469"/>
            <a:ext cx="247650" cy="247650"/>
          </a:xfrm>
          <a:prstGeom prst="rect">
            <a:avLst/>
          </a:prstGeom>
        </p:spPr>
      </p:pic>
      <p:sp>
        <p:nvSpPr>
          <p:cNvPr id="20" name="Text 16"/>
          <p:cNvSpPr/>
          <p:nvPr/>
        </p:nvSpPr>
        <p:spPr>
          <a:xfrm>
            <a:off x="5436870" y="6522244"/>
            <a:ext cx="3457308" cy="31242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E7EEF7"/>
                </a:solidFill>
                <a:latin typeface="Arial" pitchFamily="34" charset="0"/>
                <a:ea typeface="Arial" pitchFamily="34" charset="-122"/>
                <a:cs typeface="Arial" pitchFamily="34" charset="-120"/>
              </a:rPr>
              <a:t>Cloud integration</a:t>
            </a:r>
            <a:endParaRPr lang="en-US" sz="1800" dirty="0"/>
          </a:p>
        </p:txBody>
      </p:sp>
      <p:sp>
        <p:nvSpPr>
          <p:cNvPr id="21" name="Text 17"/>
          <p:cNvSpPr/>
          <p:nvPr/>
        </p:nvSpPr>
        <p:spPr>
          <a:xfrm>
            <a:off x="5436870" y="6872764"/>
            <a:ext cx="3457308" cy="491490"/>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8C9AB0"/>
                </a:solidFill>
                <a:latin typeface="Arial" pitchFamily="34" charset="0"/>
                <a:ea typeface="Arial" pitchFamily="34" charset="-122"/>
                <a:cs typeface="Arial" pitchFamily="34" charset="-120"/>
              </a:rPr>
              <a:t>Managed SaaS deployment with multi-tenant isolation.</a:t>
            </a:r>
            <a:endParaRPr lang="en-US" sz="1275" dirty="0"/>
          </a:p>
        </p:txBody>
      </p:sp>
      <p:sp>
        <p:nvSpPr>
          <p:cNvPr id="22" name="Shape 18"/>
          <p:cNvSpPr/>
          <p:nvPr/>
        </p:nvSpPr>
        <p:spPr>
          <a:xfrm>
            <a:off x="7000875" y="5123974"/>
            <a:ext cx="228600" cy="228600"/>
          </a:xfrm>
          <a:prstGeom prst="ellipse">
            <a:avLst/>
          </a:prstGeom>
          <a:solidFill>
            <a:srgbClr val="00E5FF"/>
          </a:solidFill>
          <a:ln w="38100">
            <a:solidFill>
              <a:srgbClr val="05070D"/>
            </a:solidFill>
            <a:prstDash val="solid"/>
          </a:ln>
          <a:effectLst>
            <a:outerShdw sx="100000" sy="100000" kx="0" ky="0" algn="bl" rotWithShape="0" blurRad="152400" dist="50800" dir="16200000">
              <a:srgbClr val="00E5FF">
                <a:alpha val="100000"/>
              </a:srgbClr>
            </a:outerShdw>
          </a:effectLst>
        </p:spPr>
      </p:sp>
      <p:sp>
        <p:nvSpPr>
          <p:cNvPr id="23" name="Text 19"/>
          <p:cNvSpPr/>
          <p:nvPr/>
        </p:nvSpPr>
        <p:spPr>
          <a:xfrm>
            <a:off x="6876217" y="4506754"/>
            <a:ext cx="553998" cy="312420"/>
          </a:xfrm>
          <a:prstGeom prst="rect">
            <a:avLst/>
          </a:prstGeom>
          <a:noFill/>
          <a:ln/>
        </p:spPr>
        <p:txBody>
          <a:bodyPr wrap="square" lIns="25400" tIns="25400" rIns="25400" bIns="25400" rtlCol="0" anchor="t">
            <a:normAutofit/>
          </a:bodyPr>
          <a:lstStyle/>
          <a:p>
            <a:pPr algn="l" indent="0" marL="0">
              <a:buNone/>
            </a:pPr>
            <a:r>
              <a:rPr lang="en-US" sz="1650" b="1" spc="264" kern="0" dirty="0">
                <a:solidFill>
                  <a:srgbClr val="00E5FF"/>
                </a:solidFill>
                <a:latin typeface="Arial" pitchFamily="34" charset="0"/>
                <a:ea typeface="Arial" pitchFamily="34" charset="-122"/>
                <a:cs typeface="Arial" pitchFamily="34" charset="-120"/>
              </a:rPr>
              <a:t>+6M</a:t>
            </a:r>
            <a:endParaRPr lang="en-US" sz="1650" dirty="0"/>
          </a:p>
        </p:txBody>
      </p:sp>
      <p:sp>
        <p:nvSpPr>
          <p:cNvPr id="24" name="Shape 20"/>
          <p:cNvSpPr/>
          <p:nvPr/>
        </p:nvSpPr>
        <p:spPr>
          <a:xfrm>
            <a:off x="9258300" y="4506754"/>
            <a:ext cx="3829050" cy="1905000"/>
          </a:xfrm>
          <a:prstGeom prst="roundRect">
            <a:avLst>
              <a:gd name="adj" fmla="val 7000"/>
            </a:avLst>
          </a:prstGeom>
          <a:solidFill>
            <a:srgbClr val="0A0E18"/>
          </a:solidFill>
          <a:ln w="7620">
            <a:solidFill>
              <a:srgbClr val="00E5FF">
                <a:alpha val="33000"/>
              </a:srgbClr>
            </a:solidFill>
            <a:prstDash val="solid"/>
          </a:ln>
          <a:effectLst>
            <a:outerShdw sx="100000" sy="100000" kx="0" ky="0" algn="bl" rotWithShape="0" blurRad="228600" dist="50800" dir="16200000">
              <a:srgbClr val="00E5FF">
                <a:alpha val="10000"/>
              </a:srgbClr>
            </a:outerShdw>
          </a:effectLst>
        </p:spPr>
      </p:sp>
      <p:sp>
        <p:nvSpPr>
          <p:cNvPr id="25" name="Shape 21"/>
          <p:cNvSpPr/>
          <p:nvPr/>
        </p:nvSpPr>
        <p:spPr>
          <a:xfrm>
            <a:off x="9494520" y="4742974"/>
            <a:ext cx="457200" cy="457200"/>
          </a:xfrm>
          <a:prstGeom prst="roundRect">
            <a:avLst>
              <a:gd name="adj" fmla="val 25000"/>
            </a:avLst>
          </a:prstGeom>
          <a:solidFill>
            <a:srgbClr val="00E5FF">
              <a:alpha val="19000"/>
            </a:srgbClr>
          </a:solidFill>
          <a:ln w="7620">
            <a:solidFill>
              <a:srgbClr val="00E5FF">
                <a:alpha val="40000"/>
              </a:srgbClr>
            </a:solidFill>
            <a:prstDash val="solid"/>
          </a:ln>
        </p:spPr>
      </p:sp>
      <p:pic>
        <p:nvPicPr>
          <p:cNvPr id="26" name="Image 2" descr="preencoded.png">    </p:cNvPr>
          <p:cNvPicPr>
            <a:picLocks noChangeAspect="1"/>
          </p:cNvPicPr>
          <p:nvPr/>
        </p:nvPicPr>
        <p:blipFill>
          <a:blip r:embed="rId3"/>
          <a:stretch>
            <a:fillRect/>
          </a:stretch>
        </p:blipFill>
        <p:spPr>
          <a:xfrm>
            <a:off x="9599295" y="4847749"/>
            <a:ext cx="247650" cy="247650"/>
          </a:xfrm>
          <a:prstGeom prst="rect">
            <a:avLst/>
          </a:prstGeom>
        </p:spPr>
      </p:pic>
      <p:sp>
        <p:nvSpPr>
          <p:cNvPr id="27" name="Text 22"/>
          <p:cNvSpPr/>
          <p:nvPr/>
        </p:nvSpPr>
        <p:spPr>
          <a:xfrm>
            <a:off x="9494520" y="5333524"/>
            <a:ext cx="3457308" cy="31242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E7EEF7"/>
                </a:solidFill>
                <a:latin typeface="Arial" pitchFamily="34" charset="0"/>
                <a:ea typeface="Arial" pitchFamily="34" charset="-122"/>
                <a:cs typeface="Arial" pitchFamily="34" charset="-120"/>
              </a:rPr>
              <a:t>Advanced ML models</a:t>
            </a:r>
            <a:endParaRPr lang="en-US" sz="1800" dirty="0"/>
          </a:p>
        </p:txBody>
      </p:sp>
      <p:sp>
        <p:nvSpPr>
          <p:cNvPr id="28" name="Text 23"/>
          <p:cNvSpPr/>
          <p:nvPr/>
        </p:nvSpPr>
        <p:spPr>
          <a:xfrm>
            <a:off x="9494520" y="5684044"/>
            <a:ext cx="3457308" cy="491490"/>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8C9AB0"/>
                </a:solidFill>
                <a:latin typeface="Arial" pitchFamily="34" charset="0"/>
                <a:ea typeface="Arial" pitchFamily="34" charset="-122"/>
                <a:cs typeface="Arial" pitchFamily="34" charset="-120"/>
              </a:rPr>
              <a:t>Graph &amp; sequence models for coordinated bot detection.</a:t>
            </a:r>
            <a:endParaRPr lang="en-US" sz="1275" dirty="0"/>
          </a:p>
        </p:txBody>
      </p:sp>
      <p:sp>
        <p:nvSpPr>
          <p:cNvPr id="29" name="Shape 24"/>
          <p:cNvSpPr/>
          <p:nvPr/>
        </p:nvSpPr>
        <p:spPr>
          <a:xfrm>
            <a:off x="11058525" y="6754654"/>
            <a:ext cx="228600" cy="228600"/>
          </a:xfrm>
          <a:prstGeom prst="ellipse">
            <a:avLst/>
          </a:prstGeom>
          <a:solidFill>
            <a:srgbClr val="00E5FF"/>
          </a:solidFill>
          <a:ln w="38100">
            <a:solidFill>
              <a:srgbClr val="05070D"/>
            </a:solidFill>
            <a:prstDash val="solid"/>
          </a:ln>
          <a:effectLst>
            <a:outerShdw sx="100000" sy="100000" kx="0" ky="0" algn="bl" rotWithShape="0" blurRad="152400" dist="50800" dir="16200000">
              <a:srgbClr val="00E5FF">
                <a:alpha val="100000"/>
              </a:srgbClr>
            </a:outerShdw>
          </a:effectLst>
        </p:spPr>
      </p:sp>
      <p:sp>
        <p:nvSpPr>
          <p:cNvPr id="30" name="Text 25"/>
          <p:cNvSpPr/>
          <p:nvPr/>
        </p:nvSpPr>
        <p:spPr>
          <a:xfrm>
            <a:off x="10854214" y="7326154"/>
            <a:ext cx="713303" cy="312420"/>
          </a:xfrm>
          <a:prstGeom prst="rect">
            <a:avLst/>
          </a:prstGeom>
          <a:noFill/>
          <a:ln/>
        </p:spPr>
        <p:txBody>
          <a:bodyPr wrap="square" lIns="25400" tIns="25400" rIns="25400" bIns="25400" rtlCol="0" anchor="t">
            <a:normAutofit/>
          </a:bodyPr>
          <a:lstStyle/>
          <a:p>
            <a:pPr algn="l" indent="0" marL="0">
              <a:buNone/>
            </a:pPr>
            <a:r>
              <a:rPr lang="en-US" sz="1650" b="1" spc="264" kern="0" dirty="0">
                <a:solidFill>
                  <a:srgbClr val="00E5FF"/>
                </a:solidFill>
                <a:latin typeface="Arial" pitchFamily="34" charset="0"/>
                <a:ea typeface="Arial" pitchFamily="34" charset="-122"/>
                <a:cs typeface="Arial" pitchFamily="34" charset="-120"/>
              </a:rPr>
              <a:t>+12M</a:t>
            </a:r>
            <a:endParaRPr lang="en-US" sz="1650" dirty="0"/>
          </a:p>
        </p:txBody>
      </p:sp>
      <p:sp>
        <p:nvSpPr>
          <p:cNvPr id="31" name="Shape 26"/>
          <p:cNvSpPr/>
          <p:nvPr/>
        </p:nvSpPr>
        <p:spPr>
          <a:xfrm>
            <a:off x="13315950" y="5695474"/>
            <a:ext cx="3829050" cy="1905000"/>
          </a:xfrm>
          <a:prstGeom prst="roundRect">
            <a:avLst>
              <a:gd name="adj" fmla="val 7000"/>
            </a:avLst>
          </a:prstGeom>
          <a:solidFill>
            <a:srgbClr val="0A0E18"/>
          </a:solidFill>
          <a:ln w="7620">
            <a:solidFill>
              <a:srgbClr val="00E5FF">
                <a:alpha val="33000"/>
              </a:srgbClr>
            </a:solidFill>
            <a:prstDash val="solid"/>
          </a:ln>
          <a:effectLst>
            <a:outerShdw sx="100000" sy="100000" kx="0" ky="0" algn="bl" rotWithShape="0" blurRad="228600" dist="50800" dir="16200000">
              <a:srgbClr val="00E5FF">
                <a:alpha val="10000"/>
              </a:srgbClr>
            </a:outerShdw>
          </a:effectLst>
        </p:spPr>
      </p:sp>
      <p:sp>
        <p:nvSpPr>
          <p:cNvPr id="32" name="Shape 27"/>
          <p:cNvSpPr/>
          <p:nvPr/>
        </p:nvSpPr>
        <p:spPr>
          <a:xfrm>
            <a:off x="13552170" y="5931694"/>
            <a:ext cx="457200" cy="457200"/>
          </a:xfrm>
          <a:prstGeom prst="roundRect">
            <a:avLst>
              <a:gd name="adj" fmla="val 25000"/>
            </a:avLst>
          </a:prstGeom>
          <a:solidFill>
            <a:srgbClr val="00E5FF">
              <a:alpha val="19000"/>
            </a:srgbClr>
          </a:solidFill>
          <a:ln w="7620">
            <a:solidFill>
              <a:srgbClr val="00E5FF">
                <a:alpha val="40000"/>
              </a:srgbClr>
            </a:solidFill>
            <a:prstDash val="solid"/>
          </a:ln>
        </p:spPr>
      </p:sp>
      <p:pic>
        <p:nvPicPr>
          <p:cNvPr id="33" name="Image 3" descr="preencoded.png">    </p:cNvPr>
          <p:cNvPicPr>
            <a:picLocks noChangeAspect="1"/>
          </p:cNvPicPr>
          <p:nvPr/>
        </p:nvPicPr>
        <p:blipFill>
          <a:blip r:embed="rId4"/>
          <a:stretch>
            <a:fillRect/>
          </a:stretch>
        </p:blipFill>
        <p:spPr>
          <a:xfrm>
            <a:off x="13656945" y="6036469"/>
            <a:ext cx="247650" cy="247650"/>
          </a:xfrm>
          <a:prstGeom prst="rect">
            <a:avLst/>
          </a:prstGeom>
        </p:spPr>
      </p:pic>
      <p:sp>
        <p:nvSpPr>
          <p:cNvPr id="34" name="Text 28"/>
          <p:cNvSpPr/>
          <p:nvPr/>
        </p:nvSpPr>
        <p:spPr>
          <a:xfrm>
            <a:off x="13552170" y="6522244"/>
            <a:ext cx="3457308" cy="312420"/>
          </a:xfrm>
          <a:prstGeom prst="rect">
            <a:avLst/>
          </a:prstGeom>
          <a:noFill/>
          <a:ln/>
        </p:spPr>
        <p:txBody>
          <a:bodyPr wrap="square" lIns="25400" tIns="25400" rIns="25400" bIns="25400" rtlCol="0" anchor="t">
            <a:normAutofit/>
          </a:bodyPr>
          <a:lstStyle/>
          <a:p>
            <a:pPr algn="l" indent="0" marL="0">
              <a:lnSpc>
                <a:spcPct val="120000"/>
              </a:lnSpc>
              <a:buNone/>
            </a:pPr>
            <a:r>
              <a:rPr lang="en-US" sz="1800" b="1" dirty="0">
                <a:solidFill>
                  <a:srgbClr val="E7EEF7"/>
                </a:solidFill>
                <a:latin typeface="Arial" pitchFamily="34" charset="0"/>
                <a:ea typeface="Arial" pitchFamily="34" charset="-122"/>
                <a:cs typeface="Arial" pitchFamily="34" charset="-120"/>
              </a:rPr>
              <a:t>Enterprise deployment</a:t>
            </a:r>
            <a:endParaRPr lang="en-US" sz="1800" dirty="0"/>
          </a:p>
        </p:txBody>
      </p:sp>
      <p:sp>
        <p:nvSpPr>
          <p:cNvPr id="35" name="Text 29"/>
          <p:cNvSpPr/>
          <p:nvPr/>
        </p:nvSpPr>
        <p:spPr>
          <a:xfrm>
            <a:off x="13552170" y="6872764"/>
            <a:ext cx="3457308" cy="491490"/>
          </a:xfrm>
          <a:prstGeom prst="rect">
            <a:avLst/>
          </a:prstGeom>
          <a:noFill/>
          <a:ln/>
        </p:spPr>
        <p:txBody>
          <a:bodyPr wrap="square" lIns="25400" tIns="25400" rIns="25400" bIns="25400" rtlCol="0" anchor="t">
            <a:normAutofit/>
          </a:bodyPr>
          <a:lstStyle/>
          <a:p>
            <a:pPr algn="l" indent="0" marL="0">
              <a:lnSpc>
                <a:spcPct val="140000"/>
              </a:lnSpc>
              <a:buNone/>
            </a:pPr>
            <a:r>
              <a:rPr lang="en-US" sz="1275" dirty="0">
                <a:solidFill>
                  <a:srgbClr val="8C9AB0"/>
                </a:solidFill>
                <a:latin typeface="Arial" pitchFamily="34" charset="0"/>
                <a:ea typeface="Arial" pitchFamily="34" charset="-122"/>
                <a:cs typeface="Arial" pitchFamily="34" charset="-120"/>
              </a:rPr>
              <a:t>SLA-backed pilots with banks, e-commerce, public sector.</a:t>
            </a:r>
            <a:endParaRPr lang="en-US" sz="1275" dirty="0"/>
          </a:p>
        </p:txBody>
      </p:sp>
      <p:sp>
        <p:nvSpPr>
          <p:cNvPr id="36" name="Shape 30"/>
          <p:cNvSpPr/>
          <p:nvPr/>
        </p:nvSpPr>
        <p:spPr>
          <a:xfrm>
            <a:off x="15116175" y="5123974"/>
            <a:ext cx="228600" cy="228600"/>
          </a:xfrm>
          <a:prstGeom prst="ellipse">
            <a:avLst/>
          </a:prstGeom>
          <a:solidFill>
            <a:srgbClr val="00E5FF"/>
          </a:solidFill>
          <a:ln w="38100">
            <a:solidFill>
              <a:srgbClr val="05070D"/>
            </a:solidFill>
            <a:prstDash val="solid"/>
          </a:ln>
          <a:effectLst>
            <a:outerShdw sx="100000" sy="100000" kx="0" ky="0" algn="bl" rotWithShape="0" blurRad="152400" dist="50800" dir="16200000">
              <a:srgbClr val="00E5FF">
                <a:alpha val="100000"/>
              </a:srgbClr>
            </a:outerShdw>
          </a:effectLst>
        </p:spPr>
      </p:sp>
      <p:sp>
        <p:nvSpPr>
          <p:cNvPr id="37" name="Text 31"/>
          <p:cNvSpPr/>
          <p:nvPr/>
        </p:nvSpPr>
        <p:spPr>
          <a:xfrm>
            <a:off x="14911864" y="4506754"/>
            <a:ext cx="713303" cy="312420"/>
          </a:xfrm>
          <a:prstGeom prst="rect">
            <a:avLst/>
          </a:prstGeom>
          <a:noFill/>
          <a:ln/>
        </p:spPr>
        <p:txBody>
          <a:bodyPr wrap="square" lIns="25400" tIns="25400" rIns="25400" bIns="25400" rtlCol="0" anchor="t">
            <a:normAutofit/>
          </a:bodyPr>
          <a:lstStyle/>
          <a:p>
            <a:pPr algn="l" indent="0" marL="0">
              <a:buNone/>
            </a:pPr>
            <a:r>
              <a:rPr lang="en-US" sz="1650" b="1" spc="264" kern="0" dirty="0">
                <a:solidFill>
                  <a:srgbClr val="00E5FF"/>
                </a:solidFill>
                <a:latin typeface="Arial" pitchFamily="34" charset="0"/>
                <a:ea typeface="Arial" pitchFamily="34" charset="-122"/>
                <a:cs typeface="Arial" pitchFamily="34" charset="-120"/>
              </a:rPr>
              <a:t>+18M</a:t>
            </a:r>
            <a:endParaRPr lang="en-US" sz="1650" dirty="0"/>
          </a:p>
        </p:txBody>
      </p:sp>
      <p:sp>
        <p:nvSpPr>
          <p:cNvPr id="38" name="Shape 32"/>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39" name="Text 33"/>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40" name="Text 34"/>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15/17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2987993"/>
            <a:ext cx="826056" cy="34290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5C6A82"/>
                </a:solidFill>
                <a:latin typeface="Arial" pitchFamily="34" charset="0"/>
                <a:ea typeface="Arial" pitchFamily="34" charset="-122"/>
                <a:cs typeface="Arial" pitchFamily="34" charset="-120"/>
              </a:rPr>
              <a:t>14 /</a:t>
            </a:r>
            <a:endParaRPr lang="en-US" sz="1800" dirty="0"/>
          </a:p>
        </p:txBody>
      </p:sp>
      <p:sp>
        <p:nvSpPr>
          <p:cNvPr id="7" name="Text 5"/>
          <p:cNvSpPr/>
          <p:nvPr/>
        </p:nvSpPr>
        <p:spPr>
          <a:xfrm>
            <a:off x="2045256" y="3003233"/>
            <a:ext cx="2119193"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CONCLUSION</a:t>
            </a:r>
            <a:endParaRPr lang="en-US" sz="1800" dirty="0"/>
          </a:p>
        </p:txBody>
      </p:sp>
      <p:sp>
        <p:nvSpPr>
          <p:cNvPr id="8" name="Text 6"/>
          <p:cNvSpPr/>
          <p:nvPr/>
        </p:nvSpPr>
        <p:spPr>
          <a:xfrm>
            <a:off x="1143000" y="3597593"/>
            <a:ext cx="7474811" cy="2558415"/>
          </a:xfrm>
          <a:prstGeom prst="rect">
            <a:avLst/>
          </a:prstGeom>
          <a:noFill/>
          <a:ln/>
        </p:spPr>
        <p:txBody>
          <a:bodyPr wrap="square" lIns="25400" tIns="25400" rIns="25400" bIns="25400" rtlCol="0" anchor="t">
            <a:normAutofit/>
          </a:bodyPr>
          <a:lstStyle/>
          <a:p>
            <a:pPr algn="l" indent="0" marL="0">
              <a:lnSpc>
                <a:spcPct val="105000"/>
              </a:lnSpc>
              <a:buNone/>
            </a:pPr>
            <a:r>
              <a:rPr lang="en-US" sz="6300" b="1" spc="-189" kern="0" dirty="0">
                <a:solidFill>
                  <a:srgbClr val="E7EEF7"/>
                </a:solidFill>
                <a:latin typeface="Arial" pitchFamily="34" charset="0"/>
                <a:ea typeface="Arial" pitchFamily="34" charset="-122"/>
                <a:cs typeface="Arial" pitchFamily="34" charset="-120"/>
              </a:rPr>
              <a:t>Intelligence wins where blocking fails.</a:t>
            </a:r>
            <a:endParaRPr lang="en-US" sz="6300" dirty="0"/>
          </a:p>
        </p:txBody>
      </p:sp>
      <p:sp>
        <p:nvSpPr>
          <p:cNvPr id="9" name="Text 7"/>
          <p:cNvSpPr/>
          <p:nvPr/>
        </p:nvSpPr>
        <p:spPr>
          <a:xfrm>
            <a:off x="1143000" y="6460807"/>
            <a:ext cx="6082665" cy="10668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8C9AB0"/>
                </a:solidFill>
                <a:latin typeface="Arial" pitchFamily="34" charset="0"/>
                <a:ea typeface="Arial" pitchFamily="34" charset="-122"/>
                <a:cs typeface="Arial" pitchFamily="34" charset="-120"/>
              </a:rPr>
              <a:t>SmartShield AI shows that adaptive, behavior-based mitigation is achievable with a lightweight middleware design — no enterprise pricetag required.</a:t>
            </a:r>
            <a:endParaRPr lang="en-US" sz="1800" dirty="0"/>
          </a:p>
        </p:txBody>
      </p:sp>
      <p:sp>
        <p:nvSpPr>
          <p:cNvPr id="10" name="Shape 8"/>
          <p:cNvSpPr/>
          <p:nvPr/>
        </p:nvSpPr>
        <p:spPr>
          <a:xfrm>
            <a:off x="9162098" y="3431858"/>
            <a:ext cx="7982903" cy="1064895"/>
          </a:xfrm>
          <a:prstGeom prst="roundRect">
            <a:avLst>
              <a:gd name="adj" fmla="val 12522"/>
            </a:avLst>
          </a:prstGeom>
          <a:solidFill>
            <a:srgbClr val="141E32">
              <a:alpha val="50000"/>
            </a:srgbClr>
          </a:solidFill>
          <a:ln w="7620">
            <a:solidFill>
              <a:srgbClr val="78A0D2">
                <a:alpha val="14000"/>
              </a:srgbClr>
            </a:solidFill>
            <a:prstDash val="solid"/>
          </a:ln>
        </p:spPr>
      </p:sp>
      <p:sp>
        <p:nvSpPr>
          <p:cNvPr id="11" name="Shape 9"/>
          <p:cNvSpPr/>
          <p:nvPr/>
        </p:nvSpPr>
        <p:spPr>
          <a:xfrm>
            <a:off x="9379268" y="3649028"/>
            <a:ext cx="495300" cy="495300"/>
          </a:xfrm>
          <a:prstGeom prst="roundRect">
            <a:avLst>
              <a:gd name="adj" fmla="val 23077"/>
            </a:avLst>
          </a:prstGeom>
          <a:solidFill>
            <a:srgbClr val="00E5FF"/>
          </a:solidFill>
          <a:ln/>
        </p:spPr>
      </p:sp>
      <p:sp>
        <p:nvSpPr>
          <p:cNvPr id="12" name="Text 10"/>
          <p:cNvSpPr/>
          <p:nvPr/>
        </p:nvSpPr>
        <p:spPr>
          <a:xfrm>
            <a:off x="9501188" y="3759518"/>
            <a:ext cx="20193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05070D"/>
                </a:solidFill>
                <a:latin typeface="Arial" pitchFamily="34" charset="0"/>
                <a:ea typeface="Arial" pitchFamily="34" charset="-122"/>
                <a:cs typeface="Arial" pitchFamily="34" charset="-120"/>
              </a:rPr>
              <a:t>0</a:t>
            </a:r>
            <a:endParaRPr lang="en-US" sz="1650" dirty="0"/>
          </a:p>
        </p:txBody>
      </p:sp>
      <p:sp>
        <p:nvSpPr>
          <p:cNvPr id="13" name="Text 11"/>
          <p:cNvSpPr/>
          <p:nvPr/>
        </p:nvSpPr>
        <p:spPr>
          <a:xfrm>
            <a:off x="9626918" y="3759518"/>
            <a:ext cx="201930" cy="312420"/>
          </a:xfrm>
          <a:prstGeom prst="rect">
            <a:avLst/>
          </a:prstGeom>
          <a:noFill/>
          <a:ln/>
        </p:spPr>
        <p:txBody>
          <a:bodyPr wrap="square" lIns="0" tIns="0" rIns="0" bIns="0" rtlCol="0" anchor="t">
            <a:normAutofit/>
          </a:bodyPr>
          <a:lstStyle/>
          <a:p>
            <a:pPr algn="l" indent="0" marL="0">
              <a:buNone/>
            </a:pPr>
            <a:r>
              <a:rPr lang="en-US" sz="1650" b="1" dirty="0">
                <a:solidFill>
                  <a:srgbClr val="05070D"/>
                </a:solidFill>
                <a:latin typeface="Arial" pitchFamily="34" charset="0"/>
                <a:ea typeface="Arial" pitchFamily="34" charset="-122"/>
                <a:cs typeface="Arial" pitchFamily="34" charset="-120"/>
              </a:rPr>
              <a:t>1</a:t>
            </a:r>
            <a:endParaRPr lang="en-US" sz="1650" dirty="0"/>
          </a:p>
        </p:txBody>
      </p:sp>
      <p:sp>
        <p:nvSpPr>
          <p:cNvPr id="14" name="Text 12"/>
          <p:cNvSpPr/>
          <p:nvPr/>
        </p:nvSpPr>
        <p:spPr>
          <a:xfrm>
            <a:off x="10103168" y="3649028"/>
            <a:ext cx="6195979" cy="358140"/>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E7EEF7"/>
                </a:solidFill>
                <a:latin typeface="Arial" pitchFamily="34" charset="0"/>
                <a:ea typeface="Arial" pitchFamily="34" charset="-122"/>
                <a:cs typeface="Arial" pitchFamily="34" charset="-120"/>
              </a:rPr>
              <a:t>AI raises the ceiling for cybersecurity</a:t>
            </a:r>
            <a:endParaRPr lang="en-US" sz="2100" dirty="0"/>
          </a:p>
        </p:txBody>
      </p:sp>
      <p:sp>
        <p:nvSpPr>
          <p:cNvPr id="15" name="Text 13"/>
          <p:cNvSpPr/>
          <p:nvPr/>
        </p:nvSpPr>
        <p:spPr>
          <a:xfrm>
            <a:off x="10103168" y="4026218"/>
            <a:ext cx="6195979"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8C9AB0"/>
                </a:solidFill>
                <a:latin typeface="Arial" pitchFamily="34" charset="0"/>
                <a:ea typeface="Arial" pitchFamily="34" charset="-122"/>
                <a:cs typeface="Arial" pitchFamily="34" charset="-120"/>
              </a:rPr>
              <a:t>Behavioral models close gaps that static rules and CAPTCHAs leave open.</a:t>
            </a:r>
            <a:endParaRPr lang="en-US" sz="1425" dirty="0"/>
          </a:p>
        </p:txBody>
      </p:sp>
      <p:sp>
        <p:nvSpPr>
          <p:cNvPr id="16" name="Shape 14"/>
          <p:cNvSpPr/>
          <p:nvPr/>
        </p:nvSpPr>
        <p:spPr>
          <a:xfrm>
            <a:off x="9162098" y="4706303"/>
            <a:ext cx="7982903" cy="1064895"/>
          </a:xfrm>
          <a:prstGeom prst="roundRect">
            <a:avLst>
              <a:gd name="adj" fmla="val 12522"/>
            </a:avLst>
          </a:prstGeom>
          <a:solidFill>
            <a:srgbClr val="141E32">
              <a:alpha val="50000"/>
            </a:srgbClr>
          </a:solidFill>
          <a:ln w="7620">
            <a:solidFill>
              <a:srgbClr val="78A0D2">
                <a:alpha val="14000"/>
              </a:srgbClr>
            </a:solidFill>
            <a:prstDash val="solid"/>
          </a:ln>
        </p:spPr>
      </p:sp>
      <p:sp>
        <p:nvSpPr>
          <p:cNvPr id="17" name="Shape 15"/>
          <p:cNvSpPr/>
          <p:nvPr/>
        </p:nvSpPr>
        <p:spPr>
          <a:xfrm>
            <a:off x="9379268" y="4923473"/>
            <a:ext cx="495300" cy="495300"/>
          </a:xfrm>
          <a:prstGeom prst="roundRect">
            <a:avLst>
              <a:gd name="adj" fmla="val 23077"/>
            </a:avLst>
          </a:prstGeom>
          <a:solidFill>
            <a:srgbClr val="00E5FF"/>
          </a:solidFill>
          <a:ln/>
        </p:spPr>
      </p:sp>
      <p:sp>
        <p:nvSpPr>
          <p:cNvPr id="18" name="Text 16"/>
          <p:cNvSpPr/>
          <p:nvPr/>
        </p:nvSpPr>
        <p:spPr>
          <a:xfrm>
            <a:off x="9501188" y="5033963"/>
            <a:ext cx="20193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05070D"/>
                </a:solidFill>
                <a:latin typeface="Arial" pitchFamily="34" charset="0"/>
                <a:ea typeface="Arial" pitchFamily="34" charset="-122"/>
                <a:cs typeface="Arial" pitchFamily="34" charset="-120"/>
              </a:rPr>
              <a:t>0</a:t>
            </a:r>
            <a:endParaRPr lang="en-US" sz="1650" dirty="0"/>
          </a:p>
        </p:txBody>
      </p:sp>
      <p:sp>
        <p:nvSpPr>
          <p:cNvPr id="19" name="Text 17"/>
          <p:cNvSpPr/>
          <p:nvPr/>
        </p:nvSpPr>
        <p:spPr>
          <a:xfrm>
            <a:off x="9626918" y="5033963"/>
            <a:ext cx="201930" cy="312420"/>
          </a:xfrm>
          <a:prstGeom prst="rect">
            <a:avLst/>
          </a:prstGeom>
          <a:noFill/>
          <a:ln/>
        </p:spPr>
        <p:txBody>
          <a:bodyPr wrap="square" lIns="0" tIns="0" rIns="0" bIns="0" rtlCol="0" anchor="t">
            <a:normAutofit/>
          </a:bodyPr>
          <a:lstStyle/>
          <a:p>
            <a:pPr algn="l" indent="0" marL="0">
              <a:buNone/>
            </a:pPr>
            <a:r>
              <a:rPr lang="en-US" sz="1650" b="1" dirty="0">
                <a:solidFill>
                  <a:srgbClr val="05070D"/>
                </a:solidFill>
                <a:latin typeface="Arial" pitchFamily="34" charset="0"/>
                <a:ea typeface="Arial" pitchFamily="34" charset="-122"/>
                <a:cs typeface="Arial" pitchFamily="34" charset="-120"/>
              </a:rPr>
              <a:t>2</a:t>
            </a:r>
            <a:endParaRPr lang="en-US" sz="1650" dirty="0"/>
          </a:p>
        </p:txBody>
      </p:sp>
      <p:sp>
        <p:nvSpPr>
          <p:cNvPr id="20" name="Text 18"/>
          <p:cNvSpPr/>
          <p:nvPr/>
        </p:nvSpPr>
        <p:spPr>
          <a:xfrm>
            <a:off x="10103168" y="4923473"/>
            <a:ext cx="5543687" cy="358140"/>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E7EEF7"/>
                </a:solidFill>
                <a:latin typeface="Arial" pitchFamily="34" charset="0"/>
                <a:ea typeface="Arial" pitchFamily="34" charset="-122"/>
                <a:cs typeface="Arial" pitchFamily="34" charset="-120"/>
              </a:rPr>
              <a:t>Smart filtering beats broad blocking</a:t>
            </a:r>
            <a:endParaRPr lang="en-US" sz="2100" dirty="0"/>
          </a:p>
        </p:txBody>
      </p:sp>
      <p:sp>
        <p:nvSpPr>
          <p:cNvPr id="21" name="Text 19"/>
          <p:cNvSpPr/>
          <p:nvPr/>
        </p:nvSpPr>
        <p:spPr>
          <a:xfrm>
            <a:off x="10103168" y="5300663"/>
            <a:ext cx="5543687"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8C9AB0"/>
                </a:solidFill>
                <a:latin typeface="Arial" pitchFamily="34" charset="0"/>
                <a:ea typeface="Arial" pitchFamily="34" charset="-122"/>
                <a:cs typeface="Arial" pitchFamily="34" charset="-120"/>
              </a:rPr>
              <a:t>Per-request scoring keeps genuine users in while keeping bots out.</a:t>
            </a:r>
            <a:endParaRPr lang="en-US" sz="1425" dirty="0"/>
          </a:p>
        </p:txBody>
      </p:sp>
      <p:sp>
        <p:nvSpPr>
          <p:cNvPr id="22" name="Shape 20"/>
          <p:cNvSpPr/>
          <p:nvPr/>
        </p:nvSpPr>
        <p:spPr>
          <a:xfrm>
            <a:off x="9162098" y="5980748"/>
            <a:ext cx="7982903" cy="1064895"/>
          </a:xfrm>
          <a:prstGeom prst="roundRect">
            <a:avLst>
              <a:gd name="adj" fmla="val 12522"/>
            </a:avLst>
          </a:prstGeom>
          <a:solidFill>
            <a:srgbClr val="141E32">
              <a:alpha val="50000"/>
            </a:srgbClr>
          </a:solidFill>
          <a:ln w="7620">
            <a:solidFill>
              <a:srgbClr val="78A0D2">
                <a:alpha val="14000"/>
              </a:srgbClr>
            </a:solidFill>
            <a:prstDash val="solid"/>
          </a:ln>
        </p:spPr>
      </p:sp>
      <p:sp>
        <p:nvSpPr>
          <p:cNvPr id="23" name="Shape 21"/>
          <p:cNvSpPr/>
          <p:nvPr/>
        </p:nvSpPr>
        <p:spPr>
          <a:xfrm>
            <a:off x="9379268" y="6197918"/>
            <a:ext cx="495300" cy="495300"/>
          </a:xfrm>
          <a:prstGeom prst="roundRect">
            <a:avLst>
              <a:gd name="adj" fmla="val 23077"/>
            </a:avLst>
          </a:prstGeom>
          <a:solidFill>
            <a:srgbClr val="00E5FF"/>
          </a:solidFill>
          <a:ln/>
        </p:spPr>
      </p:sp>
      <p:sp>
        <p:nvSpPr>
          <p:cNvPr id="24" name="Text 22"/>
          <p:cNvSpPr/>
          <p:nvPr/>
        </p:nvSpPr>
        <p:spPr>
          <a:xfrm>
            <a:off x="9501188" y="6308407"/>
            <a:ext cx="201930" cy="312420"/>
          </a:xfrm>
          <a:prstGeom prst="rect">
            <a:avLst/>
          </a:prstGeom>
          <a:noFill/>
          <a:ln/>
        </p:spPr>
        <p:txBody>
          <a:bodyPr wrap="square" lIns="25400" tIns="25400" rIns="25400" bIns="25400" rtlCol="0" anchor="t">
            <a:normAutofit/>
          </a:bodyPr>
          <a:lstStyle/>
          <a:p>
            <a:pPr algn="l" indent="0" marL="0">
              <a:buNone/>
            </a:pPr>
            <a:r>
              <a:rPr lang="en-US" sz="1650" b="1" dirty="0">
                <a:solidFill>
                  <a:srgbClr val="05070D"/>
                </a:solidFill>
                <a:latin typeface="Arial" pitchFamily="34" charset="0"/>
                <a:ea typeface="Arial" pitchFamily="34" charset="-122"/>
                <a:cs typeface="Arial" pitchFamily="34" charset="-120"/>
              </a:rPr>
              <a:t>0</a:t>
            </a:r>
            <a:endParaRPr lang="en-US" sz="1650" dirty="0"/>
          </a:p>
        </p:txBody>
      </p:sp>
      <p:sp>
        <p:nvSpPr>
          <p:cNvPr id="25" name="Text 23"/>
          <p:cNvSpPr/>
          <p:nvPr/>
        </p:nvSpPr>
        <p:spPr>
          <a:xfrm>
            <a:off x="9626918" y="6308407"/>
            <a:ext cx="201930" cy="312420"/>
          </a:xfrm>
          <a:prstGeom prst="rect">
            <a:avLst/>
          </a:prstGeom>
          <a:noFill/>
          <a:ln/>
        </p:spPr>
        <p:txBody>
          <a:bodyPr wrap="square" lIns="0" tIns="0" rIns="0" bIns="0" rtlCol="0" anchor="t">
            <a:normAutofit/>
          </a:bodyPr>
          <a:lstStyle/>
          <a:p>
            <a:pPr algn="l" indent="0" marL="0">
              <a:buNone/>
            </a:pPr>
            <a:r>
              <a:rPr lang="en-US" sz="1650" b="1" dirty="0">
                <a:solidFill>
                  <a:srgbClr val="05070D"/>
                </a:solidFill>
                <a:latin typeface="Arial" pitchFamily="34" charset="0"/>
                <a:ea typeface="Arial" pitchFamily="34" charset="-122"/>
                <a:cs typeface="Arial" pitchFamily="34" charset="-120"/>
              </a:rPr>
              <a:t>3</a:t>
            </a:r>
            <a:endParaRPr lang="en-US" sz="1650" dirty="0"/>
          </a:p>
        </p:txBody>
      </p:sp>
      <p:sp>
        <p:nvSpPr>
          <p:cNvPr id="26" name="Text 24"/>
          <p:cNvSpPr/>
          <p:nvPr/>
        </p:nvSpPr>
        <p:spPr>
          <a:xfrm>
            <a:off x="10103168" y="6197918"/>
            <a:ext cx="6087325" cy="358140"/>
          </a:xfrm>
          <a:prstGeom prst="rect">
            <a:avLst/>
          </a:prstGeom>
          <a:noFill/>
          <a:ln/>
        </p:spPr>
        <p:txBody>
          <a:bodyPr wrap="square" lIns="25400" tIns="25400" rIns="25400" bIns="25400" rtlCol="0" anchor="t">
            <a:normAutofit/>
          </a:bodyPr>
          <a:lstStyle/>
          <a:p>
            <a:pPr algn="l" indent="0" marL="0">
              <a:lnSpc>
                <a:spcPct val="120000"/>
              </a:lnSpc>
              <a:buNone/>
            </a:pPr>
            <a:r>
              <a:rPr lang="en-US" sz="2100" b="1" dirty="0">
                <a:solidFill>
                  <a:srgbClr val="E7EEF7"/>
                </a:solidFill>
                <a:latin typeface="Arial" pitchFamily="34" charset="0"/>
                <a:ea typeface="Arial" pitchFamily="34" charset="-122"/>
                <a:cs typeface="Arial" pitchFamily="34" charset="-120"/>
              </a:rPr>
              <a:t>Real-world impact, deployed today</a:t>
            </a:r>
            <a:endParaRPr lang="en-US" sz="2100" dirty="0"/>
          </a:p>
        </p:txBody>
      </p:sp>
      <p:sp>
        <p:nvSpPr>
          <p:cNvPr id="27" name="Text 25"/>
          <p:cNvSpPr/>
          <p:nvPr/>
        </p:nvSpPr>
        <p:spPr>
          <a:xfrm>
            <a:off x="10103168" y="6575107"/>
            <a:ext cx="6087325"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8C9AB0"/>
                </a:solidFill>
                <a:latin typeface="Arial" pitchFamily="34" charset="0"/>
                <a:ea typeface="Arial" pitchFamily="34" charset="-122"/>
                <a:cs typeface="Arial" pitchFamily="34" charset="-120"/>
              </a:rPr>
              <a:t>A 70% CPU reduction and 4× faster detection — on commodity hardware.</a:t>
            </a:r>
            <a:endParaRPr lang="en-US" sz="1425" dirty="0"/>
          </a:p>
        </p:txBody>
      </p:sp>
      <p:sp>
        <p:nvSpPr>
          <p:cNvPr id="28" name="Shape 26"/>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29" name="Text 27"/>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30" name="Text 28"/>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16/17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070D"/>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5070D"/>
          </a:solidFill>
          <a:ln/>
        </p:spPr>
      </p:sp>
      <p:sp>
        <p:nvSpPr>
          <p:cNvPr id="3" name="Shape 1"/>
          <p:cNvSpPr/>
          <p:nvPr/>
        </p:nvSpPr>
        <p:spPr>
          <a:xfrm>
            <a:off x="0" y="0"/>
            <a:ext cx="18288000" cy="10287000"/>
          </a:xfrm>
          <a:prstGeom prst="rect">
            <a:avLst/>
          </a:prstGeom>
          <a:solidFill>
            <a:srgbClr val="78A0D2">
              <a:alpha val="8000"/>
            </a:srgbClr>
          </a:solidFill>
          <a:ln/>
        </p:spPr>
      </p:sp>
      <p:sp>
        <p:nvSpPr>
          <p:cNvPr id="4" name="Shape 2"/>
          <p:cNvSpPr/>
          <p:nvPr/>
        </p:nvSpPr>
        <p:spPr>
          <a:xfrm>
            <a:off x="-1828800" y="-3086100"/>
            <a:ext cx="12801600" cy="9258300"/>
          </a:xfrm>
          <a:prstGeom prst="rect">
            <a:avLst/>
          </a:prstGeom>
          <a:solidFill>
            <a:srgbClr val="00E5FF">
              <a:alpha val="13000"/>
            </a:srgbClr>
          </a:solidFill>
          <a:ln/>
        </p:spPr>
      </p:sp>
      <p:sp>
        <p:nvSpPr>
          <p:cNvPr id="5" name="Shape 3"/>
          <p:cNvSpPr/>
          <p:nvPr/>
        </p:nvSpPr>
        <p:spPr>
          <a:xfrm>
            <a:off x="7315200" y="4114800"/>
            <a:ext cx="12801600" cy="9258300"/>
          </a:xfrm>
          <a:prstGeom prst="rect">
            <a:avLst/>
          </a:prstGeom>
          <a:solidFill>
            <a:srgbClr val="00E5FF">
              <a:alpha val="8000"/>
            </a:srgbClr>
          </a:solidFill>
          <a:ln/>
        </p:spPr>
      </p:sp>
      <p:sp>
        <p:nvSpPr>
          <p:cNvPr id="6" name="Text 4"/>
          <p:cNvSpPr/>
          <p:nvPr/>
        </p:nvSpPr>
        <p:spPr>
          <a:xfrm>
            <a:off x="1143000" y="952500"/>
            <a:ext cx="71628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5C6A82"/>
                </a:solidFill>
                <a:latin typeface="Arial" pitchFamily="34" charset="0"/>
                <a:ea typeface="Arial" pitchFamily="34" charset="-122"/>
                <a:cs typeface="Arial" pitchFamily="34" charset="-120"/>
              </a:rPr>
              <a:t>15/</a:t>
            </a:r>
            <a:endParaRPr lang="en-US" sz="1800" dirty="0"/>
          </a:p>
        </p:txBody>
      </p:sp>
      <p:sp>
        <p:nvSpPr>
          <p:cNvPr id="7" name="Text 5"/>
          <p:cNvSpPr/>
          <p:nvPr/>
        </p:nvSpPr>
        <p:spPr>
          <a:xfrm>
            <a:off x="1935480" y="967740"/>
            <a:ext cx="2049780" cy="312420"/>
          </a:xfrm>
          <a:prstGeom prst="rect">
            <a:avLst/>
          </a:prstGeom>
          <a:noFill/>
          <a:ln/>
        </p:spPr>
        <p:txBody>
          <a:bodyPr wrap="square" lIns="25400" tIns="25400" rIns="25400" bIns="25400" rtlCol="0" anchor="t">
            <a:normAutofit/>
          </a:bodyPr>
          <a:lstStyle/>
          <a:p>
            <a:pPr algn="l" indent="0" marL="0">
              <a:buNone/>
            </a:pPr>
            <a:r>
              <a:rPr lang="en-US" sz="1800" spc="396" kern="0" dirty="0">
                <a:solidFill>
                  <a:srgbClr val="00E5FF"/>
                </a:solidFill>
                <a:latin typeface="Arial" pitchFamily="34" charset="0"/>
                <a:ea typeface="Arial" pitchFamily="34" charset="-122"/>
                <a:cs typeface="Arial" pitchFamily="34" charset="-120"/>
              </a:rPr>
              <a:t>REFERENCES</a:t>
            </a:r>
            <a:endParaRPr lang="en-US" sz="1800" dirty="0"/>
          </a:p>
        </p:txBody>
      </p:sp>
      <p:sp>
        <p:nvSpPr>
          <p:cNvPr id="8" name="Text 6"/>
          <p:cNvSpPr/>
          <p:nvPr/>
        </p:nvSpPr>
        <p:spPr>
          <a:xfrm>
            <a:off x="1143000" y="1428750"/>
            <a:ext cx="14504213"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b="1" spc="-96" kern="0" dirty="0">
                <a:solidFill>
                  <a:srgbClr val="E7EEF7"/>
                </a:solidFill>
                <a:latin typeface="Arial" pitchFamily="34" charset="0"/>
                <a:ea typeface="Arial" pitchFamily="34" charset="-122"/>
                <a:cs typeface="Arial" pitchFamily="34" charset="-120"/>
              </a:rPr>
              <a:t>Sources &amp; further reading</a:t>
            </a:r>
            <a:endParaRPr lang="en-US" sz="4800" dirty="0"/>
          </a:p>
        </p:txBody>
      </p:sp>
      <p:sp>
        <p:nvSpPr>
          <p:cNvPr id="9" name="Shape 7"/>
          <p:cNvSpPr/>
          <p:nvPr/>
        </p:nvSpPr>
        <p:spPr>
          <a:xfrm>
            <a:off x="1143000" y="2582347"/>
            <a:ext cx="7886700" cy="1117878"/>
          </a:xfrm>
          <a:prstGeom prst="roundRect">
            <a:avLst>
              <a:gd name="adj" fmla="val 10225"/>
            </a:avLst>
          </a:prstGeom>
          <a:solidFill>
            <a:srgbClr val="0A0E18"/>
          </a:solidFill>
          <a:ln w="7620">
            <a:solidFill>
              <a:srgbClr val="78A0D2">
                <a:alpha val="14000"/>
              </a:srgbClr>
            </a:solidFill>
            <a:prstDash val="solid"/>
          </a:ln>
        </p:spPr>
      </p:sp>
      <p:sp>
        <p:nvSpPr>
          <p:cNvPr id="10" name="Text 8"/>
          <p:cNvSpPr/>
          <p:nvPr/>
        </p:nvSpPr>
        <p:spPr>
          <a:xfrm>
            <a:off x="1360170" y="2780467"/>
            <a:ext cx="4191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[01]</a:t>
            </a:r>
            <a:endParaRPr lang="en-US" sz="1200" dirty="0"/>
          </a:p>
        </p:txBody>
      </p:sp>
      <p:sp>
        <p:nvSpPr>
          <p:cNvPr id="11" name="Shape 9"/>
          <p:cNvSpPr/>
          <p:nvPr/>
        </p:nvSpPr>
        <p:spPr>
          <a:xfrm>
            <a:off x="1874520" y="2784277"/>
            <a:ext cx="653415" cy="182880"/>
          </a:xfrm>
          <a:prstGeom prst="roundRect">
            <a:avLst>
              <a:gd name="adj" fmla="val 50000"/>
            </a:avLst>
          </a:prstGeom>
          <a:ln w="7620">
            <a:solidFill>
              <a:srgbClr val="00E5FF">
                <a:alpha val="40000"/>
              </a:srgbClr>
            </a:solidFill>
            <a:prstDash val="solid"/>
          </a:ln>
        </p:spPr>
      </p:sp>
      <p:sp>
        <p:nvSpPr>
          <p:cNvPr id="12" name="Text 10"/>
          <p:cNvSpPr/>
          <p:nvPr/>
        </p:nvSpPr>
        <p:spPr>
          <a:xfrm>
            <a:off x="1977390" y="2810947"/>
            <a:ext cx="523875" cy="16764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00E5FF"/>
                </a:solidFill>
                <a:latin typeface="Arial" pitchFamily="34" charset="0"/>
                <a:ea typeface="Arial" pitchFamily="34" charset="-122"/>
                <a:cs typeface="Arial" pitchFamily="34" charset="-120"/>
              </a:rPr>
              <a:t>PAPER</a:t>
            </a:r>
            <a:endParaRPr lang="en-US" sz="900" dirty="0"/>
          </a:p>
        </p:txBody>
      </p:sp>
      <p:sp>
        <p:nvSpPr>
          <p:cNvPr id="13" name="Text 11"/>
          <p:cNvSpPr/>
          <p:nvPr/>
        </p:nvSpPr>
        <p:spPr>
          <a:xfrm>
            <a:off x="1874520" y="3043357"/>
            <a:ext cx="7146151"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E7EEF7"/>
                </a:solidFill>
                <a:latin typeface="Arial" pitchFamily="34" charset="0"/>
                <a:ea typeface="Arial" pitchFamily="34" charset="-122"/>
                <a:cs typeface="Arial" pitchFamily="34" charset="-120"/>
              </a:rPr>
              <a:t>Imperva. "Bad Bot Report: 2024 Edition." Imperva Threat Research, 2024.</a:t>
            </a:r>
            <a:endParaRPr lang="en-US" sz="1425" dirty="0"/>
          </a:p>
        </p:txBody>
      </p:sp>
      <p:sp>
        <p:nvSpPr>
          <p:cNvPr id="14" name="Shape 12"/>
          <p:cNvSpPr/>
          <p:nvPr/>
        </p:nvSpPr>
        <p:spPr>
          <a:xfrm>
            <a:off x="9258300" y="2582347"/>
            <a:ext cx="7886700" cy="1117878"/>
          </a:xfrm>
          <a:prstGeom prst="roundRect">
            <a:avLst>
              <a:gd name="adj" fmla="val 10225"/>
            </a:avLst>
          </a:prstGeom>
          <a:solidFill>
            <a:srgbClr val="0A0E18"/>
          </a:solidFill>
          <a:ln w="7620">
            <a:solidFill>
              <a:srgbClr val="78A0D2">
                <a:alpha val="14000"/>
              </a:srgbClr>
            </a:solidFill>
            <a:prstDash val="solid"/>
          </a:ln>
        </p:spPr>
      </p:sp>
      <p:sp>
        <p:nvSpPr>
          <p:cNvPr id="15" name="Text 13"/>
          <p:cNvSpPr/>
          <p:nvPr/>
        </p:nvSpPr>
        <p:spPr>
          <a:xfrm>
            <a:off x="9475470" y="2780467"/>
            <a:ext cx="4191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[02]</a:t>
            </a:r>
            <a:endParaRPr lang="en-US" sz="1200" dirty="0"/>
          </a:p>
        </p:txBody>
      </p:sp>
      <p:sp>
        <p:nvSpPr>
          <p:cNvPr id="16" name="Shape 14"/>
          <p:cNvSpPr/>
          <p:nvPr/>
        </p:nvSpPr>
        <p:spPr>
          <a:xfrm>
            <a:off x="9989820" y="2784277"/>
            <a:ext cx="653415" cy="182880"/>
          </a:xfrm>
          <a:prstGeom prst="roundRect">
            <a:avLst>
              <a:gd name="adj" fmla="val 50000"/>
            </a:avLst>
          </a:prstGeom>
          <a:ln w="7620">
            <a:solidFill>
              <a:srgbClr val="00E5FF">
                <a:alpha val="40000"/>
              </a:srgbClr>
            </a:solidFill>
            <a:prstDash val="solid"/>
          </a:ln>
        </p:spPr>
      </p:sp>
      <p:sp>
        <p:nvSpPr>
          <p:cNvPr id="17" name="Text 15"/>
          <p:cNvSpPr/>
          <p:nvPr/>
        </p:nvSpPr>
        <p:spPr>
          <a:xfrm>
            <a:off x="10092690" y="2810947"/>
            <a:ext cx="523875" cy="16764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00E5FF"/>
                </a:solidFill>
                <a:latin typeface="Arial" pitchFamily="34" charset="0"/>
                <a:ea typeface="Arial" pitchFamily="34" charset="-122"/>
                <a:cs typeface="Arial" pitchFamily="34" charset="-120"/>
              </a:rPr>
              <a:t>PAPER</a:t>
            </a:r>
            <a:endParaRPr lang="en-US" sz="900" dirty="0"/>
          </a:p>
        </p:txBody>
      </p:sp>
      <p:sp>
        <p:nvSpPr>
          <p:cNvPr id="18" name="Text 16"/>
          <p:cNvSpPr/>
          <p:nvPr/>
        </p:nvSpPr>
        <p:spPr>
          <a:xfrm>
            <a:off x="9989820" y="3043357"/>
            <a:ext cx="7146151"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E7EEF7"/>
                </a:solidFill>
                <a:latin typeface="Arial" pitchFamily="34" charset="0"/>
                <a:ea typeface="Arial" pitchFamily="34" charset="-122"/>
                <a:cs typeface="Arial" pitchFamily="34" charset="-120"/>
              </a:rPr>
              <a:t>Cloudflare. "DDoS Threat Report — Q4 2024." Cloudflare Radar, 2025.</a:t>
            </a:r>
            <a:endParaRPr lang="en-US" sz="1425" dirty="0"/>
          </a:p>
        </p:txBody>
      </p:sp>
      <p:sp>
        <p:nvSpPr>
          <p:cNvPr id="19" name="Shape 17"/>
          <p:cNvSpPr/>
          <p:nvPr/>
        </p:nvSpPr>
        <p:spPr>
          <a:xfrm>
            <a:off x="1143000" y="3928824"/>
            <a:ext cx="7886700" cy="1371362"/>
          </a:xfrm>
          <a:prstGeom prst="roundRect">
            <a:avLst>
              <a:gd name="adj" fmla="val 8335"/>
            </a:avLst>
          </a:prstGeom>
          <a:solidFill>
            <a:srgbClr val="0A0E18"/>
          </a:solidFill>
          <a:ln w="7620">
            <a:solidFill>
              <a:srgbClr val="78A0D2">
                <a:alpha val="14000"/>
              </a:srgbClr>
            </a:solidFill>
            <a:prstDash val="solid"/>
          </a:ln>
        </p:spPr>
      </p:sp>
      <p:sp>
        <p:nvSpPr>
          <p:cNvPr id="20" name="Text 18"/>
          <p:cNvSpPr/>
          <p:nvPr/>
        </p:nvSpPr>
        <p:spPr>
          <a:xfrm>
            <a:off x="1360170" y="4126944"/>
            <a:ext cx="4191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[03]</a:t>
            </a:r>
            <a:endParaRPr lang="en-US" sz="1200" dirty="0"/>
          </a:p>
        </p:txBody>
      </p:sp>
      <p:sp>
        <p:nvSpPr>
          <p:cNvPr id="21" name="Shape 19"/>
          <p:cNvSpPr/>
          <p:nvPr/>
        </p:nvSpPr>
        <p:spPr>
          <a:xfrm>
            <a:off x="1874520" y="4130755"/>
            <a:ext cx="653415" cy="182880"/>
          </a:xfrm>
          <a:prstGeom prst="roundRect">
            <a:avLst>
              <a:gd name="adj" fmla="val 50000"/>
            </a:avLst>
          </a:prstGeom>
          <a:ln w="7620">
            <a:solidFill>
              <a:srgbClr val="00E5FF">
                <a:alpha val="40000"/>
              </a:srgbClr>
            </a:solidFill>
            <a:prstDash val="solid"/>
          </a:ln>
        </p:spPr>
      </p:sp>
      <p:sp>
        <p:nvSpPr>
          <p:cNvPr id="22" name="Text 20"/>
          <p:cNvSpPr/>
          <p:nvPr/>
        </p:nvSpPr>
        <p:spPr>
          <a:xfrm>
            <a:off x="1977390" y="4157425"/>
            <a:ext cx="523875" cy="16764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00E5FF"/>
                </a:solidFill>
                <a:latin typeface="Arial" pitchFamily="34" charset="0"/>
                <a:ea typeface="Arial" pitchFamily="34" charset="-122"/>
                <a:cs typeface="Arial" pitchFamily="34" charset="-120"/>
              </a:rPr>
              <a:t>PAPER</a:t>
            </a:r>
            <a:endParaRPr lang="en-US" sz="900" dirty="0"/>
          </a:p>
        </p:txBody>
      </p:sp>
      <p:sp>
        <p:nvSpPr>
          <p:cNvPr id="23" name="Text 21"/>
          <p:cNvSpPr/>
          <p:nvPr/>
        </p:nvSpPr>
        <p:spPr>
          <a:xfrm>
            <a:off x="1874520" y="4389834"/>
            <a:ext cx="7146151"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E7EEF7"/>
                </a:solidFill>
                <a:latin typeface="Arial" pitchFamily="34" charset="0"/>
                <a:ea typeface="Arial" pitchFamily="34" charset="-122"/>
                <a:cs typeface="Arial" pitchFamily="34" charset="-120"/>
              </a:rPr>
              <a:t>OWASP. "Automated Threats to Web Applications — OAT Handbook v1.2." OWASP Foundation, 2023.</a:t>
            </a:r>
            <a:endParaRPr lang="en-US" sz="1425" dirty="0"/>
          </a:p>
        </p:txBody>
      </p:sp>
      <p:sp>
        <p:nvSpPr>
          <p:cNvPr id="24" name="Shape 22"/>
          <p:cNvSpPr/>
          <p:nvPr/>
        </p:nvSpPr>
        <p:spPr>
          <a:xfrm>
            <a:off x="9258300" y="3928824"/>
            <a:ext cx="7886700" cy="1371362"/>
          </a:xfrm>
          <a:prstGeom prst="roundRect">
            <a:avLst>
              <a:gd name="adj" fmla="val 8335"/>
            </a:avLst>
          </a:prstGeom>
          <a:solidFill>
            <a:srgbClr val="0A0E18"/>
          </a:solidFill>
          <a:ln w="7620">
            <a:solidFill>
              <a:srgbClr val="78A0D2">
                <a:alpha val="14000"/>
              </a:srgbClr>
            </a:solidFill>
            <a:prstDash val="solid"/>
          </a:ln>
        </p:spPr>
      </p:sp>
      <p:sp>
        <p:nvSpPr>
          <p:cNvPr id="25" name="Text 23"/>
          <p:cNvSpPr/>
          <p:nvPr/>
        </p:nvSpPr>
        <p:spPr>
          <a:xfrm>
            <a:off x="9475470" y="4126944"/>
            <a:ext cx="4191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[04]</a:t>
            </a:r>
            <a:endParaRPr lang="en-US" sz="1200" dirty="0"/>
          </a:p>
        </p:txBody>
      </p:sp>
      <p:sp>
        <p:nvSpPr>
          <p:cNvPr id="26" name="Shape 24"/>
          <p:cNvSpPr/>
          <p:nvPr/>
        </p:nvSpPr>
        <p:spPr>
          <a:xfrm>
            <a:off x="9989820" y="4130755"/>
            <a:ext cx="782479" cy="182880"/>
          </a:xfrm>
          <a:prstGeom prst="roundRect">
            <a:avLst>
              <a:gd name="adj" fmla="val 50000"/>
            </a:avLst>
          </a:prstGeom>
          <a:ln w="7620">
            <a:solidFill>
              <a:srgbClr val="FFB547">
                <a:alpha val="40000"/>
              </a:srgbClr>
            </a:solidFill>
            <a:prstDash val="solid"/>
          </a:ln>
        </p:spPr>
      </p:sp>
      <p:sp>
        <p:nvSpPr>
          <p:cNvPr id="27" name="Text 25"/>
          <p:cNvSpPr/>
          <p:nvPr/>
        </p:nvSpPr>
        <p:spPr>
          <a:xfrm>
            <a:off x="10092690" y="4157425"/>
            <a:ext cx="652939" cy="16764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FFB547"/>
                </a:solidFill>
                <a:latin typeface="Arial" pitchFamily="34" charset="0"/>
                <a:ea typeface="Arial" pitchFamily="34" charset="-122"/>
                <a:cs typeface="Arial" pitchFamily="34" charset="-120"/>
              </a:rPr>
              <a:t>ARTICLE</a:t>
            </a:r>
            <a:endParaRPr lang="en-US" sz="900" dirty="0"/>
          </a:p>
        </p:txBody>
      </p:sp>
      <p:sp>
        <p:nvSpPr>
          <p:cNvPr id="28" name="Text 26"/>
          <p:cNvSpPr/>
          <p:nvPr/>
        </p:nvSpPr>
        <p:spPr>
          <a:xfrm>
            <a:off x="9989820" y="4389834"/>
            <a:ext cx="7146151"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E7EEF7"/>
                </a:solidFill>
                <a:latin typeface="Arial" pitchFamily="34" charset="0"/>
                <a:ea typeface="Arial" pitchFamily="34" charset="-122"/>
                <a:cs typeface="Arial" pitchFamily="34" charset="-120"/>
              </a:rPr>
              <a:t>Microsoft Security. "Bot Protection in Azure Front Door." Microsoft Learn, 2024.</a:t>
            </a:r>
            <a:endParaRPr lang="en-US" sz="1425" dirty="0"/>
          </a:p>
        </p:txBody>
      </p:sp>
      <p:sp>
        <p:nvSpPr>
          <p:cNvPr id="29" name="Shape 27"/>
          <p:cNvSpPr/>
          <p:nvPr/>
        </p:nvSpPr>
        <p:spPr>
          <a:xfrm>
            <a:off x="1143000" y="5528786"/>
            <a:ext cx="7886700" cy="1371362"/>
          </a:xfrm>
          <a:prstGeom prst="roundRect">
            <a:avLst>
              <a:gd name="adj" fmla="val 8335"/>
            </a:avLst>
          </a:prstGeom>
          <a:solidFill>
            <a:srgbClr val="0A0E18"/>
          </a:solidFill>
          <a:ln w="7620">
            <a:solidFill>
              <a:srgbClr val="78A0D2">
                <a:alpha val="14000"/>
              </a:srgbClr>
            </a:solidFill>
            <a:prstDash val="solid"/>
          </a:ln>
        </p:spPr>
      </p:sp>
      <p:sp>
        <p:nvSpPr>
          <p:cNvPr id="30" name="Text 28"/>
          <p:cNvSpPr/>
          <p:nvPr/>
        </p:nvSpPr>
        <p:spPr>
          <a:xfrm>
            <a:off x="1360170" y="5726906"/>
            <a:ext cx="4191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[05]</a:t>
            </a:r>
            <a:endParaRPr lang="en-US" sz="1200" dirty="0"/>
          </a:p>
        </p:txBody>
      </p:sp>
      <p:sp>
        <p:nvSpPr>
          <p:cNvPr id="31" name="Shape 29"/>
          <p:cNvSpPr/>
          <p:nvPr/>
        </p:nvSpPr>
        <p:spPr>
          <a:xfrm>
            <a:off x="1874520" y="5730716"/>
            <a:ext cx="653415" cy="182880"/>
          </a:xfrm>
          <a:prstGeom prst="roundRect">
            <a:avLst>
              <a:gd name="adj" fmla="val 50000"/>
            </a:avLst>
          </a:prstGeom>
          <a:ln w="7620">
            <a:solidFill>
              <a:srgbClr val="00E5FF">
                <a:alpha val="40000"/>
              </a:srgbClr>
            </a:solidFill>
            <a:prstDash val="solid"/>
          </a:ln>
        </p:spPr>
      </p:sp>
      <p:sp>
        <p:nvSpPr>
          <p:cNvPr id="32" name="Text 30"/>
          <p:cNvSpPr/>
          <p:nvPr/>
        </p:nvSpPr>
        <p:spPr>
          <a:xfrm>
            <a:off x="1977390" y="5757386"/>
            <a:ext cx="523875" cy="16764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00E5FF"/>
                </a:solidFill>
                <a:latin typeface="Arial" pitchFamily="34" charset="0"/>
                <a:ea typeface="Arial" pitchFamily="34" charset="-122"/>
                <a:cs typeface="Arial" pitchFamily="34" charset="-120"/>
              </a:rPr>
              <a:t>PAPER</a:t>
            </a:r>
            <a:endParaRPr lang="en-US" sz="900" dirty="0"/>
          </a:p>
        </p:txBody>
      </p:sp>
      <p:sp>
        <p:nvSpPr>
          <p:cNvPr id="33" name="Text 31"/>
          <p:cNvSpPr/>
          <p:nvPr/>
        </p:nvSpPr>
        <p:spPr>
          <a:xfrm>
            <a:off x="1874520" y="5989797"/>
            <a:ext cx="7146151"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E7EEF7"/>
                </a:solidFill>
                <a:latin typeface="Arial" pitchFamily="34" charset="0"/>
                <a:ea typeface="Arial" pitchFamily="34" charset="-122"/>
                <a:cs typeface="Arial" pitchFamily="34" charset="-120"/>
              </a:rPr>
              <a:t>Krombholz, K. et al. "Advanced Social Engineering &amp; Bot Attacks." J. Information Security, 2022.</a:t>
            </a:r>
            <a:endParaRPr lang="en-US" sz="1425" dirty="0"/>
          </a:p>
        </p:txBody>
      </p:sp>
      <p:sp>
        <p:nvSpPr>
          <p:cNvPr id="34" name="Shape 32"/>
          <p:cNvSpPr/>
          <p:nvPr/>
        </p:nvSpPr>
        <p:spPr>
          <a:xfrm>
            <a:off x="9258300" y="5528786"/>
            <a:ext cx="7886700" cy="1371362"/>
          </a:xfrm>
          <a:prstGeom prst="roundRect">
            <a:avLst>
              <a:gd name="adj" fmla="val 8335"/>
            </a:avLst>
          </a:prstGeom>
          <a:solidFill>
            <a:srgbClr val="0A0E18"/>
          </a:solidFill>
          <a:ln w="7620">
            <a:solidFill>
              <a:srgbClr val="78A0D2">
                <a:alpha val="14000"/>
              </a:srgbClr>
            </a:solidFill>
            <a:prstDash val="solid"/>
          </a:ln>
        </p:spPr>
      </p:sp>
      <p:sp>
        <p:nvSpPr>
          <p:cNvPr id="35" name="Text 33"/>
          <p:cNvSpPr/>
          <p:nvPr/>
        </p:nvSpPr>
        <p:spPr>
          <a:xfrm>
            <a:off x="9475470" y="5726906"/>
            <a:ext cx="4191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[06]</a:t>
            </a:r>
            <a:endParaRPr lang="en-US" sz="1200" dirty="0"/>
          </a:p>
        </p:txBody>
      </p:sp>
      <p:sp>
        <p:nvSpPr>
          <p:cNvPr id="36" name="Shape 34"/>
          <p:cNvSpPr/>
          <p:nvPr/>
        </p:nvSpPr>
        <p:spPr>
          <a:xfrm>
            <a:off x="9989820" y="5730716"/>
            <a:ext cx="782479" cy="182880"/>
          </a:xfrm>
          <a:prstGeom prst="roundRect">
            <a:avLst>
              <a:gd name="adj" fmla="val 50000"/>
            </a:avLst>
          </a:prstGeom>
          <a:ln w="7620">
            <a:solidFill>
              <a:srgbClr val="FFB547">
                <a:alpha val="40000"/>
              </a:srgbClr>
            </a:solidFill>
            <a:prstDash val="solid"/>
          </a:ln>
        </p:spPr>
      </p:sp>
      <p:sp>
        <p:nvSpPr>
          <p:cNvPr id="37" name="Text 35"/>
          <p:cNvSpPr/>
          <p:nvPr/>
        </p:nvSpPr>
        <p:spPr>
          <a:xfrm>
            <a:off x="10092690" y="5757386"/>
            <a:ext cx="652939" cy="16764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FFB547"/>
                </a:solidFill>
                <a:latin typeface="Arial" pitchFamily="34" charset="0"/>
                <a:ea typeface="Arial" pitchFamily="34" charset="-122"/>
                <a:cs typeface="Arial" pitchFamily="34" charset="-120"/>
              </a:rPr>
              <a:t>ARTICLE</a:t>
            </a:r>
            <a:endParaRPr lang="en-US" sz="900" dirty="0"/>
          </a:p>
        </p:txBody>
      </p:sp>
      <p:sp>
        <p:nvSpPr>
          <p:cNvPr id="38" name="Text 36"/>
          <p:cNvSpPr/>
          <p:nvPr/>
        </p:nvSpPr>
        <p:spPr>
          <a:xfrm>
            <a:off x="9989820" y="5989797"/>
            <a:ext cx="7146151"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E7EEF7"/>
                </a:solidFill>
                <a:latin typeface="Arial" pitchFamily="34" charset="0"/>
                <a:ea typeface="Arial" pitchFamily="34" charset="-122"/>
                <a:cs typeface="Arial" pitchFamily="34" charset="-120"/>
              </a:rPr>
              <a:t>Akamai. "State of the Internet — API &amp; Bot Security." Akamai Research, 2024.</a:t>
            </a:r>
            <a:endParaRPr lang="en-US" sz="1425" dirty="0"/>
          </a:p>
        </p:txBody>
      </p:sp>
      <p:sp>
        <p:nvSpPr>
          <p:cNvPr id="39" name="Shape 37"/>
          <p:cNvSpPr/>
          <p:nvPr/>
        </p:nvSpPr>
        <p:spPr>
          <a:xfrm>
            <a:off x="1143000" y="7128748"/>
            <a:ext cx="7886700" cy="1371362"/>
          </a:xfrm>
          <a:prstGeom prst="roundRect">
            <a:avLst>
              <a:gd name="adj" fmla="val 8335"/>
            </a:avLst>
          </a:prstGeom>
          <a:solidFill>
            <a:srgbClr val="0A0E18"/>
          </a:solidFill>
          <a:ln w="7620">
            <a:solidFill>
              <a:srgbClr val="78A0D2">
                <a:alpha val="14000"/>
              </a:srgbClr>
            </a:solidFill>
            <a:prstDash val="solid"/>
          </a:ln>
        </p:spPr>
      </p:sp>
      <p:sp>
        <p:nvSpPr>
          <p:cNvPr id="40" name="Text 38"/>
          <p:cNvSpPr/>
          <p:nvPr/>
        </p:nvSpPr>
        <p:spPr>
          <a:xfrm>
            <a:off x="1360170" y="7326868"/>
            <a:ext cx="4191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[07]</a:t>
            </a:r>
            <a:endParaRPr lang="en-US" sz="1200" dirty="0"/>
          </a:p>
        </p:txBody>
      </p:sp>
      <p:sp>
        <p:nvSpPr>
          <p:cNvPr id="41" name="Shape 39"/>
          <p:cNvSpPr/>
          <p:nvPr/>
        </p:nvSpPr>
        <p:spPr>
          <a:xfrm>
            <a:off x="1874520" y="7330678"/>
            <a:ext cx="341233" cy="182880"/>
          </a:xfrm>
          <a:prstGeom prst="roundRect">
            <a:avLst>
              <a:gd name="adj" fmla="val 50000"/>
            </a:avLst>
          </a:prstGeom>
          <a:ln w="7620">
            <a:solidFill>
              <a:srgbClr val="39FF88">
                <a:alpha val="40000"/>
              </a:srgbClr>
            </a:solidFill>
            <a:prstDash val="solid"/>
          </a:ln>
        </p:spPr>
      </p:sp>
      <p:sp>
        <p:nvSpPr>
          <p:cNvPr id="42" name="Text 40"/>
          <p:cNvSpPr/>
          <p:nvPr/>
        </p:nvSpPr>
        <p:spPr>
          <a:xfrm>
            <a:off x="1977390" y="7357348"/>
            <a:ext cx="211693" cy="16764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39FF88"/>
                </a:solidFill>
                <a:latin typeface="Arial" pitchFamily="34" charset="0"/>
                <a:ea typeface="Arial" pitchFamily="34" charset="-122"/>
                <a:cs typeface="Arial" pitchFamily="34" charset="-120"/>
              </a:rPr>
              <a:t>AI</a:t>
            </a:r>
            <a:endParaRPr lang="en-US" sz="900" dirty="0"/>
          </a:p>
        </p:txBody>
      </p:sp>
      <p:sp>
        <p:nvSpPr>
          <p:cNvPr id="43" name="Text 41"/>
          <p:cNvSpPr/>
          <p:nvPr/>
        </p:nvSpPr>
        <p:spPr>
          <a:xfrm>
            <a:off x="1874520" y="7589758"/>
            <a:ext cx="7146151"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E7EEF7"/>
                </a:solidFill>
                <a:latin typeface="Arial" pitchFamily="34" charset="0"/>
                <a:ea typeface="Arial" pitchFamily="34" charset="-122"/>
                <a:cs typeface="Arial" pitchFamily="34" charset="-120"/>
              </a:rPr>
              <a:t>Goodfellow, I., Bengio, Y., Courville, A. "Deep Learning." MIT Press, 2016.</a:t>
            </a:r>
            <a:endParaRPr lang="en-US" sz="1425" dirty="0"/>
          </a:p>
        </p:txBody>
      </p:sp>
      <p:sp>
        <p:nvSpPr>
          <p:cNvPr id="44" name="Shape 42"/>
          <p:cNvSpPr/>
          <p:nvPr/>
        </p:nvSpPr>
        <p:spPr>
          <a:xfrm>
            <a:off x="9258300" y="7128748"/>
            <a:ext cx="7886700" cy="1371362"/>
          </a:xfrm>
          <a:prstGeom prst="roundRect">
            <a:avLst>
              <a:gd name="adj" fmla="val 8335"/>
            </a:avLst>
          </a:prstGeom>
          <a:solidFill>
            <a:srgbClr val="0A0E18"/>
          </a:solidFill>
          <a:ln w="7620">
            <a:solidFill>
              <a:srgbClr val="78A0D2">
                <a:alpha val="14000"/>
              </a:srgbClr>
            </a:solidFill>
            <a:prstDash val="solid"/>
          </a:ln>
        </p:spPr>
      </p:sp>
      <p:sp>
        <p:nvSpPr>
          <p:cNvPr id="45" name="Text 43"/>
          <p:cNvSpPr/>
          <p:nvPr/>
        </p:nvSpPr>
        <p:spPr>
          <a:xfrm>
            <a:off x="9475470" y="7326868"/>
            <a:ext cx="419100" cy="213360"/>
          </a:xfrm>
          <a:prstGeom prst="rect">
            <a:avLst/>
          </a:prstGeom>
          <a:noFill/>
          <a:ln/>
        </p:spPr>
        <p:txBody>
          <a:bodyPr wrap="square" lIns="25400" tIns="25400" rIns="25400" bIns="25400" rtlCol="0" anchor="t">
            <a:normAutofit/>
          </a:bodyPr>
          <a:lstStyle/>
          <a:p>
            <a:pPr algn="l" indent="0" marL="0">
              <a:buNone/>
            </a:pPr>
            <a:r>
              <a:rPr lang="en-US" sz="1200" dirty="0">
                <a:solidFill>
                  <a:srgbClr val="5C6A82"/>
                </a:solidFill>
                <a:latin typeface="Arial" pitchFamily="34" charset="0"/>
                <a:ea typeface="Arial" pitchFamily="34" charset="-122"/>
                <a:cs typeface="Arial" pitchFamily="34" charset="-120"/>
              </a:rPr>
              <a:t>[08]</a:t>
            </a:r>
            <a:endParaRPr lang="en-US" sz="1200" dirty="0"/>
          </a:p>
        </p:txBody>
      </p:sp>
      <p:sp>
        <p:nvSpPr>
          <p:cNvPr id="46" name="Shape 44"/>
          <p:cNvSpPr/>
          <p:nvPr/>
        </p:nvSpPr>
        <p:spPr>
          <a:xfrm>
            <a:off x="9989820" y="7330678"/>
            <a:ext cx="341233" cy="182880"/>
          </a:xfrm>
          <a:prstGeom prst="roundRect">
            <a:avLst>
              <a:gd name="adj" fmla="val 50000"/>
            </a:avLst>
          </a:prstGeom>
          <a:ln w="7620">
            <a:solidFill>
              <a:srgbClr val="39FF88">
                <a:alpha val="40000"/>
              </a:srgbClr>
            </a:solidFill>
            <a:prstDash val="solid"/>
          </a:ln>
        </p:spPr>
      </p:sp>
      <p:sp>
        <p:nvSpPr>
          <p:cNvPr id="47" name="Text 45"/>
          <p:cNvSpPr/>
          <p:nvPr/>
        </p:nvSpPr>
        <p:spPr>
          <a:xfrm>
            <a:off x="10092690" y="7357348"/>
            <a:ext cx="211693" cy="16764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39FF88"/>
                </a:solidFill>
                <a:latin typeface="Arial" pitchFamily="34" charset="0"/>
                <a:ea typeface="Arial" pitchFamily="34" charset="-122"/>
                <a:cs typeface="Arial" pitchFamily="34" charset="-120"/>
              </a:rPr>
              <a:t>AI</a:t>
            </a:r>
            <a:endParaRPr lang="en-US" sz="900" dirty="0"/>
          </a:p>
        </p:txBody>
      </p:sp>
      <p:sp>
        <p:nvSpPr>
          <p:cNvPr id="48" name="Text 46"/>
          <p:cNvSpPr/>
          <p:nvPr/>
        </p:nvSpPr>
        <p:spPr>
          <a:xfrm>
            <a:off x="9989820" y="7589758"/>
            <a:ext cx="7146151"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E7EEF7"/>
                </a:solidFill>
                <a:latin typeface="Arial" pitchFamily="34" charset="0"/>
                <a:ea typeface="Arial" pitchFamily="34" charset="-122"/>
                <a:cs typeface="Arial" pitchFamily="34" charset="-120"/>
              </a:rPr>
              <a:t>Sommer, R. &amp; Paxson, V. "Outside the Closed World: On Using ML for Network Intrusion Detection." IEEE S&amp;P, 2010.</a:t>
            </a:r>
            <a:endParaRPr lang="en-US" sz="1425" dirty="0"/>
          </a:p>
        </p:txBody>
      </p:sp>
      <p:sp>
        <p:nvSpPr>
          <p:cNvPr id="49" name="Text 47"/>
          <p:cNvSpPr/>
          <p:nvPr/>
        </p:nvSpPr>
        <p:spPr>
          <a:xfrm>
            <a:off x="902970" y="8804910"/>
            <a:ext cx="16482060" cy="281940"/>
          </a:xfrm>
          <a:prstGeom prst="rect">
            <a:avLst/>
          </a:prstGeom>
          <a:noFill/>
          <a:ln/>
        </p:spPr>
        <p:txBody>
          <a:bodyPr wrap="square" lIns="25400" tIns="25400" rIns="25400" bIns="25400" rtlCol="0" anchor="t">
            <a:normAutofit/>
          </a:bodyPr>
          <a:lstStyle/>
          <a:p>
            <a:pPr algn="ctr" indent="0" marL="0">
              <a:buNone/>
            </a:pPr>
            <a:r>
              <a:rPr lang="en-US" sz="1650" spc="264" kern="0" dirty="0">
                <a:solidFill>
                  <a:srgbClr val="00E5FF"/>
                </a:solidFill>
                <a:latin typeface="Arial" pitchFamily="34" charset="0"/>
                <a:ea typeface="Arial" pitchFamily="34" charset="-122"/>
                <a:cs typeface="Arial" pitchFamily="34" charset="-120"/>
              </a:rPr>
              <a:t>THANK YOU</a:t>
            </a:r>
            <a:pPr algn="ctr" indent="0" marL="0">
              <a:buNone/>
            </a:pPr>
            <a:r>
              <a:rPr lang="en-US" sz="1650" spc="264" kern="0" dirty="0">
                <a:solidFill>
                  <a:srgbClr val="5C6A82"/>
                </a:solidFill>
                <a:latin typeface="Arial" pitchFamily="34" charset="0"/>
                <a:ea typeface="Arial" pitchFamily="34" charset="-122"/>
                <a:cs typeface="Arial" pitchFamily="34" charset="-120"/>
              </a:rPr>
              <a:t>· QUESTIONS WELCOME</a:t>
            </a:r>
            <a:endParaRPr lang="en-US" sz="1650" dirty="0"/>
          </a:p>
        </p:txBody>
      </p:sp>
      <p:sp>
        <p:nvSpPr>
          <p:cNvPr id="50" name="Shape 48"/>
          <p:cNvSpPr/>
          <p:nvPr/>
        </p:nvSpPr>
        <p:spPr>
          <a:xfrm>
            <a:off x="1143000" y="9808845"/>
            <a:ext cx="95250" cy="95250"/>
          </a:xfrm>
          <a:prstGeom prst="ellipse">
            <a:avLst/>
          </a:prstGeom>
          <a:solidFill>
            <a:srgbClr val="00E5FF"/>
          </a:solidFill>
          <a:ln/>
          <a:effectLst>
            <a:outerShdw sx="100000" sy="100000" kx="0" ky="0" algn="bl" rotWithShape="0" blurRad="114300" dist="50800" dir="16200000">
              <a:srgbClr val="00E5FF">
                <a:alpha val="100000"/>
              </a:srgbClr>
            </a:outerShdw>
          </a:effectLst>
        </p:spPr>
      </p:sp>
      <p:sp>
        <p:nvSpPr>
          <p:cNvPr id="51" name="Text 49"/>
          <p:cNvSpPr/>
          <p:nvPr/>
        </p:nvSpPr>
        <p:spPr>
          <a:xfrm>
            <a:off x="1371600" y="9768840"/>
            <a:ext cx="4394235"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SMARTSHIELD AI · ADAPTIVE BOT MITIGATION</a:t>
            </a:r>
            <a:endParaRPr lang="en-US" sz="1200" dirty="0"/>
          </a:p>
        </p:txBody>
      </p:sp>
      <p:sp>
        <p:nvSpPr>
          <p:cNvPr id="52" name="Text 50"/>
          <p:cNvSpPr/>
          <p:nvPr/>
        </p:nvSpPr>
        <p:spPr>
          <a:xfrm>
            <a:off x="16529328" y="9768840"/>
            <a:ext cx="691872" cy="21336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5C6A82"/>
                </a:solidFill>
                <a:latin typeface="Arial" pitchFamily="34" charset="0"/>
                <a:ea typeface="Arial" pitchFamily="34" charset="-122"/>
                <a:cs typeface="Arial" pitchFamily="34" charset="-120"/>
              </a:rPr>
              <a:t>17/17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2026-05-05T11:57:51Z</dcterms:created>
  <dcterms:modified xsi:type="dcterms:W3CDTF">2026-05-05T11:57:51Z</dcterms:modified>
</cp:coreProperties>
</file>